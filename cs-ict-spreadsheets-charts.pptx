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67" r:id="rId2"/>
    <p:sldId id="256" r:id="rId3"/>
    <p:sldId id="297" r:id="rId4"/>
    <p:sldId id="341" r:id="rId5"/>
    <p:sldId id="364" r:id="rId6"/>
    <p:sldId id="343" r:id="rId7"/>
    <p:sldId id="340" r:id="rId8"/>
    <p:sldId id="298" r:id="rId9"/>
    <p:sldId id="433" r:id="rId10"/>
    <p:sldId id="434" r:id="rId11"/>
    <p:sldId id="436" r:id="rId12"/>
    <p:sldId id="405" r:id="rId13"/>
    <p:sldId id="427" r:id="rId14"/>
    <p:sldId id="288" r:id="rId15"/>
    <p:sldId id="309" r:id="rId16"/>
    <p:sldId id="348" r:id="rId17"/>
    <p:sldId id="406" r:id="rId18"/>
    <p:sldId id="422" r:id="rId19"/>
    <p:sldId id="365" r:id="rId20"/>
    <p:sldId id="410" r:id="rId21"/>
    <p:sldId id="402" r:id="rId22"/>
    <p:sldId id="432" r:id="rId23"/>
    <p:sldId id="430" r:id="rId24"/>
    <p:sldId id="359" r:id="rId25"/>
    <p:sldId id="435" r:id="rId26"/>
  </p:sldIdLst>
  <p:sldSz cx="6858000" cy="9144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246"/>
    <p:restoredTop sz="91332"/>
  </p:normalViewPr>
  <p:slideViewPr>
    <p:cSldViewPr snapToGrid="0">
      <p:cViewPr>
        <p:scale>
          <a:sx n="125" d="100"/>
          <a:sy n="125" d="100"/>
        </p:scale>
        <p:origin x="-2312" y="-2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90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Title </a:t>
            </a:r>
            <a:r>
              <a:rPr lang="en-US" b="1" dirty="0"/>
              <a:t>— </a:t>
            </a:r>
            <a:r>
              <a:rPr lang="en-US" b="1"/>
              <a:t>Spreadsheets, Graphs &amp; Charts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Open </a:t>
            </a:r>
            <a:r>
              <a:rPr lang="en-US" dirty="0"/>
              <a:t>the unit</a:t>
            </a:r>
            <a:r>
              <a:rPr lang="en-US"/>
              <a:t>. Explain that a spreadsheet is a grid of cells used to model data</a:t>
            </a:r>
            <a:r>
              <a:rPr lang="en-US" dirty="0"/>
              <a:t>, and </a:t>
            </a:r>
            <a:r>
              <a:rPr lang="en-US"/>
              <a:t>that this unit builds </a:t>
            </a:r>
            <a:r>
              <a:rPr lang="en-US" dirty="0"/>
              <a:t>from </a:t>
            </a:r>
            <a:r>
              <a:rPr lang="en-US"/>
              <a:t>cells and formulae, through functions and cell referencing, </a:t>
            </a:r>
            <a:r>
              <a:rPr lang="en-US" dirty="0"/>
              <a:t>to </a:t>
            </a:r>
            <a:r>
              <a:rPr lang="en-US"/>
              <a:t>choosing and labelling graphs and charts, with hands-on IGCSE tasks at every step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 dirty="0"/>
              <a:t>What </a:t>
            </a:r>
            <a:r>
              <a:rPr lang="en-US"/>
              <a:t>is a spreadsheet model used for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Why does every formula start with an = sign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What will </a:t>
            </a:r>
            <a:r>
              <a:rPr lang="en-US"/>
              <a:t>you be able </a:t>
            </a:r>
            <a:r>
              <a:rPr lang="en-US" dirty="0"/>
              <a:t>to </a:t>
            </a:r>
            <a:r>
              <a:rPr lang="en-US"/>
              <a:t>build by </a:t>
            </a:r>
            <a:r>
              <a:rPr lang="en-US" dirty="0"/>
              <a:t>the </a:t>
            </a:r>
            <a:r>
              <a:rPr lang="en-US"/>
              <a:t>end </a:t>
            </a:r>
            <a:r>
              <a:rPr lang="en-US" dirty="0"/>
              <a:t>of the </a:t>
            </a:r>
            <a:r>
              <a:rPr lang="en-US"/>
              <a:t>unit?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Course Roadmap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Walk through </a:t>
            </a:r>
            <a:r>
              <a:rPr lang="en-US"/>
              <a:t>the lessons</a:t>
            </a:r>
            <a:r>
              <a:rPr lang="en-US" dirty="0"/>
              <a:t>: </a:t>
            </a:r>
            <a:r>
              <a:rPr lang="en-US"/>
              <a:t>spreadsheet foundations</a:t>
            </a:r>
            <a:r>
              <a:rPr lang="en-US" dirty="0"/>
              <a:t>, </a:t>
            </a:r>
            <a:r>
              <a:rPr lang="en-US"/>
              <a:t>formulae </a:t>
            </a:r>
            <a:r>
              <a:rPr lang="en-US" dirty="0"/>
              <a:t>and </a:t>
            </a:r>
            <a:r>
              <a:rPr lang="en-US"/>
              <a:t>operators, cell referencing</a:t>
            </a:r>
            <a:r>
              <a:rPr lang="en-US" dirty="0"/>
              <a:t>, </a:t>
            </a:r>
            <a:r>
              <a:rPr lang="en-US"/>
              <a:t>functions</a:t>
            </a:r>
            <a:r>
              <a:rPr lang="en-US" dirty="0"/>
              <a:t>, </a:t>
            </a:r>
            <a:r>
              <a:rPr lang="en-US"/>
              <a:t>choosing a chart, building and labelling charts, then exam practice and review</a:t>
            </a:r>
            <a:r>
              <a:rPr lang="en-US" dirty="0"/>
              <a:t>. </a:t>
            </a:r>
            <a:r>
              <a:rPr lang="en-US"/>
              <a:t>Each card is a </a:t>
            </a:r>
            <a:r>
              <a:rPr lang="en-US" dirty="0"/>
              <a:t>clickable jump </a:t>
            </a:r>
            <a:r>
              <a:rPr lang="en-US"/>
              <a:t>point that links to a worked example and a hands-on task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 dirty="0"/>
              <a:t>Which </a:t>
            </a:r>
            <a:r>
              <a:rPr lang="en-US"/>
              <a:t>lesson introduces functions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In what order </a:t>
            </a:r>
            <a:r>
              <a:rPr lang="en-US"/>
              <a:t>do we learn formulae and cell referencing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How does each </a:t>
            </a:r>
            <a:r>
              <a:rPr lang="en-US"/>
              <a:t>lesson </a:t>
            </a:r>
            <a:r>
              <a:rPr lang="en-US" dirty="0"/>
              <a:t>build towards the exam</a:t>
            </a:r>
            <a:r>
              <a:rPr lang="en-US"/>
              <a:t> practice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Module 1 </a:t>
            </a:r>
            <a:r>
              <a:rPr lang="en-US" b="1" dirty="0"/>
              <a:t>opener — </a:t>
            </a:r>
            <a:r>
              <a:rPr lang="en-US" b="1"/>
              <a:t>Spreadsheet Foundations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Introduce </a:t>
            </a:r>
            <a:r>
              <a:rPr lang="en-US" dirty="0"/>
              <a:t>how </a:t>
            </a:r>
            <a:r>
              <a:rPr lang="en-US"/>
              <a:t>cells, rows </a:t>
            </a:r>
            <a:r>
              <a:rPr lang="en-US" dirty="0"/>
              <a:t>and </a:t>
            </a:r>
            <a:r>
              <a:rPr lang="en-US"/>
              <a:t>columns combine to form a worksheet, and how a spreadsheet model lets you change a value and instantly see the results. Have pupils open a blank workbook and enter data into cells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 dirty="0"/>
              <a:t>What </a:t>
            </a:r>
            <a:r>
              <a:rPr lang="en-US"/>
              <a:t>is a cell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What is the difference between a row and a column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Why is a spreadsheet called a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0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</a:t>
            </a:r>
            <a:r>
              <a:rPr lang="en-US" b="1"/>
              <a:t>Building Blocks of a Spreadsheet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Explain the cell </a:t>
            </a:r>
            <a:r>
              <a:rPr lang="en-US" dirty="0"/>
              <a:t>(</a:t>
            </a:r>
            <a:r>
              <a:rPr lang="en-US"/>
              <a:t>one box holding a value, label or formula</a:t>
            </a:r>
            <a:r>
              <a:rPr lang="en-US" dirty="0"/>
              <a:t>), </a:t>
            </a:r>
            <a:r>
              <a:rPr lang="en-US"/>
              <a:t>the rows</a:t>
            </a:r>
            <a:r>
              <a:rPr lang="en-US" dirty="0"/>
              <a:t> and </a:t>
            </a:r>
            <a:r>
              <a:rPr lang="en-US"/>
              <a:t>columns that give every cell an address such as B2, and the worksheet that holds them. Note that many worksheets can sit inside one workbook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 dirty="0"/>
              <a:t>What </a:t>
            </a:r>
            <a:r>
              <a:rPr lang="en-US"/>
              <a:t>does a single cell hold?</a:t>
            </a:r>
          </a:p>
          <a:p>
            <a:pPr marL="228600" indent="-228600">
              <a:buChar char="•"/>
            </a:pPr>
            <a:r>
              <a:rPr lang="en-US"/>
              <a:t>How is a cell address such as B2 made up?</a:t>
            </a:r>
          </a:p>
          <a:p>
            <a:pPr marL="228600" indent="-228600">
              <a:buChar char="•"/>
            </a:pPr>
            <a:r>
              <a:rPr lang="en-US"/>
              <a:t>What is the difference between a worksheet and a workbook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Formulae &amp; Arithmetic Operators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notes: Every formula starts with an = sign. Teach the arithmetic operators + - * / and ^, using cell references such as =B2+B3. Stress that multiply is a star (*), never the letter x</a:t>
            </a:r>
            <a:r>
              <a:rPr lang="en-US" dirty="0"/>
              <a:t>, and </a:t>
            </a:r>
            <a:r>
              <a:rPr lang="en-US"/>
              <a:t>that referencing cells keeps results live when the values change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What must every formula start with?</a:t>
            </a:r>
          </a:p>
          <a:p>
            <a:pPr marL="228600" indent="-228600">
              <a:buChar char="•"/>
            </a:pPr>
            <a:r>
              <a:rPr lang="en-US"/>
              <a:t>Which symbol is used to multiply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Why use cell references instead of typing numbers?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 Order of Operations: BIDMAS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When a formula mixes operators, the spreadsheet follows a fixed order — BIDMAS: Brackets, Indices</a:t>
            </a:r>
            <a:r>
              <a:rPr lang="en-US" dirty="0"/>
              <a:t>, </a:t>
            </a:r>
            <a:r>
              <a:rPr lang="en-US"/>
              <a:t>Divide and Multiply (equal rank</a:t>
            </a:r>
            <a:r>
              <a:rPr lang="en-US" dirty="0"/>
              <a:t>, </a:t>
            </a:r>
            <a:r>
              <a:rPr lang="en-US"/>
              <a:t>worked left to right), then Add </a:t>
            </a:r>
            <a:r>
              <a:rPr lang="en-US" dirty="0"/>
              <a:t>and </a:t>
            </a:r>
            <a:r>
              <a:rPr lang="en-US"/>
              <a:t>Subtract. Use brackets to force the order you want, e.g. =(B2+B3)*C1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 dirty="0"/>
              <a:t>What </a:t>
            </a:r>
            <a:r>
              <a:rPr lang="en-US"/>
              <a:t>does BIDMAS stand for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Which is worked out first, multiply or add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How can you force an addition to happen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Relative &amp; Absolute References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How a reference is written decides what happens when a formula is copied. A relative reference (A3) shifts, an absolute reference ($A$1) stays fixed, </a:t>
            </a:r>
            <a:r>
              <a:rPr lang="en-US" dirty="0"/>
              <a:t>and </a:t>
            </a:r>
            <a:r>
              <a:rPr lang="en-US"/>
              <a:t>a mixed reference locks only part of it. Show the fill handle and ask which references must stay fixed before filling down</a:t>
            </a:r>
            <a:r>
              <a:rPr lang="en-US" dirty="0"/>
              <a:t>.</a:t>
            </a:r>
            <a:endParaRPr lang="en-US"/>
          </a:p>
          <a:p>
            <a:pPr marL="0" indent="0">
              <a:buNone/>
            </a:pPr>
            <a:r>
              <a:rPr lang="en-US" b="1"/>
              <a:t>Key questions</a:t>
            </a:r>
            <a:endParaRPr lang="en-US" b="1" dirty="0"/>
          </a:p>
          <a:p>
            <a:pPr marL="228600" indent="-228600">
              <a:buChar char="•"/>
            </a:pPr>
            <a:r>
              <a:rPr lang="en-US"/>
              <a:t>What happens to a relative reference when you copy it down?</a:t>
            </a:r>
          </a:p>
          <a:p>
            <a:pPr marL="228600" indent="-228600">
              <a:buChar char="•"/>
            </a:pPr>
            <a:r>
              <a:rPr lang="en-US"/>
              <a:t>What do the dollar signs in $A$1 do?</a:t>
            </a:r>
          </a:p>
          <a:p>
            <a:pPr marL="228600" indent="-228600">
              <a:buChar char="•"/>
            </a:pPr>
            <a:r>
              <a:rPr lang="en-US"/>
              <a:t>When would you use a mixed reference?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Functions: Built-in Calculations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A function is a named, built-in calculation that works on a range of cells. Cover SUM, AVERAGE, ROUND </a:t>
            </a:r>
            <a:r>
              <a:rPr lang="en-US" dirty="0"/>
              <a:t>and </a:t>
            </a:r>
            <a:r>
              <a:rPr lang="en-US"/>
              <a:t>COUNTIF</a:t>
            </a:r>
            <a:r>
              <a:rPr lang="en-US" dirty="0"/>
              <a:t>, </a:t>
            </a:r>
            <a:r>
              <a:rPr lang="en-US"/>
              <a:t>e.g. =SUM(B2:B7). Distinguish a formula (any calculation starting with =) from a function (a named operation such as SUM or AVERAGE).</a:t>
            </a:r>
            <a:endParaRPr lang="en-US" dirty="0"/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What does the SUM function do?</a:t>
            </a:r>
          </a:p>
          <a:p>
            <a:pPr marL="228600" indent="-228600">
              <a:buChar char="•"/>
            </a:pPr>
            <a:r>
              <a:rPr lang="en-US"/>
              <a:t>What is the difference between a formula and a function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Which function counts cells that meet a condition?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0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Build </a:t>
            </a:r>
            <a:r>
              <a:rPr lang="en-US" b="1" dirty="0"/>
              <a:t>a </a:t>
            </a:r>
            <a:r>
              <a:rPr lang="en-US" b="1"/>
              <a:t>Data Model, Step by Step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Model the </a:t>
            </a:r>
            <a:r>
              <a:rPr lang="en-US"/>
              <a:t>four </a:t>
            </a:r>
            <a:r>
              <a:rPr lang="en-US" dirty="0"/>
              <a:t>steps </a:t>
            </a:r>
            <a:r>
              <a:rPr lang="en-US"/>
              <a:t>for a times-table: enter a value in A1, list </a:t>
            </a:r>
            <a:r>
              <a:rPr lang="en-US" dirty="0"/>
              <a:t>the </a:t>
            </a:r>
            <a:r>
              <a:rPr lang="en-US"/>
              <a:t>row numbers 1 to 10</a:t>
            </a:r>
            <a:r>
              <a:rPr lang="en-US" dirty="0"/>
              <a:t>, </a:t>
            </a:r>
            <a:r>
              <a:rPr lang="en-US"/>
              <a:t>write =A3*$A$1 in B3 (mixing a relative and an absolute reference), then fill down to B12. Change A1 and show </a:t>
            </a:r>
            <a:r>
              <a:rPr lang="en-US" dirty="0"/>
              <a:t>the </a:t>
            </a:r>
            <a:r>
              <a:rPr lang="en-US"/>
              <a:t>whole table recalculate instantly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cell drives every calculation in the model?</a:t>
            </a:r>
          </a:p>
          <a:p>
            <a:pPr marL="228600" indent="-228600">
              <a:buChar char="•"/>
            </a:pPr>
            <a:r>
              <a:rPr lang="en-US"/>
              <a:t>Why is $A$1 written with dollar signs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What happens when you change the value in A1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Worked Example — Sales Bonus Model</a:t>
            </a:r>
          </a:p>
          <a:p>
            <a:pPr marL="0" indent="0">
              <a:buNone/>
            </a:pPr>
            <a:r>
              <a:rPr lang="en-US"/>
              <a:t>Teaching notes: Build a sales bonus model live from the staff and units-sold table (Amir 14, Suki 9, Lena 22, Tom 6, Mia 11). Enter one bonus rate in a fixed cell, then use =Sold*$rate with an absolute reference so the formula fills down correctly for every member of staff.</a:t>
            </a:r>
          </a:p>
          <a:p>
            <a:pPr marL="0" indent="0">
              <a:buNone/>
            </a:pPr>
            <a:r>
              <a:rPr lang="en-US" b="1"/>
              <a:t>Key questions</a:t>
            </a:r>
          </a:p>
          <a:p>
            <a:pPr marL="228600" indent="-228600">
              <a:buChar char="•"/>
            </a:pPr>
            <a:r>
              <a:rPr lang="en-US"/>
              <a:t>Which cell holds the bonus rate?</a:t>
            </a:r>
          </a:p>
          <a:p>
            <a:pPr marL="228600" indent="-228600">
              <a:buChar char="•"/>
            </a:pPr>
            <a:r>
              <a:rPr lang="en-US"/>
              <a:t>Why must the bonus rate be an absolute reference?</a:t>
            </a:r>
          </a:p>
          <a:p>
            <a:pPr marL="228600" indent="-228600">
              <a:buChar char="•"/>
            </a:pPr>
            <a:r>
              <a:rPr lang="en-US"/>
              <a:t>How do you work out each person’s bonus?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Module 5 </a:t>
            </a:r>
            <a:r>
              <a:rPr lang="en-US" b="1" dirty="0"/>
              <a:t>opener — </a:t>
            </a:r>
            <a:r>
              <a:rPr lang="en-US" b="1"/>
              <a:t>Graphs &amp; Charts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Open the charts module. Explain that a chart turns spreadsheet numbers into a clear visual story, </a:t>
            </a:r>
            <a:r>
              <a:rPr lang="en-US" dirty="0"/>
              <a:t>and </a:t>
            </a:r>
            <a:r>
              <a:rPr lang="en-US"/>
              <a:t>that this module covers choosing the right chart type, building it, </a:t>
            </a:r>
            <a:r>
              <a:rPr lang="en-US" dirty="0"/>
              <a:t>and </a:t>
            </a:r>
            <a:r>
              <a:rPr lang="en-US"/>
              <a:t>labelling it fully so it needs no explanation.</a:t>
            </a:r>
            <a:endParaRPr lang="en-US" dirty="0"/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Why turn spreadsheet data into a chart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Which three chart types will you compare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What makes a chart easy to read?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Choosing the Right Chart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The choice is usually between a pie chart (parts of a whole), a bar or column chart (separate values), </a:t>
            </a:r>
            <a:r>
              <a:rPr lang="en-US" dirty="0"/>
              <a:t>and</a:t>
            </a:r>
            <a:r>
              <a:rPr lang="en-US"/>
              <a:t> a line graph (trends over time). Pick </a:t>
            </a:r>
            <a:r>
              <a:rPr lang="en-US" dirty="0"/>
              <a:t>the </a:t>
            </a:r>
            <a:r>
              <a:rPr lang="en-US"/>
              <a:t>chart that suits the data</a:t>
            </a:r>
            <a:r>
              <a:rPr lang="en-US" dirty="0"/>
              <a:t>, </a:t>
            </a:r>
            <a:r>
              <a:rPr lang="en-US"/>
              <a:t>and keep it simple by avoiding 3-D effects and clutter.</a:t>
            </a:r>
            <a:endParaRPr lang="en-US" dirty="0"/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chart shows parts of a whole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Which chart best shows a trend over time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Why avoid 3-D effects on a chart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00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Chart Types Compared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Compare pie</a:t>
            </a:r>
            <a:r>
              <a:rPr lang="en-US" dirty="0"/>
              <a:t>, </a:t>
            </a:r>
            <a:r>
              <a:rPr lang="en-US"/>
              <a:t>bar/column </a:t>
            </a:r>
            <a:r>
              <a:rPr lang="en-US" dirty="0"/>
              <a:t>and </a:t>
            </a:r>
            <a:r>
              <a:rPr lang="en-US"/>
              <a:t>line charts side by side. A pie shows one series that adds up to 100%; a bar or column compares separate values; a line shows change over time. Match the chart to the question the data should answer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chart type uses a single series that adds to 100%?</a:t>
            </a:r>
          </a:p>
          <a:p>
            <a:pPr marL="228600" indent="-228600">
              <a:buChar char="•"/>
            </a:pPr>
            <a:r>
              <a:rPr lang="en-US"/>
              <a:t>When is a line graph </a:t>
            </a:r>
            <a:r>
              <a:rPr lang="en-US" dirty="0"/>
              <a:t>the </a:t>
            </a:r>
            <a:r>
              <a:rPr lang="en-US"/>
              <a:t>best choice?</a:t>
            </a:r>
          </a:p>
          <a:p>
            <a:pPr marL="228600" indent="-228600">
              <a:buChar char="•"/>
            </a:pPr>
            <a:r>
              <a:rPr lang="en-US"/>
              <a:t>Why should a pie chart avoid too many slices?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Create a Chart, Step by Step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Model creating a chart: highlight the labels and values, insert a pie, bar or line chart from the Insert tab (or use Recommended Charts), check the type suits the data, then save. Stress that a chart always builds from the highlighted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What must you do to the data before inserting a chart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Where do you find the Charts gallery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Why check the chart type after inserting it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Labelling a Chart Clearly</a:t>
            </a:r>
          </a:p>
          <a:p>
            <a:pPr marL="0" indent="0">
              <a:buNone/>
            </a:pPr>
            <a:r>
              <a:rPr lang="en-US"/>
              <a:t>Teaching notes: A chart must be fully labelled so a reader understands it without asking questions. Cover a clear chart title, category and value axis titles, a sensible value-axis scale, category and data labels, and a legend when there is more than one series.</a:t>
            </a:r>
          </a:p>
          <a:p>
            <a:pPr marL="0" indent="0">
              <a:buNone/>
            </a:pPr>
            <a:r>
              <a:rPr lang="en-US" b="1"/>
              <a:t>Key questions</a:t>
            </a:r>
          </a:p>
          <a:p>
            <a:pPr marL="228600" indent="-228600">
              <a:buChar char="•"/>
            </a:pPr>
            <a:r>
              <a:rPr lang="en-US"/>
              <a:t>What should a chart title describe?</a:t>
            </a:r>
          </a:p>
          <a:p>
            <a:pPr marL="228600" indent="-228600">
              <a:buChar char="•"/>
            </a:pPr>
            <a:r>
              <a:rPr lang="en-US"/>
              <a:t>What do the axis titles tell the reader?</a:t>
            </a:r>
          </a:p>
          <a:p>
            <a:pPr marL="228600" indent="-228600">
              <a:buChar char="•"/>
            </a:pPr>
            <a:r>
              <a:rPr lang="en-US"/>
              <a:t>When is a legend needed on a chart?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Using a Secondary Axis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When two data sets use very different scales, a combo chart with a secondary axis makes both readable. Use a column series for one data set and a line for the other</a:t>
            </a:r>
            <a:r>
              <a:rPr lang="en-US" dirty="0"/>
              <a:t>, </a:t>
            </a:r>
            <a:r>
              <a:rPr lang="en-US"/>
              <a:t>scale the primary (left) and secondary (right) axes sensibly</a:t>
            </a:r>
            <a:r>
              <a:rPr lang="en-US" dirty="0"/>
              <a:t>, </a:t>
            </a:r>
            <a:r>
              <a:rPr lang="en-US"/>
              <a:t>and label both. Model it with rainfall </a:t>
            </a:r>
            <a:r>
              <a:rPr lang="en-US" dirty="0"/>
              <a:t>and </a:t>
            </a:r>
            <a:r>
              <a:rPr lang="en-US"/>
              <a:t>temperature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When do you need a secondary axis?</a:t>
            </a:r>
          </a:p>
          <a:p>
            <a:pPr marL="228600" indent="-228600">
              <a:buChar char="•"/>
            </a:pPr>
            <a:r>
              <a:rPr lang="en-US"/>
              <a:t>Which chart types are combined in a combo chart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Why </a:t>
            </a:r>
            <a:r>
              <a:rPr lang="en-US"/>
              <a:t>must both axes be labelled?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Class Activity — Build &amp; Label a Chart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Pupils open the employees data, then build both a pie chart (percentage of staff per job type) </a:t>
            </a:r>
            <a:r>
              <a:rPr lang="en-US" dirty="0"/>
              <a:t>and </a:t>
            </a:r>
            <a:r>
              <a:rPr lang="en-US"/>
              <a:t>a column chart (number per job type) from the same data. They label each chart fully</a:t>
            </a:r>
            <a:r>
              <a:rPr lang="en-US" dirty="0"/>
              <a:t>, </a:t>
            </a:r>
            <a:r>
              <a:rPr lang="en-US"/>
              <a:t>extract one pie sector to make it stand out</a:t>
            </a:r>
            <a:r>
              <a:rPr lang="en-US" dirty="0"/>
              <a:t>, and </a:t>
            </a:r>
            <a:r>
              <a:rPr lang="en-US"/>
              <a:t>decide which chart tells </a:t>
            </a:r>
            <a:r>
              <a:rPr lang="en-US" dirty="0"/>
              <a:t>the </a:t>
            </a:r>
            <a:r>
              <a:rPr lang="en-US"/>
              <a:t>story most clearly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chart shows the percentage of staff in each job type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How </a:t>
            </a:r>
            <a:r>
              <a:rPr lang="en-US"/>
              <a:t>do you make one pie sector stand out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How do you decide which chart is clearest?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Exam Practice — Sunrise Café Takings Model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Pupils build a spreadsheet model for the Sunrise Café. They enter five items</a:t>
            </a:r>
            <a:r>
              <a:rPr lang="en-US" dirty="0"/>
              <a:t>, </a:t>
            </a:r>
            <a:r>
              <a:rPr lang="en-US"/>
              <a:t>their prices and daily sales, use =Price*Quantity with the price as an absolute reference, total takings with SUM, find the mean with AVERAGE and ROUND it to 2 decimal places, then chart income by item and daily takings. Stretch</a:t>
            </a:r>
            <a:r>
              <a:rPr lang="en-US" dirty="0"/>
              <a:t>: </a:t>
            </a:r>
            <a:r>
              <a:rPr lang="en-US"/>
              <a:t>COUNTIF the days over £500 and add conditional formatting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functions will the café model use?</a:t>
            </a:r>
            <a:endParaRPr lang="en-US" dirty="0"/>
          </a:p>
          <a:p>
            <a:pPr marL="228600" indent="-228600">
              <a:buChar char="•"/>
            </a:pPr>
            <a:r>
              <a:rPr lang="en-US"/>
              <a:t>Why is the item price entered as an absolute reference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/>
              <a:t>What do </a:t>
            </a:r>
            <a:r>
              <a:rPr lang="en-US" dirty="0"/>
              <a:t>the stretch</a:t>
            </a:r>
            <a:r>
              <a:rPr lang="en-US"/>
              <a:t> tasks add to the model?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Quick Quiz — Check Your Understanding</a:t>
            </a:r>
          </a:p>
          <a:p>
            <a:pPr marL="0" indent="0">
              <a:buNone/>
            </a:pPr>
            <a:r>
              <a:rPr lang="en-US"/>
              <a:t>Teaching notes: Run this as a short recall check for Years 10 and 11. Give about eight minutes, let pupils answer from memory, then reveal the mark scheme below and mark in pairs. Total: 12 marks.</a:t>
            </a:r>
          </a:p>
          <a:p>
            <a:pPr marL="0" indent="0">
              <a:buNone/>
            </a:pPr>
            <a:r>
              <a:rPr lang="en-US" b="1"/>
              <a:t>Mark scheme — Section A (recall, 1 mark each)</a:t>
            </a:r>
          </a:p>
          <a:p>
            <a:pPr marL="228600" indent="-228600">
              <a:buChar char="•"/>
            </a:pPr>
            <a:r>
              <a:rPr lang="en-US"/>
              <a:t>1. The = sign.</a:t>
            </a:r>
          </a:p>
          <a:p>
            <a:pPr marL="228600" indent="-228600">
              <a:buChar char="•"/>
            </a:pPr>
            <a:r>
              <a:rPr lang="en-US"/>
              <a:t>2. It fixes (locks) a cell reference so it does not change when the formula is copied.</a:t>
            </a:r>
          </a:p>
          <a:p>
            <a:pPr marL="228600" indent="-228600">
              <a:buChar char="•"/>
            </a:pPr>
            <a:r>
              <a:rPr lang="en-US"/>
              <a:t>3. A line graph.</a:t>
            </a:r>
          </a:p>
          <a:p>
            <a:pPr marL="0" indent="0">
              <a:buNone/>
            </a:pPr>
            <a:r>
              <a:rPr lang="en-US" b="1"/>
              <a:t>Mark scheme — Section B (short answer)</a:t>
            </a:r>
          </a:p>
          <a:p>
            <a:pPr marL="228600" indent="-228600">
              <a:buChar char="•"/>
            </a:pPr>
            <a:r>
              <a:rPr lang="en-US"/>
              <a:t>1. =SUM(B2:B7) (1 mark).</a:t>
            </a:r>
          </a:p>
          <a:p>
            <a:pPr marL="228600" indent="-228600">
              <a:buChar char="•"/>
            </a:pPr>
            <a:r>
              <a:rPr lang="en-US"/>
              <a:t>2. A relative reference changes when it is copied, adjusting to its new position; an absolute reference has dollar signs and stays fixed (2 marks).</a:t>
            </a:r>
          </a:p>
          <a:p>
            <a:pPr marL="228600" indent="-228600">
              <a:buChar char="•"/>
            </a:pPr>
            <a:r>
              <a:rPr lang="en-US"/>
              <a:t>3. So the reader knows what each axis represents, e.g. the category and the value with its units (1 mark).</a:t>
            </a:r>
          </a:p>
          <a:p>
            <a:pPr marL="0" indent="0">
              <a:buNone/>
            </a:pPr>
            <a:r>
              <a:rPr lang="en-US" b="1"/>
              <a:t>Mark scheme — Challenge (5 marks)</a:t>
            </a:r>
          </a:p>
          <a:p>
            <a:pPr marL="228600" indent="-228600">
              <a:buChar char="•"/>
            </a:pPr>
            <a:r>
              <a:rPr lang="en-US"/>
              <a:t>=B$1*C4 (3 marks) — accept =C4*B$1. The price is absolute because the row is locked with $, so it stays on the price row when the formula is filled down the quantities (2 marks).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Review — 3-2-1: What You've Learned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Teaching </a:t>
            </a:r>
            <a:r>
              <a:rPr lang="en-US"/>
              <a:t>notes</a:t>
            </a:r>
            <a:r>
              <a:rPr lang="en-US" dirty="0"/>
              <a:t>: </a:t>
            </a:r>
            <a:r>
              <a:rPr lang="en-US"/>
              <a:t>Close </a:t>
            </a:r>
            <a:r>
              <a:rPr lang="en-US" dirty="0"/>
              <a:t>the </a:t>
            </a:r>
            <a:r>
              <a:rPr lang="en-US"/>
              <a:t>unit</a:t>
            </a:r>
            <a:r>
              <a:rPr lang="en-US" dirty="0"/>
              <a:t>: </a:t>
            </a:r>
            <a:r>
              <a:rPr lang="en-US"/>
              <a:t>pupils name </a:t>
            </a:r>
            <a:r>
              <a:rPr lang="en-US" dirty="0"/>
              <a:t>three </a:t>
            </a:r>
            <a:r>
              <a:rPr lang="en-US"/>
              <a:t>chart types </a:t>
            </a:r>
            <a:r>
              <a:rPr lang="en-US" dirty="0"/>
              <a:t>they </a:t>
            </a:r>
            <a:r>
              <a:rPr lang="en-US"/>
              <a:t>can now choose between (pie, bar</a:t>
            </a:r>
            <a:r>
              <a:rPr lang="en-US" dirty="0"/>
              <a:t>, </a:t>
            </a:r>
            <a:r>
              <a:rPr lang="en-US"/>
              <a:t>line), </a:t>
            </a:r>
            <a:r>
              <a:rPr lang="en-US" dirty="0"/>
              <a:t>two </a:t>
            </a:r>
            <a:r>
              <a:rPr lang="en-US"/>
              <a:t>functions they would use in a spreadsheet model and why each fits</a:t>
            </a:r>
            <a:r>
              <a:rPr lang="en-US" dirty="0"/>
              <a:t>, and one </a:t>
            </a:r>
            <a:r>
              <a:rPr lang="en-US"/>
              <a:t>‘what if’ question </a:t>
            </a:r>
            <a:r>
              <a:rPr lang="en-US" dirty="0"/>
              <a:t>they </a:t>
            </a:r>
            <a:r>
              <a:rPr lang="en-US"/>
              <a:t>could answer by changing a value in their own model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/>
              <a:t>Key </a:t>
            </a:r>
            <a:r>
              <a:rPr lang="en-US" b="1" dirty="0"/>
              <a:t>questions</a:t>
            </a:r>
          </a:p>
          <a:p>
            <a:pPr marL="228600" indent="-228600">
              <a:buChar char="•"/>
            </a:pPr>
            <a:r>
              <a:rPr lang="en-US"/>
              <a:t>Which </a:t>
            </a:r>
            <a:r>
              <a:rPr lang="en-US" dirty="0"/>
              <a:t>three </a:t>
            </a:r>
            <a:r>
              <a:rPr lang="en-US"/>
              <a:t>chart types can </a:t>
            </a:r>
            <a:r>
              <a:rPr lang="en-US" dirty="0"/>
              <a:t>you </a:t>
            </a:r>
            <a:r>
              <a:rPr lang="en-US"/>
              <a:t>now choose between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Which </a:t>
            </a:r>
            <a:r>
              <a:rPr lang="en-US"/>
              <a:t>two functions would you use in a model, and why</a:t>
            </a:r>
            <a:r>
              <a:rPr lang="en-US" dirty="0"/>
              <a:t>?</a:t>
            </a:r>
          </a:p>
          <a:p>
            <a:pPr marL="228600" indent="-228600">
              <a:buChar char="•"/>
            </a:pPr>
            <a:r>
              <a:rPr lang="en-US" dirty="0"/>
              <a:t>What </a:t>
            </a:r>
            <a:r>
              <a:rPr lang="en-US"/>
              <a:t>‘what if’ question could </a:t>
            </a:r>
            <a:r>
              <a:rPr lang="en-US" dirty="0"/>
              <a:t>you </a:t>
            </a:r>
            <a:r>
              <a:rPr lang="en-US"/>
              <a:t>answer with your own model</a:t>
            </a:r>
            <a:r>
              <a:rPr lang="en-US" dirty="0"/>
              <a:t>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08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slide8.xml"/><Relationship Id="rId4" Type="http://schemas.openxmlformats.org/officeDocument/2006/relationships/slide" Target="slide3.xml"/><Relationship Id="rId5" Type="http://schemas.openxmlformats.org/officeDocument/2006/relationships/slide" Target="slide21.xml"/><Relationship Id="rId6" Type="http://schemas.openxmlformats.org/officeDocument/2006/relationships/slide" Target="slide12.xml"/><Relationship Id="rId7" Type="http://schemas.openxmlformats.org/officeDocument/2006/relationships/slide" Target="slide14.xml"/><Relationship Id="rId8" Type="http://schemas.openxmlformats.org/officeDocument/2006/relationships/slide" Target="slide4.xml"/><Relationship Id="rId9" Type="http://schemas.openxmlformats.org/officeDocument/2006/relationships/slide" Target="slide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Relationship Id="rId4" Type="http://schemas.openxmlformats.org/officeDocument/2006/relationships/image" Target="../media/image9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eg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Relationship Id="rId4" Type="http://schemas.openxmlformats.org/officeDocument/2006/relationships/image" Target="../media/image26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slide2.xml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30.png"/><Relationship Id="rId8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30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slide2.xml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30.png"/><Relationship Id="rId8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tabase table of records shown on screen"/>
          <p:cNvPicPr>
            <a:picLocks noChangeAspect="1"/>
          </p:cNvPicPr>
          <p:nvPr/>
        </p:nvPicPr>
        <p:blipFill>
          <a:blip r:embed="rId3"/>
          <a:srcRect l="810" r="809"/>
          <a:stretch>
            <a:fillRect/>
          </a:stretch>
        </p:blipFill>
        <p:spPr>
          <a:xfrm>
            <a:off x="1303020" y="2331720"/>
            <a:ext cx="425196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74920"/>
            <a:ext cx="6858000" cy="320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IGCSE ICT  </a:t>
            </a:r>
            <a:r>
              <a:rPr lang="en-US" sz="1200" b="1" kern="0" spc="200" dirty="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b="1" kern="0" spc="20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GRAPHS &amp; CHARTS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Spreadsheets, Graphs &amp; Charts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5532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CFE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Models, Formulae, Functions &amp; Data Visualisation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63093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D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to building spreadsheet models and turning data into clear graphs and charts, with hands-on IGCSE tasks</a:t>
            </a:r>
            <a:r>
              <a:rPr lang="en-US" sz="1250" i="1" dirty="0">
                <a:solidFill>
                  <a:srgbClr val="D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293876" y="6986016"/>
            <a:ext cx="978408" cy="9784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mage 1" descr="/agent/turn10/workspace/assets/badges/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638" y="7040880"/>
            <a:ext cx="782884" cy="868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7955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939796" y="6986016"/>
            <a:ext cx="978408" cy="9784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mage 2" descr="/agent/turn10/workspace/assets/badges/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660" y="7147052"/>
            <a:ext cx="868680" cy="656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74620" y="7955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585716" y="6986016"/>
            <a:ext cx="978408" cy="9784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mage 3" descr="/agent/turn10/workspace/assets/badges/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7043425"/>
            <a:ext cx="868680" cy="8635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20540" y="7955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18" name="Text 12">
            <a:hlinkClick r:id="rId7" action="ppaction://hlinksldjump" tooltip="Back to roadmap"/>
          </p:cNvPr>
          <p:cNvSpPr/>
          <p:nvPr/>
        </p:nvSpPr>
        <p:spPr>
          <a:xfrm>
            <a:off x="36576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LEARNING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</a:t>
            </a:r>
            <a:r>
              <a:rPr lang="en-US" sz="2500" b="1" dirty="0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Roadmap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Assignment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skills lesson by lesson — from your first spreadsheet model to polished graphs and charts ready for the exam</a:t>
            </a: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0" name="Card1 BG"/>
          <p:cNvSpPr/>
          <p:nvPr/>
        </p:nvSpPr>
        <p:spPr>
          <a:xfrm>
            <a:off x="457200" y="204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Card1 Accent"/>
          <p:cNvSpPr/>
          <p:nvPr/>
        </p:nvSpPr>
        <p:spPr>
          <a:xfrm>
            <a:off x="457200" y="2040000"/>
            <a:ext cx="109728" cy="80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2" name="Card1 Circle"/>
          <p:cNvSpPr/>
          <p:nvPr/>
        </p:nvSpPr>
        <p:spPr>
          <a:xfrm>
            <a:off x="749808" y="218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3" name="Card1 Num">
            <a:hlinkClick r:id="rId3" action="ppaction://hlinksldjump" tooltip="Jump to The World in 1901"/>
          </p:cNvPr>
          <p:cNvSpPr/>
          <p:nvPr/>
        </p:nvSpPr>
        <p:spPr>
          <a:xfrm>
            <a:off x="749808" y="218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action="ppaction://hlinksldjump" tooltip="Jump to The World in 190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600"/>
          </a:p>
        </p:txBody>
      </p:sp>
      <p:sp>
        <p:nvSpPr>
          <p:cNvPr id="104" name="Card1 Label"/>
          <p:cNvSpPr/>
          <p:nvPr/>
        </p:nvSpPr>
        <p:spPr>
          <a:xfrm>
            <a:off x="1417320" y="216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850"/>
          </a:p>
        </p:txBody>
      </p:sp>
      <p:sp>
        <p:nvSpPr>
          <p:cNvPr id="105" name="Card1 Title">
            <a:hlinkClick r:id="rId3" action="ppaction://hlinksldjump" tooltip="Jump to The World in 1901"/>
          </p:cNvPr>
          <p:cNvSpPr/>
          <p:nvPr/>
        </p:nvSpPr>
        <p:spPr>
          <a:xfrm>
            <a:off x="1417320" y="231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action="ppaction://hlinksldjump" tooltip="Jump to The World in 190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Spreadsheet Foundations</a:t>
            </a:r>
            <a:endParaRPr lang="en-US" sz="1500"/>
          </a:p>
        </p:txBody>
      </p:sp>
      <p:sp>
        <p:nvSpPr>
          <p:cNvPr id="106" name="Card1 Desc"/>
          <p:cNvSpPr/>
          <p:nvPr/>
        </p:nvSpPr>
        <p:spPr>
          <a:xfrm>
            <a:off x="1417320" y="256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Cells, rows, columns and simple data models.</a:t>
            </a:r>
            <a:endParaRPr lang="en-US" sz="1050"/>
          </a:p>
        </p:txBody>
      </p:sp>
      <p:sp>
        <p:nvSpPr>
          <p:cNvPr id="107" name="Card1 Jump">
            <a:hlinkClick r:id="rId3" action="ppaction://hlinksldjump" tooltip="Jump to The World in 1901"/>
          </p:cNvPr>
          <p:cNvSpPr/>
          <p:nvPr/>
        </p:nvSpPr>
        <p:spPr>
          <a:xfrm>
            <a:off x="5349240" y="233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Jump to The World in 190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10" name="Card2 BG"/>
          <p:cNvSpPr/>
          <p:nvPr/>
        </p:nvSpPr>
        <p:spPr>
          <a:xfrm>
            <a:off x="457200" y="288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1" name="Card2 Accent"/>
          <p:cNvSpPr/>
          <p:nvPr/>
        </p:nvSpPr>
        <p:spPr>
          <a:xfrm>
            <a:off x="457200" y="2880000"/>
            <a:ext cx="109728" cy="800000"/>
          </a:xfrm>
          <a:prstGeom prst="rect">
            <a:avLst/>
          </a:prstGeom>
          <a:solidFill>
            <a:srgbClr val="1C4E7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2" name="Card2 Circle"/>
          <p:cNvSpPr/>
          <p:nvPr/>
        </p:nvSpPr>
        <p:spPr>
          <a:xfrm>
            <a:off x="749808" y="302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3" name="Card2 Num">
            <a:hlinkClick r:id="rId4" action="ppaction://hlinksldjump" tooltip="Jump to The Causes of War"/>
          </p:cNvPr>
          <p:cNvSpPr/>
          <p:nvPr/>
        </p:nvSpPr>
        <p:spPr>
          <a:xfrm>
            <a:off x="749808" y="302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 tooltip="Jump to The Causes of W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600"/>
          </a:p>
        </p:txBody>
      </p:sp>
      <p:sp>
        <p:nvSpPr>
          <p:cNvPr id="114" name="Card2 Label"/>
          <p:cNvSpPr/>
          <p:nvPr/>
        </p:nvSpPr>
        <p:spPr>
          <a:xfrm>
            <a:off x="1417320" y="300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850"/>
          </a:p>
        </p:txBody>
      </p:sp>
      <p:sp>
        <p:nvSpPr>
          <p:cNvPr id="115" name="Card2 Title">
            <a:hlinkClick r:id="rId4" action="ppaction://hlinksldjump" tooltip="Jump to The Causes of War"/>
          </p:cNvPr>
          <p:cNvSpPr/>
          <p:nvPr/>
        </p:nvSpPr>
        <p:spPr>
          <a:xfrm>
            <a:off x="1417320" y="315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 tooltip="Jump to The Causes of W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Formulae </a:t>
            </a: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 tooltip="Jump to The Causes of W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 </a:t>
            </a: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4" action="ppaction://hlinksldjump" tooltip="Jump to The Causes of W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Operators</a:t>
            </a:r>
            <a:endParaRPr lang="en-US" sz="1500"/>
          </a:p>
        </p:txBody>
      </p:sp>
      <p:sp>
        <p:nvSpPr>
          <p:cNvPr id="116" name="Card2 Desc"/>
          <p:cNvSpPr/>
          <p:nvPr/>
        </p:nvSpPr>
        <p:spPr>
          <a:xfrm>
            <a:off x="1417320" y="340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and the BIDMAS order of operations.</a:t>
            </a:r>
            <a:endParaRPr lang="en-US" sz="1050"/>
          </a:p>
        </p:txBody>
      </p:sp>
      <p:sp>
        <p:nvSpPr>
          <p:cNvPr id="117" name="Card2 Jump">
            <a:hlinkClick r:id="rId4" action="ppaction://hlinksldjump" tooltip="Jump to The Causes of War"/>
          </p:cNvPr>
          <p:cNvSpPr/>
          <p:nvPr/>
        </p:nvSpPr>
        <p:spPr>
          <a:xfrm>
            <a:off x="5349240" y="317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Jump to The Causes of W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20" name="Card3 BG"/>
          <p:cNvSpPr/>
          <p:nvPr/>
        </p:nvSpPr>
        <p:spPr>
          <a:xfrm>
            <a:off x="457200" y="372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1" name="Card3 Accent"/>
          <p:cNvSpPr/>
          <p:nvPr/>
        </p:nvSpPr>
        <p:spPr>
          <a:xfrm>
            <a:off x="457200" y="3720000"/>
            <a:ext cx="109728" cy="800000"/>
          </a:xfrm>
          <a:prstGeom prst="rect">
            <a:avLst/>
          </a:prstGeom>
          <a:solidFill>
            <a:srgbClr val="1C4E7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2" name="Card3 Circle"/>
          <p:cNvSpPr/>
          <p:nvPr/>
        </p:nvSpPr>
        <p:spPr>
          <a:xfrm>
            <a:off x="749808" y="386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3" name="Card3 Num">
            <a:hlinkClick r:id="rId5" action="ppaction://hlinksldjump" tooltip="Jump to Superpower Rivalry, 1950-56"/>
          </p:cNvPr>
          <p:cNvSpPr/>
          <p:nvPr/>
        </p:nvSpPr>
        <p:spPr>
          <a:xfrm>
            <a:off x="749808" y="386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 action="ppaction://hlinksldjump" tooltip="Jump to Superpower Rivalry, 1950-5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600"/>
          </a:p>
        </p:txBody>
      </p:sp>
      <p:sp>
        <p:nvSpPr>
          <p:cNvPr id="124" name="Card3 Label"/>
          <p:cNvSpPr/>
          <p:nvPr/>
        </p:nvSpPr>
        <p:spPr>
          <a:xfrm>
            <a:off x="1417320" y="384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850"/>
          </a:p>
        </p:txBody>
      </p:sp>
      <p:sp>
        <p:nvSpPr>
          <p:cNvPr id="125" name="Card3 Title">
            <a:hlinkClick r:id="rId5" action="ppaction://hlinksldjump" tooltip="Jump to Superpower Rivalry, 1950-56"/>
          </p:cNvPr>
          <p:cNvSpPr/>
          <p:nvPr/>
        </p:nvSpPr>
        <p:spPr>
          <a:xfrm>
            <a:off x="1417320" y="399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5" action="ppaction://hlinksldjump" tooltip="Jump to Superpower Rivalry, 1950-5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 Referencing</a:t>
            </a:r>
            <a:endParaRPr lang="en-US" sz="1500"/>
          </a:p>
        </p:txBody>
      </p:sp>
      <p:sp>
        <p:nvSpPr>
          <p:cNvPr id="126" name="Card3 Desc"/>
          <p:cNvSpPr/>
          <p:nvPr/>
        </p:nvSpPr>
        <p:spPr>
          <a:xfrm>
            <a:off x="1417320" y="424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and absolute references, and replicating formulae.</a:t>
            </a:r>
            <a:endParaRPr lang="en-US" sz="1050"/>
          </a:p>
        </p:txBody>
      </p:sp>
      <p:sp>
        <p:nvSpPr>
          <p:cNvPr id="127" name="Card3 Jump">
            <a:hlinkClick r:id="rId5" action="ppaction://hlinksldjump" tooltip="Jump to Superpower Rivalry, 1950-56"/>
          </p:cNvPr>
          <p:cNvSpPr/>
          <p:nvPr/>
        </p:nvSpPr>
        <p:spPr>
          <a:xfrm>
            <a:off x="5349240" y="401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Jump to Superpower Rivalry, 1950-5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30" name="Card4 BG"/>
          <p:cNvSpPr/>
          <p:nvPr/>
        </p:nvSpPr>
        <p:spPr>
          <a:xfrm>
            <a:off x="457200" y="456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1" name="Card4 Accent"/>
          <p:cNvSpPr/>
          <p:nvPr/>
        </p:nvSpPr>
        <p:spPr>
          <a:xfrm>
            <a:off x="457200" y="4560000"/>
            <a:ext cx="109728" cy="800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2" name="Card4 Circle"/>
          <p:cNvSpPr/>
          <p:nvPr/>
        </p:nvSpPr>
        <p:spPr>
          <a:xfrm>
            <a:off x="749808" y="470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3" name="Card4 Num">
            <a:hlinkClick r:id="rId6" action="ppaction://hlinksldjump" tooltip="Jump to Three Crises"/>
          </p:cNvPr>
          <p:cNvSpPr/>
          <p:nvPr/>
        </p:nvSpPr>
        <p:spPr>
          <a:xfrm>
            <a:off x="749808" y="470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Jump to Three Cri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600"/>
          </a:p>
        </p:txBody>
      </p:sp>
      <p:sp>
        <p:nvSpPr>
          <p:cNvPr id="134" name="Card4 Label"/>
          <p:cNvSpPr/>
          <p:nvPr/>
        </p:nvSpPr>
        <p:spPr>
          <a:xfrm>
            <a:off x="1417320" y="468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850"/>
          </a:p>
        </p:txBody>
      </p:sp>
      <p:sp>
        <p:nvSpPr>
          <p:cNvPr id="135" name="Card4 Title">
            <a:hlinkClick r:id="rId6" action="ppaction://hlinksldjump" tooltip="Jump to Three Crises"/>
          </p:cNvPr>
          <p:cNvSpPr/>
          <p:nvPr/>
        </p:nvSpPr>
        <p:spPr>
          <a:xfrm>
            <a:off x="1417320" y="483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6" action="ppaction://hlinksldjump" tooltip="Jump to Three Cri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Functions</a:t>
            </a:r>
            <a:endParaRPr lang="en-US" sz="1500"/>
          </a:p>
        </p:txBody>
      </p:sp>
      <p:sp>
        <p:nvSpPr>
          <p:cNvPr id="136" name="Card4 Desc"/>
          <p:cNvSpPr/>
          <p:nvPr/>
        </p:nvSpPr>
        <p:spPr>
          <a:xfrm>
            <a:off x="1417320" y="508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ROUND and COUNTIF in your models.</a:t>
            </a:r>
            <a:endParaRPr lang="en-US" sz="1050"/>
          </a:p>
        </p:txBody>
      </p:sp>
      <p:sp>
        <p:nvSpPr>
          <p:cNvPr id="137" name="Card4 Jump">
            <a:hlinkClick r:id="rId6" action="ppaction://hlinksldjump" tooltip="Jump to Three Crises"/>
          </p:cNvPr>
          <p:cNvSpPr/>
          <p:nvPr/>
        </p:nvSpPr>
        <p:spPr>
          <a:xfrm>
            <a:off x="5349240" y="485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Jump to Three Cri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40" name="Card5 BG"/>
          <p:cNvSpPr/>
          <p:nvPr/>
        </p:nvSpPr>
        <p:spPr>
          <a:xfrm>
            <a:off x="457200" y="540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1" name="Card5 Accent"/>
          <p:cNvSpPr/>
          <p:nvPr/>
        </p:nvSpPr>
        <p:spPr>
          <a:xfrm>
            <a:off x="457200" y="5400000"/>
            <a:ext cx="109728" cy="800000"/>
          </a:xfrm>
          <a:prstGeom prst="rect">
            <a:avLst/>
          </a:prstGeom>
          <a:solidFill>
            <a:srgbClr val="1C4E7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2" name="Card5 Circle"/>
          <p:cNvSpPr/>
          <p:nvPr/>
        </p:nvSpPr>
        <p:spPr>
          <a:xfrm>
            <a:off x="749808" y="554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3" name="Card5 Num">
            <a:hlinkClick r:id="rId7" action="ppaction://hlinksldjump" tooltip="Jump to The Thaw &amp; Detente"/>
          </p:cNvPr>
          <p:cNvSpPr/>
          <p:nvPr/>
        </p:nvSpPr>
        <p:spPr>
          <a:xfrm>
            <a:off x="749808" y="554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7" action="ppaction://hlinksldjump" tooltip="Jump to The Thaw &amp; Deten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600"/>
          </a:p>
        </p:txBody>
      </p:sp>
      <p:sp>
        <p:nvSpPr>
          <p:cNvPr id="144" name="Card5 Label"/>
          <p:cNvSpPr/>
          <p:nvPr/>
        </p:nvSpPr>
        <p:spPr>
          <a:xfrm>
            <a:off x="1417320" y="552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</a:t>
            </a:r>
            <a:endParaRPr lang="en-US" sz="850"/>
          </a:p>
        </p:txBody>
      </p:sp>
      <p:sp>
        <p:nvSpPr>
          <p:cNvPr id="145" name="Card5 Title">
            <a:hlinkClick r:id="rId7" action="ppaction://hlinksldjump" tooltip="Jump to The Thaw &amp; Detente"/>
          </p:cNvPr>
          <p:cNvSpPr/>
          <p:nvPr/>
        </p:nvSpPr>
        <p:spPr>
          <a:xfrm>
            <a:off x="1417320" y="567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7" action="ppaction://hlinksldjump" tooltip="Jump to The Thaw &amp; Deten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Chart</a:t>
            </a:r>
            <a:endParaRPr lang="en-US" sz="1500"/>
          </a:p>
        </p:txBody>
      </p:sp>
      <p:sp>
        <p:nvSpPr>
          <p:cNvPr id="146" name="Card5 Desc"/>
          <p:cNvSpPr/>
          <p:nvPr/>
        </p:nvSpPr>
        <p:spPr>
          <a:xfrm>
            <a:off x="1417320" y="592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pie, bar or line charts to suit the data.</a:t>
            </a:r>
            <a:endParaRPr lang="en-US" sz="1050"/>
          </a:p>
        </p:txBody>
      </p:sp>
      <p:sp>
        <p:nvSpPr>
          <p:cNvPr id="147" name="Card5 Jump">
            <a:hlinkClick r:id="rId7" action="ppaction://hlinksldjump" tooltip="Jump to The Thaw &amp; Detente"/>
          </p:cNvPr>
          <p:cNvSpPr/>
          <p:nvPr/>
        </p:nvSpPr>
        <p:spPr>
          <a:xfrm>
            <a:off x="5349240" y="569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Jump to The Thaw &amp; Deten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50" name="Card6 BG"/>
          <p:cNvSpPr/>
          <p:nvPr/>
        </p:nvSpPr>
        <p:spPr>
          <a:xfrm>
            <a:off x="457200" y="624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1" name="Card6 Accent"/>
          <p:cNvSpPr/>
          <p:nvPr/>
        </p:nvSpPr>
        <p:spPr>
          <a:xfrm>
            <a:off x="457200" y="6240000"/>
            <a:ext cx="109728" cy="800000"/>
          </a:xfrm>
          <a:prstGeom prst="rect">
            <a:avLst/>
          </a:prstGeom>
          <a:solidFill>
            <a:srgbClr val="1C4E7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2" name="Card6 Circle"/>
          <p:cNvSpPr/>
          <p:nvPr/>
        </p:nvSpPr>
        <p:spPr>
          <a:xfrm>
            <a:off x="749808" y="638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3" name="Card6 Num">
            <a:hlinkClick r:id="rId8" action="ppaction://hlinksldjump" tooltip="Jump to Timeline &amp; Key Terms"/>
          </p:cNvPr>
          <p:cNvSpPr/>
          <p:nvPr/>
        </p:nvSpPr>
        <p:spPr>
          <a:xfrm>
            <a:off x="749808" y="638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 action="ppaction://hlinksldjump" tooltip="Jump to Timeline &amp; Key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600"/>
          </a:p>
        </p:txBody>
      </p:sp>
      <p:sp>
        <p:nvSpPr>
          <p:cNvPr id="154" name="Card6 Label"/>
          <p:cNvSpPr/>
          <p:nvPr/>
        </p:nvSpPr>
        <p:spPr>
          <a:xfrm>
            <a:off x="1417320" y="636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850"/>
          </a:p>
        </p:txBody>
      </p:sp>
      <p:sp>
        <p:nvSpPr>
          <p:cNvPr id="155" name="Card6 Title">
            <a:hlinkClick r:id="rId8" action="ppaction://hlinksldjump" tooltip="Jump to Timeline &amp; Key Terms"/>
          </p:cNvPr>
          <p:cNvSpPr/>
          <p:nvPr/>
        </p:nvSpPr>
        <p:spPr>
          <a:xfrm>
            <a:off x="1417320" y="651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 action="ppaction://hlinksldjump" tooltip="Jump to Timeline &amp; Key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Building </a:t>
            </a: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 action="ppaction://hlinksldjump" tooltip="Jump to Timeline &amp; Key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 </a:t>
            </a: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8" action="ppaction://hlinksldjump" tooltip="Jump to Timeline &amp; Key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Labelling</a:t>
            </a:r>
            <a:endParaRPr lang="en-US" sz="1500"/>
          </a:p>
        </p:txBody>
      </p:sp>
      <p:sp>
        <p:nvSpPr>
          <p:cNvPr id="156" name="Card6 Desc"/>
          <p:cNvSpPr/>
          <p:nvPr/>
        </p:nvSpPr>
        <p:spPr>
          <a:xfrm>
            <a:off x="1417320" y="676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and add full, clear labels.</a:t>
            </a:r>
            <a:endParaRPr lang="en-US" sz="1050"/>
          </a:p>
        </p:txBody>
      </p:sp>
      <p:sp>
        <p:nvSpPr>
          <p:cNvPr id="157" name="Card6 Jump">
            <a:hlinkClick r:id="rId8" action="ppaction://hlinksldjump" tooltip="Jump to Timeline &amp; Key Terms"/>
          </p:cNvPr>
          <p:cNvSpPr/>
          <p:nvPr/>
        </p:nvSpPr>
        <p:spPr>
          <a:xfrm>
            <a:off x="5349240" y="653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Jump to Timeline &amp; Key Te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160" name="Card7 BG"/>
          <p:cNvSpPr/>
          <p:nvPr/>
        </p:nvSpPr>
        <p:spPr>
          <a:xfrm>
            <a:off x="457200" y="7080000"/>
            <a:ext cx="5943600" cy="800000"/>
          </a:xfrm>
          <a:prstGeom prst="roundRect">
            <a:avLst>
              <a:gd name="adj" fmla="val 6667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1" name="Card7 Accent"/>
          <p:cNvSpPr/>
          <p:nvPr/>
        </p:nvSpPr>
        <p:spPr>
          <a:xfrm>
            <a:off x="457200" y="7080000"/>
            <a:ext cx="109728" cy="800000"/>
          </a:xfrm>
          <a:prstGeom prst="rect">
            <a:avLst/>
          </a:prstGeom>
          <a:solidFill>
            <a:srgbClr val="1C4E7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2" name="Card7 Circle"/>
          <p:cNvSpPr/>
          <p:nvPr/>
        </p:nvSpPr>
        <p:spPr>
          <a:xfrm>
            <a:off x="749808" y="7223968"/>
            <a:ext cx="512064" cy="512064"/>
          </a:xfrm>
          <a:prstGeom prst="ellipse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3" name="Card7 Num">
            <a:hlinkClick r:id="rId9" action="ppaction://hlinksldjump" tooltip="Jump to Revision &amp; Exam Practice"/>
          </p:cNvPr>
          <p:cNvSpPr/>
          <p:nvPr/>
        </p:nvSpPr>
        <p:spPr>
          <a:xfrm>
            <a:off x="749808" y="7223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9" action="ppaction://hlinksldjump" tooltip="Jump to Revision &amp; Exam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600"/>
          </a:p>
        </p:txBody>
      </p:sp>
      <p:sp>
        <p:nvSpPr>
          <p:cNvPr id="164" name="Card7 Label"/>
          <p:cNvSpPr/>
          <p:nvPr/>
        </p:nvSpPr>
        <p:spPr>
          <a:xfrm>
            <a:off x="1417320" y="72019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</a:t>
            </a:r>
            <a:endParaRPr lang="en-US" sz="850"/>
          </a:p>
        </p:txBody>
      </p:sp>
      <p:sp>
        <p:nvSpPr>
          <p:cNvPr id="165" name="Card7 Title">
            <a:hlinkClick r:id="rId9" action="ppaction://hlinksldjump" tooltip="Jump to Revision &amp; Exam Practice"/>
          </p:cNvPr>
          <p:cNvSpPr/>
          <p:nvPr/>
        </p:nvSpPr>
        <p:spPr>
          <a:xfrm>
            <a:off x="1417320" y="735635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9" action="ppaction://hlinksldjump" tooltip="Jump to Revision &amp; Exam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Practice</a:t>
            </a:r>
            <a:r>
              <a:rPr lang="en-US" sz="1500" b="1" u="sng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9" action="ppaction://hlinksldjump" tooltip="Jump to Revision &amp; Exam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&amp; Review</a:t>
            </a:r>
            <a:endParaRPr lang="en-US" sz="1500"/>
          </a:p>
        </p:txBody>
      </p:sp>
      <p:sp>
        <p:nvSpPr>
          <p:cNvPr id="166" name="Card7 Desc"/>
          <p:cNvSpPr/>
          <p:nvPr/>
        </p:nvSpPr>
        <p:spPr>
          <a:xfrm>
            <a:off x="1417320" y="7600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scenario, quiz and review.</a:t>
            </a:r>
            <a:endParaRPr lang="en-US" sz="1050"/>
          </a:p>
        </p:txBody>
      </p:sp>
      <p:sp>
        <p:nvSpPr>
          <p:cNvPr id="167" name="Card7 Jump">
            <a:hlinkClick r:id="rId9" action="ppaction://hlinksldjump" tooltip="Jump to Revision &amp; Exam Practice"/>
          </p:cNvPr>
          <p:cNvSpPr/>
          <p:nvPr/>
        </p:nvSpPr>
        <p:spPr>
          <a:xfrm>
            <a:off x="5349240" y="73726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action="ppaction://hlinksldjump" tooltip="Jump to Revision &amp; Exam Prac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Jump ▸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457200" y="8790000"/>
            <a:ext cx="5943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</a:t>
            </a:r>
            <a:r>
              <a:rPr lang="en-US" sz="10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adds one more skill towards your IGCSE spreadsheet and charts work</a:t>
            </a:r>
            <a:r>
              <a:rPr lang="en-US" sz="10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0" y="3127248"/>
            <a:ext cx="6858000" cy="320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SPREADSHEET FOUNDATIONS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 Foundations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CFE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every spreadsheet model is built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745236" y="3602736"/>
            <a:ext cx="1527048" cy="1527048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8" name="Image 0" descr="/agent/turn10/workspace/assets/badges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657600"/>
            <a:ext cx="1417320" cy="1417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51297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950"/>
          </a:p>
        </p:txBody>
      </p:sp>
      <p:sp>
        <p:nvSpPr>
          <p:cNvPr id="10" name="Shape 7"/>
          <p:cNvSpPr/>
          <p:nvPr/>
        </p:nvSpPr>
        <p:spPr>
          <a:xfrm>
            <a:off x="2665476" y="3602736"/>
            <a:ext cx="1527048" cy="1527048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1" name="Image 1" descr="/agent/turn10/workspace/assets/badges/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3830828"/>
            <a:ext cx="1417320" cy="10708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91740" y="51297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Formulae</a:t>
            </a:r>
            <a:endParaRPr lang="en-US" sz="950"/>
          </a:p>
        </p:txBody>
      </p:sp>
      <p:sp>
        <p:nvSpPr>
          <p:cNvPr id="13" name="Shape 9"/>
          <p:cNvSpPr/>
          <p:nvPr/>
        </p:nvSpPr>
        <p:spPr>
          <a:xfrm>
            <a:off x="4585716" y="3602736"/>
            <a:ext cx="1527048" cy="1527048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4" name="Image 2" descr="/agent/turn10/workspace/assets/badges/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3658984"/>
            <a:ext cx="1417320" cy="14145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11980" y="51297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50"/>
          </a:p>
        </p:txBody>
      </p:sp>
      <p:sp>
        <p:nvSpPr>
          <p:cNvPr id="16" name="Text 11"/>
          <p:cNvSpPr/>
          <p:nvPr/>
        </p:nvSpPr>
        <p:spPr>
          <a:xfrm>
            <a:off x="822960" y="6035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D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explore how cells, formulae and simple models let you explore ‘what if’ scenarios with data.</a:t>
            </a:r>
            <a:endParaRPr lang="en-US" sz="1250"/>
          </a:p>
        </p:txBody>
      </p:sp>
      <p:sp>
        <p:nvSpPr>
          <p:cNvPr id="17" name="Shape 12"/>
          <p:cNvSpPr/>
          <p:nvPr/>
        </p:nvSpPr>
        <p:spPr>
          <a:xfrm>
            <a:off x="1874520" y="690372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ext 13"/>
          <p:cNvSpPr/>
          <p:nvPr/>
        </p:nvSpPr>
        <p:spPr>
          <a:xfrm>
            <a:off x="1874520" y="6903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open a blank workbook and enter data into cells</a:t>
            </a:r>
            <a:endParaRPr lang="en-US" sz="1300"/>
          </a:p>
        </p:txBody>
      </p:sp>
      <p:sp>
        <p:nvSpPr>
          <p:cNvPr id="22" name="Video Link"/>
          <p:cNvSpPr/>
          <p:nvPr/>
        </p:nvSpPr>
        <p:spPr>
          <a:xfrm>
            <a:off x="822960" y="7650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u="sng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spreadsheet model lets you change data and instantly see the results.</a:t>
            </a:r>
            <a:endParaRPr lang="en-US" sz="1200"/>
          </a:p>
        </p:txBody>
      </p:sp>
      <p:sp>
        <p:nvSpPr>
          <p:cNvPr id="20" name="Text 15">
            <a:hlinkClick r:id="rId6" action="ppaction://hlinksldjump" tooltip="Back to roadmap"/>
          </p:cNvPr>
          <p:cNvSpPr/>
          <p:nvPr/>
        </p:nvSpPr>
        <p:spPr>
          <a:xfrm>
            <a:off x="36576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Paris Peace Confer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50000"/>
            <a:ext cx="1645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SPREADSHEET FOUNDATIONS</a:t>
            </a:r>
            <a:endParaRPr lang="en-US" sz="1050"/>
          </a:p>
        </p:txBody>
      </p:sp>
      <p:sp>
        <p:nvSpPr>
          <p:cNvPr id="5" name="Pill BG"/>
          <p:cNvSpPr/>
          <p:nvPr/>
        </p:nvSpPr>
        <p:spPr>
          <a:xfrm>
            <a:off x="4617720" y="540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Pill Text"/>
          <p:cNvSpPr/>
          <p:nvPr/>
        </p:nvSpPr>
        <p:spPr>
          <a:xfrm>
            <a:off x="4617720" y="540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100"/>
          </a:p>
        </p:txBody>
      </p:sp>
      <p:sp>
        <p:nvSpPr>
          <p:cNvPr id="7" name="Title"/>
          <p:cNvSpPr/>
          <p:nvPr/>
        </p:nvSpPr>
        <p:spPr>
          <a:xfrm>
            <a:off x="457200" y="93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Blocks of a Spreadsheet</a:t>
            </a:r>
            <a:endParaRPr lang="en-US" sz="2400"/>
          </a:p>
        </p:txBody>
      </p:sp>
      <p:sp>
        <p:nvSpPr>
          <p:cNvPr id="8" name="Intro"/>
          <p:cNvSpPr/>
          <p:nvPr/>
        </p:nvSpPr>
        <p:spPr>
          <a:xfrm>
            <a:off x="457200" y="1500000"/>
            <a:ext cx="5943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spreadsheet is built from a few simple parts, each with its own job in storing and calculating data.</a:t>
            </a:r>
            <a:endParaRPr lang="en-US" sz="1200"/>
          </a:p>
        </p:txBody>
      </p:sp>
      <p:sp>
        <p:nvSpPr>
          <p:cNvPr id="10" name="Card A BG"/>
          <p:cNvSpPr/>
          <p:nvPr/>
        </p:nvSpPr>
        <p:spPr>
          <a:xfrm>
            <a:off x="457200" y="220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Card A Accent"/>
          <p:cNvSpPr/>
          <p:nvPr/>
        </p:nvSpPr>
        <p:spPr>
          <a:xfrm>
            <a:off x="457200" y="220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Card A Text"/>
          <p:cNvSpPr/>
          <p:nvPr/>
        </p:nvSpPr>
        <p:spPr>
          <a:xfrm>
            <a:off x="677200" y="236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a single box that holds one value, label or formula. Its address comes from its column and row, such as B2.</a:t>
            </a:r>
          </a:p>
        </p:txBody>
      </p:sp>
      <p:sp>
        <p:nvSpPr>
          <p:cNvPr id="20" name="Card B BG"/>
          <p:cNvSpPr/>
          <p:nvPr/>
        </p:nvSpPr>
        <p:spPr>
          <a:xfrm>
            <a:off x="3530800" y="220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B Accent"/>
          <p:cNvSpPr/>
          <p:nvPr/>
        </p:nvSpPr>
        <p:spPr>
          <a:xfrm>
            <a:off x="3530800" y="220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B Text"/>
          <p:cNvSpPr/>
          <p:nvPr/>
        </p:nvSpPr>
        <p:spPr>
          <a:xfrm>
            <a:off x="3750800" y="236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&amp; Columns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run down (A, B, C) and rows run across (1, 2, 3), giving every cell a unique address.</a:t>
            </a:r>
          </a:p>
        </p:txBody>
      </p:sp>
      <p:sp>
        <p:nvSpPr>
          <p:cNvPr id="30" name="Card C BG"/>
          <p:cNvSpPr/>
          <p:nvPr/>
        </p:nvSpPr>
        <p:spPr>
          <a:xfrm>
            <a:off x="457200" y="433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C Accent"/>
          <p:cNvSpPr/>
          <p:nvPr/>
        </p:nvSpPr>
        <p:spPr>
          <a:xfrm>
            <a:off x="457200" y="433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C Text"/>
          <p:cNvSpPr/>
          <p:nvPr/>
        </p:nvSpPr>
        <p:spPr>
          <a:xfrm>
            <a:off x="677200" y="449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Worksheet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sheet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worksheet is a full grid of cells. Many worksheets can be held together inside one workbook.</a:t>
            </a:r>
          </a:p>
        </p:txBody>
      </p:sp>
      <p:sp>
        <p:nvSpPr>
          <p:cNvPr id="40" name="Card D BG"/>
          <p:cNvSpPr/>
          <p:nvPr/>
        </p:nvSpPr>
        <p:spPr>
          <a:xfrm>
            <a:off x="3530800" y="433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D Accent"/>
          <p:cNvSpPr/>
          <p:nvPr/>
        </p:nvSpPr>
        <p:spPr>
          <a:xfrm>
            <a:off x="3530800" y="433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D Text"/>
          <p:cNvSpPr/>
          <p:nvPr/>
        </p:nvSpPr>
        <p:spPr>
          <a:xfrm>
            <a:off x="3750800" y="449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Model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uses cells and formulae so you can change data and instantly see ‘what if’ results.</a:t>
            </a:r>
          </a:p>
        </p:txBody>
      </p:sp>
      <p:sp>
        <p:nvSpPr>
          <p:cNvPr id="50" name="Fact Band"/>
          <p:cNvSpPr/>
          <p:nvPr/>
        </p:nvSpPr>
        <p:spPr>
          <a:xfrm>
            <a:off x="0" y="6650000"/>
            <a:ext cx="6858000" cy="156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Fact Text"/>
          <p:cNvSpPr/>
          <p:nvPr/>
        </p:nvSpPr>
        <p:spPr>
          <a:xfrm>
            <a:off x="457200" y="6790000"/>
            <a:ext cx="3050000" cy="1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one box, rows and columns form the grid, and a worksheet is the whole sheet.</a:t>
            </a:r>
            <a:endParaRPr lang="en-US" sz="1150"/>
          </a:p>
        </p:txBody>
      </p:sp>
      <p:pic>
        <p:nvPicPr>
          <p:cNvPr id="70" name="Big Three 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216" y="6790000"/>
            <a:ext cx="1483567" cy="1150000"/>
          </a:xfrm>
          <a:prstGeom prst="rect">
            <a:avLst/>
          </a:prstGeom>
        </p:spPr>
      </p:pic>
      <p:sp>
        <p:nvSpPr>
          <p:cNvPr id="71" name="Photo Caption"/>
          <p:cNvSpPr/>
          <p:nvPr/>
        </p:nvSpPr>
        <p:spPr>
          <a:xfrm>
            <a:off x="3620000" y="7970000"/>
            <a:ext cx="27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>
                <a:solidFill>
                  <a:srgbClr val="5A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data can be recalculated instantly when you change a value.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b"/>
          <p:cNvSpPr/>
          <p:nvPr/>
        </p:nvSpPr>
        <p:spPr>
          <a:xfrm>
            <a:off x="457200" y="420624"/>
            <a:ext cx="43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FORMULAE &amp; OPERATORS</a:t>
            </a:r>
          </a:p>
        </p:txBody>
      </p:sp>
      <p:sp>
        <p:nvSpPr>
          <p:cNvPr id="4" name="rr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b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Basics</a:t>
            </a:r>
          </a:p>
        </p:txBody>
      </p:sp>
      <p:sp>
        <p:nvSpPr>
          <p:cNvPr id="6" name="tb"/>
          <p:cNvSpPr/>
          <p:nvPr/>
        </p:nvSpPr>
        <p:spPr>
          <a:xfrm>
            <a:off x="457200" y="676656"/>
            <a:ext cx="40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Formulae &amp; Arithmetic Operators</a:t>
            </a:r>
          </a:p>
        </p:txBody>
      </p:sp>
      <p:sp>
        <p:nvSpPr>
          <p:cNvPr id="7" name="tb"/>
          <p:cNvSpPr/>
          <p:nvPr/>
        </p:nvSpPr>
        <p:spPr>
          <a:xfrm>
            <a:off x="457200" y="1480000"/>
            <a:ext cx="5943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always starts with an = sign. Arithmetic operators tell the spreadsheet how to calculate with your cells.</a:t>
            </a:r>
          </a:p>
        </p:txBody>
      </p:sp>
      <p:sp>
        <p:nvSpPr>
          <p:cNvPr id="8" name="rr"/>
          <p:cNvSpPr/>
          <p:nvPr/>
        </p:nvSpPr>
        <p:spPr>
          <a:xfrm>
            <a:off x="457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"/>
          <p:cNvSpPr/>
          <p:nvPr/>
        </p:nvSpPr>
        <p:spPr>
          <a:xfrm>
            <a:off x="457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b"/>
          <p:cNvSpPr/>
          <p:nvPr/>
        </p:nvSpPr>
        <p:spPr>
          <a:xfrm>
            <a:off x="637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( +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two values together, e.g. =B2+B3 gives the total of cells B2 and B3.</a:t>
            </a:r>
          </a:p>
        </p:txBody>
      </p:sp>
      <p:sp>
        <p:nvSpPr>
          <p:cNvPr id="11" name="rr"/>
          <p:cNvSpPr/>
          <p:nvPr/>
        </p:nvSpPr>
        <p:spPr>
          <a:xfrm>
            <a:off x="3529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"/>
          <p:cNvSpPr/>
          <p:nvPr/>
        </p:nvSpPr>
        <p:spPr>
          <a:xfrm>
            <a:off x="3529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b"/>
          <p:cNvSpPr/>
          <p:nvPr/>
        </p:nvSpPr>
        <p:spPr>
          <a:xfrm>
            <a:off x="3709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 ( -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one value from another, e.g. =B2-B3 finds the difference.</a:t>
            </a:r>
          </a:p>
        </p:txBody>
      </p:sp>
      <p:sp>
        <p:nvSpPr>
          <p:cNvPr id="14" name="rr"/>
          <p:cNvSpPr/>
          <p:nvPr/>
        </p:nvSpPr>
        <p:spPr>
          <a:xfrm>
            <a:off x="457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"/>
          <p:cNvSpPr/>
          <p:nvPr/>
        </p:nvSpPr>
        <p:spPr>
          <a:xfrm>
            <a:off x="457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b"/>
          <p:cNvSpPr/>
          <p:nvPr/>
        </p:nvSpPr>
        <p:spPr>
          <a:xfrm>
            <a:off x="637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MULTIPLY ( *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values, e.g. =B2*B3. Use the star symbol, never the letter x.</a:t>
            </a:r>
          </a:p>
        </p:txBody>
      </p:sp>
      <p:sp>
        <p:nvSpPr>
          <p:cNvPr id="17" name="rr"/>
          <p:cNvSpPr/>
          <p:nvPr/>
        </p:nvSpPr>
        <p:spPr>
          <a:xfrm>
            <a:off x="3529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"/>
          <p:cNvSpPr/>
          <p:nvPr/>
        </p:nvSpPr>
        <p:spPr>
          <a:xfrm>
            <a:off x="3529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b"/>
          <p:cNvSpPr/>
          <p:nvPr/>
        </p:nvSpPr>
        <p:spPr>
          <a:xfrm>
            <a:off x="3709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 ( /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one value by another, e.g. =B2/B3.</a:t>
            </a:r>
          </a:p>
        </p:txBody>
      </p:sp>
      <p:sp>
        <p:nvSpPr>
          <p:cNvPr id="20" name="rr"/>
          <p:cNvSpPr/>
          <p:nvPr/>
        </p:nvSpPr>
        <p:spPr>
          <a:xfrm>
            <a:off x="457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"/>
          <p:cNvSpPr/>
          <p:nvPr/>
        </p:nvSpPr>
        <p:spPr>
          <a:xfrm>
            <a:off x="457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b"/>
          <p:cNvSpPr/>
          <p:nvPr/>
        </p:nvSpPr>
        <p:spPr>
          <a:xfrm>
            <a:off x="637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INDICES ( ^ 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to a power, e.g. =B2^B3 sets B2 to the power of B3.</a:t>
            </a:r>
          </a:p>
        </p:txBody>
      </p:sp>
      <p:sp>
        <p:nvSpPr>
          <p:cNvPr id="23" name="rr"/>
          <p:cNvSpPr/>
          <p:nvPr/>
        </p:nvSpPr>
        <p:spPr>
          <a:xfrm>
            <a:off x="3529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r"/>
          <p:cNvSpPr/>
          <p:nvPr/>
        </p:nvSpPr>
        <p:spPr>
          <a:xfrm>
            <a:off x="3529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b"/>
          <p:cNvSpPr/>
          <p:nvPr/>
        </p:nvSpPr>
        <p:spPr>
          <a:xfrm>
            <a:off x="3709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REFERENCES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Formulae point to cells, so results update whenever the cell values change.</a:t>
            </a:r>
          </a:p>
        </p:txBody>
      </p:sp>
      <p:sp>
        <p:nvSpPr>
          <p:cNvPr id="26" name="rr"/>
          <p:cNvSpPr/>
          <p:nvPr/>
        </p:nvSpPr>
        <p:spPr>
          <a:xfrm>
            <a:off x="457200" y="4640000"/>
            <a:ext cx="5943600" cy="2360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"/>
          <p:cNvSpPr/>
          <p:nvPr/>
        </p:nvSpPr>
        <p:spPr>
          <a:xfrm>
            <a:off x="457200" y="4640000"/>
            <a:ext cx="100584" cy="236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b"/>
          <p:cNvSpPr/>
          <p:nvPr/>
        </p:nvSpPr>
        <p:spPr>
          <a:xfrm>
            <a:off x="700000" y="4790000"/>
            <a:ext cx="54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NUMBER MODEL</a:t>
            </a:r>
          </a:p>
        </p:txBody>
      </p:sp>
      <p:sp>
        <p:nvSpPr>
          <p:cNvPr id="29" name="tb"/>
          <p:cNvSpPr/>
          <p:nvPr/>
        </p:nvSpPr>
        <p:spPr>
          <a:xfrm>
            <a:off x="700000" y="511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ENTER TWO NUMBERS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4 in cell B2 and 2 in cell B3 as your test values.</a:t>
            </a:r>
          </a:p>
        </p:txBody>
      </p:sp>
      <p:sp>
        <p:nvSpPr>
          <p:cNvPr id="30" name="tb"/>
          <p:cNvSpPr/>
          <p:nvPr/>
        </p:nvSpPr>
        <p:spPr>
          <a:xfrm>
            <a:off x="700000" y="569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ADD FORMULAE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B5 to B9 enter =B2+B3, =B2-B3, =B2*B3, =B2/B3 and =B2^B3.</a:t>
            </a:r>
          </a:p>
        </p:txBody>
      </p:sp>
      <p:sp>
        <p:nvSpPr>
          <p:cNvPr id="31" name="tb"/>
          <p:cNvSpPr/>
          <p:nvPr/>
        </p:nvSpPr>
        <p:spPr>
          <a:xfrm>
            <a:off x="700000" y="627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TEST 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B2 or B3 and watch every result recalculate automatically.</a:t>
            </a:r>
          </a:p>
        </p:txBody>
      </p:sp>
      <p:sp>
        <p:nvSpPr>
          <p:cNvPr id="902" name="Source Band"/>
          <p:cNvSpPr/>
          <p:nvPr/>
        </p:nvSpPr>
        <p:spPr>
          <a:xfrm>
            <a:off x="0" y="7050000"/>
            <a:ext cx="6858000" cy="190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00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220000"/>
            <a:ext cx="2360000" cy="1560000"/>
          </a:xfrm>
          <a:prstGeom prst="rect">
            <a:avLst/>
          </a:prstGeom>
          <a:ln w="12700">
            <a:solidFill>
              <a:srgbClr val="0F7BA8"/>
            </a:solidFill>
          </a:ln>
        </p:spPr>
      </p:pic>
      <p:sp>
        <p:nvSpPr>
          <p:cNvPr id="901" name="Photo Caption"/>
          <p:cNvSpPr/>
          <p:nvPr/>
        </p:nvSpPr>
        <p:spPr>
          <a:xfrm>
            <a:off x="2980000" y="7220000"/>
            <a:ext cx="34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8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operators is the most efficient way to calculate — check every formula starts with an equals sign.</a:t>
            </a:r>
          </a:p>
          <a:p>
            <a:pPr marL="0" indent="0">
              <a:spcBef>
                <a:spcPts val="200"/>
              </a:spcBef>
              <a:buNone/>
            </a:pPr>
            <a:endParaRPr lang="en-US" sz="850" i="1">
              <a:solidFill>
                <a:srgbClr val="5A6B7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sz="850" i="1">
              <a:solidFill>
                <a:srgbClr val="5A6B7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Terms Forced on German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50000"/>
            <a:ext cx="1645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ORDER OF OPERATIONS</a:t>
            </a:r>
            <a:endParaRPr lang="en-US" sz="1050"/>
          </a:p>
        </p:txBody>
      </p:sp>
      <p:sp>
        <p:nvSpPr>
          <p:cNvPr id="5" name="Pill BG"/>
          <p:cNvSpPr/>
          <p:nvPr/>
        </p:nvSpPr>
        <p:spPr>
          <a:xfrm>
            <a:off x="4617720" y="540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Pill Text"/>
          <p:cNvSpPr/>
          <p:nvPr/>
        </p:nvSpPr>
        <p:spPr>
          <a:xfrm>
            <a:off x="4617720" y="540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BIDMAS</a:t>
            </a:r>
            <a:endParaRPr lang="en-US" sz="1100"/>
          </a:p>
        </p:txBody>
      </p:sp>
      <p:sp>
        <p:nvSpPr>
          <p:cNvPr id="7" name="Title"/>
          <p:cNvSpPr/>
          <p:nvPr/>
        </p:nvSpPr>
        <p:spPr>
          <a:xfrm>
            <a:off x="457200" y="93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of Operations: BIDMAS</a:t>
            </a:r>
            <a:endParaRPr lang="en-US" sz="2400"/>
          </a:p>
        </p:txBody>
      </p:sp>
      <p:sp>
        <p:nvSpPr>
          <p:cNvPr id="8" name="Intro"/>
          <p:cNvSpPr/>
          <p:nvPr/>
        </p:nvSpPr>
        <p:spPr>
          <a:xfrm>
            <a:off x="457200" y="1500000"/>
            <a:ext cx="5943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formula mixes operators, the spreadsheet follows a fixed order. Remember it with BIDMAS.</a:t>
            </a:r>
            <a:endParaRPr lang="en-US" sz="1200"/>
          </a:p>
        </p:txBody>
      </p:sp>
      <p:sp>
        <p:nvSpPr>
          <p:cNvPr id="10" name="Card A BG"/>
          <p:cNvSpPr/>
          <p:nvPr/>
        </p:nvSpPr>
        <p:spPr>
          <a:xfrm>
            <a:off x="457200" y="220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Card A Accent"/>
          <p:cNvSpPr/>
          <p:nvPr/>
        </p:nvSpPr>
        <p:spPr>
          <a:xfrm>
            <a:off x="457200" y="220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Card A Text"/>
          <p:cNvSpPr/>
          <p:nvPr/>
        </p:nvSpPr>
        <p:spPr>
          <a:xfrm>
            <a:off x="677200" y="236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Brackets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first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inside brackets is worked out before the rest, e.g. (6+3) is done first.</a:t>
            </a:r>
          </a:p>
        </p:txBody>
      </p:sp>
      <p:sp>
        <p:nvSpPr>
          <p:cNvPr id="20" name="Card B BG"/>
          <p:cNvSpPr/>
          <p:nvPr/>
        </p:nvSpPr>
        <p:spPr>
          <a:xfrm>
            <a:off x="3530800" y="220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B Accent"/>
          <p:cNvSpPr/>
          <p:nvPr/>
        </p:nvSpPr>
        <p:spPr>
          <a:xfrm>
            <a:off x="3530800" y="220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B Text"/>
          <p:cNvSpPr/>
          <p:nvPr/>
        </p:nvSpPr>
        <p:spPr>
          <a:xfrm>
            <a:off x="3750800" y="236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&amp; roots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and roots come next, e.g. 5^2 is done before any multiply or add.</a:t>
            </a:r>
          </a:p>
        </p:txBody>
      </p:sp>
      <p:sp>
        <p:nvSpPr>
          <p:cNvPr id="30" name="Card C BG"/>
          <p:cNvSpPr/>
          <p:nvPr/>
        </p:nvSpPr>
        <p:spPr>
          <a:xfrm>
            <a:off x="457200" y="433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C Accent"/>
          <p:cNvSpPr/>
          <p:nvPr/>
        </p:nvSpPr>
        <p:spPr>
          <a:xfrm>
            <a:off x="457200" y="433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C Text"/>
          <p:cNvSpPr/>
          <p:nvPr/>
        </p:nvSpPr>
        <p:spPr>
          <a:xfrm>
            <a:off x="677200" y="449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Divide &amp; Multiply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rank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left to right, so =6*25/5 is done in reading order.</a:t>
            </a:r>
          </a:p>
        </p:txBody>
      </p:sp>
      <p:sp>
        <p:nvSpPr>
          <p:cNvPr id="40" name="Card D BG"/>
          <p:cNvSpPr/>
          <p:nvPr/>
        </p:nvSpPr>
        <p:spPr>
          <a:xfrm>
            <a:off x="3530800" y="4330000"/>
            <a:ext cx="2870000" cy="201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D Accent"/>
          <p:cNvSpPr/>
          <p:nvPr/>
        </p:nvSpPr>
        <p:spPr>
          <a:xfrm>
            <a:off x="3530800" y="4330000"/>
            <a:ext cx="80000" cy="201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D Text"/>
          <p:cNvSpPr/>
          <p:nvPr/>
        </p:nvSpPr>
        <p:spPr>
          <a:xfrm>
            <a:off x="3750800" y="4490000"/>
            <a:ext cx="247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&amp; Subtract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last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left to right once everything else is complete.</a:t>
            </a:r>
          </a:p>
        </p:txBody>
      </p:sp>
      <p:sp>
        <p:nvSpPr>
          <p:cNvPr id="50" name="Fact Band"/>
          <p:cNvSpPr/>
          <p:nvPr/>
        </p:nvSpPr>
        <p:spPr>
          <a:xfrm>
            <a:off x="0" y="6650000"/>
            <a:ext cx="6858000" cy="156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Fact Text"/>
          <p:cNvSpPr/>
          <p:nvPr/>
        </p:nvSpPr>
        <p:spPr>
          <a:xfrm>
            <a:off x="457200" y="6790000"/>
            <a:ext cx="3050000" cy="1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+ (6 × 5^2 + 3) = 160 — brackets and indices first, then multiply, then add.</a:t>
            </a:r>
            <a:endParaRPr lang="en-US" sz="1150"/>
          </a:p>
        </p:txBody>
      </p:sp>
      <p:pic>
        <p:nvPicPr>
          <p:cNvPr id="70" name="Potsdam Photo"/>
          <p:cNvPicPr>
            <a:picLocks noChangeAspect="1"/>
          </p:cNvPicPr>
          <p:nvPr/>
        </p:nvPicPr>
        <p:blipFill>
          <a:blip r:embed="rId4"/>
          <a:srcRect t="14000" b="17055"/>
          <a:stretch>
            <a:fillRect/>
          </a:stretch>
        </p:blipFill>
        <p:spPr>
          <a:xfrm>
            <a:off x="3620000" y="6790000"/>
            <a:ext cx="2780000" cy="1150000"/>
          </a:xfrm>
          <a:prstGeom prst="rect">
            <a:avLst/>
          </a:prstGeom>
        </p:spPr>
      </p:pic>
      <p:sp>
        <p:nvSpPr>
          <p:cNvPr id="71" name="Photo Caption"/>
          <p:cNvSpPr/>
          <p:nvPr/>
        </p:nvSpPr>
        <p:spPr>
          <a:xfrm>
            <a:off x="3620000" y="7970000"/>
            <a:ext cx="278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>
                <a:solidFill>
                  <a:srgbClr val="5A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REMEMBER: change the order and you change the answer — always follow BIDMAS.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fe in the Trench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90000"/>
            <a:ext cx="1645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CELL REFERENCING</a:t>
            </a:r>
            <a:endParaRPr lang="en-US" sz="1100"/>
          </a:p>
        </p:txBody>
      </p:sp>
      <p:sp>
        <p:nvSpPr>
          <p:cNvPr id="5" name="Pill"/>
          <p:cNvSpPr/>
          <p:nvPr/>
        </p:nvSpPr>
        <p:spPr>
          <a:xfrm>
            <a:off x="4617720" y="552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&amp; Fill</a:t>
            </a:r>
            <a:endParaRPr lang="en-US" sz="1100"/>
          </a:p>
        </p:txBody>
      </p:sp>
      <p:sp>
        <p:nvSpPr>
          <p:cNvPr id="6" name="Title"/>
          <p:cNvSpPr/>
          <p:nvPr/>
        </p:nvSpPr>
        <p:spPr>
          <a:xfrm>
            <a:off x="457200" y="920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&amp; Absolute References</a:t>
            </a:r>
            <a:endParaRPr lang="en-US" sz="2300"/>
          </a:p>
        </p:txBody>
      </p:sp>
      <p:sp>
        <p:nvSpPr>
          <p:cNvPr id="7" name="Intro"/>
          <p:cNvSpPr/>
          <p:nvPr/>
        </p:nvSpPr>
        <p:spPr>
          <a:xfrm>
            <a:off x="457200" y="1500000"/>
            <a:ext cx="59436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write a cell reference decides what happens when you replicate (copy) the formula to other cells.</a:t>
            </a:r>
            <a:endParaRPr lang="en-US" sz="1150"/>
          </a:p>
        </p:txBody>
      </p:sp>
      <p:sp>
        <p:nvSpPr>
          <p:cNvPr id="10" name="Card A"/>
          <p:cNvSpPr/>
          <p:nvPr/>
        </p:nvSpPr>
        <p:spPr>
          <a:xfrm>
            <a:off x="457200" y="201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Card A Accent"/>
          <p:cNvSpPr/>
          <p:nvPr/>
        </p:nvSpPr>
        <p:spPr>
          <a:xfrm>
            <a:off x="457200" y="201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Card A Text"/>
          <p:cNvSpPr/>
          <p:nvPr/>
        </p:nvSpPr>
        <p:spPr>
          <a:xfrm>
            <a:off x="657200" y="218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Relative Reference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moves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reference like A3 shifts as you copy it down, so it becomes A4 in the next row.</a:t>
            </a:r>
          </a:p>
        </p:txBody>
      </p:sp>
      <p:sp>
        <p:nvSpPr>
          <p:cNvPr id="20" name="Card B"/>
          <p:cNvSpPr/>
          <p:nvPr/>
        </p:nvSpPr>
        <p:spPr>
          <a:xfrm>
            <a:off x="3530800" y="201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B Accent"/>
          <p:cNvSpPr/>
          <p:nvPr/>
        </p:nvSpPr>
        <p:spPr>
          <a:xfrm>
            <a:off x="3530800" y="201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B Text"/>
          <p:cNvSpPr/>
          <p:nvPr/>
        </p:nvSpPr>
        <p:spPr>
          <a:xfrm>
            <a:off x="3730800" y="218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Reference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stays fixed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signs like $A$1 lock a reference so it never changes when the formula is copied.</a:t>
            </a:r>
          </a:p>
        </p:txBody>
      </p:sp>
      <p:sp>
        <p:nvSpPr>
          <p:cNvPr id="30" name="Card C"/>
          <p:cNvSpPr/>
          <p:nvPr/>
        </p:nvSpPr>
        <p:spPr>
          <a:xfrm>
            <a:off x="457200" y="360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C Accent"/>
          <p:cNvSpPr/>
          <p:nvPr/>
        </p:nvSpPr>
        <p:spPr>
          <a:xfrm>
            <a:off x="457200" y="360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C Text"/>
          <p:cNvSpPr/>
          <p:nvPr/>
        </p:nvSpPr>
        <p:spPr>
          <a:xfrm>
            <a:off x="657200" y="377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Reference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locked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=$A$1*A3 keeps A1 fixed but lets A3 move as you fill down.</a:t>
            </a:r>
          </a:p>
        </p:txBody>
      </p:sp>
      <p:sp>
        <p:nvSpPr>
          <p:cNvPr id="40" name="Card D"/>
          <p:cNvSpPr/>
          <p:nvPr/>
        </p:nvSpPr>
        <p:spPr>
          <a:xfrm>
            <a:off x="3530800" y="360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D Accent"/>
          <p:cNvSpPr/>
          <p:nvPr/>
        </p:nvSpPr>
        <p:spPr>
          <a:xfrm>
            <a:off x="3530800" y="360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D Text"/>
          <p:cNvSpPr/>
          <p:nvPr/>
        </p:nvSpPr>
        <p:spPr>
          <a:xfrm>
            <a:off x="3730800" y="377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Fill Handle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fast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small square at a cell’s corner to copy a formula across many cells.</a:t>
            </a:r>
          </a:p>
        </p:txBody>
      </p:sp>
      <p:sp>
        <p:nvSpPr>
          <p:cNvPr id="70" name="Card E"/>
          <p:cNvSpPr/>
          <p:nvPr/>
        </p:nvSpPr>
        <p:spPr>
          <a:xfrm>
            <a:off x="457200" y="519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Card E Accent"/>
          <p:cNvSpPr/>
          <p:nvPr/>
        </p:nvSpPr>
        <p:spPr>
          <a:xfrm>
            <a:off x="457200" y="519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2" name="Card E Text"/>
          <p:cNvSpPr/>
          <p:nvPr/>
        </p:nvSpPr>
        <p:spPr>
          <a:xfrm>
            <a:off x="657200" y="536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references stop a shared value, such as a tax rate, being lost when copied.</a:t>
            </a:r>
          </a:p>
        </p:txBody>
      </p:sp>
      <p:sp>
        <p:nvSpPr>
          <p:cNvPr id="80" name="Card F"/>
          <p:cNvSpPr/>
          <p:nvPr/>
        </p:nvSpPr>
        <p:spPr>
          <a:xfrm>
            <a:off x="3530800" y="519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Card F Accent"/>
          <p:cNvSpPr/>
          <p:nvPr/>
        </p:nvSpPr>
        <p:spPr>
          <a:xfrm>
            <a:off x="3530800" y="519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2" name="Card F Text"/>
          <p:cNvSpPr/>
          <p:nvPr/>
        </p:nvSpPr>
        <p:spPr>
          <a:xfrm>
            <a:off x="3730800" y="536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$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 sign fixes whatever comes straight after it — the column, the row, or both.</a:t>
            </a:r>
          </a:p>
        </p:txBody>
      </p:sp>
      <p:sp>
        <p:nvSpPr>
          <p:cNvPr id="50" name="Task Band"/>
          <p:cNvSpPr/>
          <p:nvPr/>
        </p:nvSpPr>
        <p:spPr>
          <a:xfrm>
            <a:off x="457200" y="6800000"/>
            <a:ext cx="5943600" cy="1500000"/>
          </a:xfrm>
          <a:prstGeom prst="roundRect">
            <a:avLst>
              <a:gd name="adj" fmla="val 5000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ask Text"/>
          <p:cNvSpPr/>
          <p:nvPr/>
        </p:nvSpPr>
        <p:spPr>
          <a:xfrm>
            <a:off x="700000" y="6980000"/>
            <a:ext cx="5450000" cy="1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fill a formula down, ask which references must stay fixed and add $ signs to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FUNCTIONS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Functions: Built-in Calculations</a:t>
            </a:r>
            <a:endParaRPr lang="en-US" sz="2500"/>
          </a:p>
          <a:p>
            <a:pPr marL="0" indent="0" algn="l">
              <a:spcBef>
                <a:spcPts val="600"/>
              </a:spcBef>
              <a:buNone/>
            </a:pPr>
            <a:r>
              <a:rPr lang="en-US" sz="110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has a reserved name, such as SUM, that carries out a calculation on a range of cells for you.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063240" cy="5349240"/>
          </a:xfrm>
          <a:prstGeom prst="roundRect">
            <a:avLst>
              <a:gd name="adj" fmla="val 209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Functions to Know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58368" y="2340000"/>
            <a:ext cx="2697480" cy="39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=SUM(B4:B8) adds every value in a range (gives 80)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=AVERAGE(B4:B8) finds the mean of a range (gives 16)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=MAX(B4:B8) returns the largest value (gives 26)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=MIN(B4:B8) returns the smallest value (gives 4)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=ROUND(B2,2) rounds a value to a set number of places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=COUNTIF(B2:B7,&gt;100) counts cells that meet a condition</a:t>
            </a:r>
            <a:endParaRPr lang="en-US" sz="1200"/>
          </a:p>
        </p:txBody>
      </p:sp>
      <p:sp>
        <p:nvSpPr>
          <p:cNvPr id="41" name="Vocab Heading"/>
          <p:cNvSpPr/>
          <p:nvPr/>
        </p:nvSpPr>
        <p:spPr>
          <a:xfrm>
            <a:off x="658368" y="6120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1300"/>
          </a:p>
        </p:txBody>
      </p:sp>
      <p:sp>
        <p:nvSpPr>
          <p:cNvPr id="42" name="Vocab Words"/>
          <p:cNvSpPr/>
          <p:nvPr/>
        </p:nvSpPr>
        <p:spPr>
          <a:xfrm>
            <a:off x="658368" y="6420000"/>
            <a:ext cx="269748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calculation starting with = .</a:t>
            </a:r>
            <a:endParaRPr lang="en-US" sz="105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built-in, named operation such as SUM or AVERAGE.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743200" cy="5349240"/>
          </a:xfrm>
          <a:prstGeom prst="roundRect">
            <a:avLst>
              <a:gd name="adj" fmla="val 2333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58768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88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&amp; External Functions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3877056" y="2596896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877056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261104" y="25237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functions inside each other, e.g. =ROUND(AVERAGE(B2:B7),2)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877056" y="3383280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387705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261104" y="331012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another sheet to pull in external data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877056" y="4169664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3877056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261104" y="409651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 make functions readable, e.g. =SUM(Sold)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877056" y="4956048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877056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261104" y="4882896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recalculate automatically when data changes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858768" y="581558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formulae and functions turn raw numbers into a working model.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7" name="Image 0" descr="Objecti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065008"/>
            <a:ext cx="658368" cy="6583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640"/>
          </a:p>
        </p:txBody>
      </p:sp>
      <p:pic>
        <p:nvPicPr>
          <p:cNvPr id="29" name="Image 1" descr="Success Criter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16" y="8065008"/>
            <a:ext cx="658368" cy="6583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60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640"/>
          </a:p>
        </p:txBody>
      </p:sp>
      <p:pic>
        <p:nvPicPr>
          <p:cNvPr id="31" name="Image 2" descr="Vocabula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16" y="8065008"/>
            <a:ext cx="658368" cy="6583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9751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640"/>
          </a:p>
        </p:txBody>
      </p:sp>
      <p:pic>
        <p:nvPicPr>
          <p:cNvPr id="33" name="Image 3" descr="National Ident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9816" y="8065008"/>
            <a:ext cx="658368" cy="6583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8895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Identity</a:t>
            </a:r>
            <a:endParaRPr lang="en-US" sz="640"/>
          </a:p>
        </p:txBody>
      </p:sp>
      <p:pic>
        <p:nvPicPr>
          <p:cNvPr id="35" name="Image 4" descr="Meta-thin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3896" y="8065008"/>
            <a:ext cx="719007" cy="6583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039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Meta-thinking</a:t>
            </a:r>
            <a:endParaRPr lang="en-US" sz="640"/>
          </a:p>
        </p:txBody>
      </p:sp>
      <p:pic>
        <p:nvPicPr>
          <p:cNvPr id="37" name="Image 5" descr="Link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115" y="8065008"/>
            <a:ext cx="871369" cy="6583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718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640"/>
          </a:p>
        </p:txBody>
      </p:sp>
      <p:pic>
        <p:nvPicPr>
          <p:cNvPr id="39" name="Image 6" descr="AI Concep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372" y="8065008"/>
            <a:ext cx="659656" cy="6583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32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6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LOGICAL FUNCTIONS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Functions: IF &amp; COUNTIF</a:t>
            </a:r>
            <a:endParaRPr lang="en-US" sz="2500"/>
          </a:p>
          <a:p>
            <a:pPr marL="0" indent="0" algn="l">
              <a:spcBef>
                <a:spcPts val="600"/>
              </a:spcBef>
              <a:buNone/>
            </a:pPr>
            <a:r>
              <a:rPr lang="en-US" sz="110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function tests a condition and gives one answer when it is true and a different answer when it is false.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063240" cy="5349240"/>
          </a:xfrm>
          <a:prstGeom prst="roundRect">
            <a:avLst>
              <a:gd name="adj" fmla="val 209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&amp; Nested IF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58368" y="2400000"/>
            <a:ext cx="2697480" cy="3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=IF(C3&gt;=10,"Very experienced","Not experienced") tests one condition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=IF(C3&gt;=10,"Very experienced",IF(C3&gt;=5,"Experienced","Not experienced")) nests a second test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uses = &gt; &lt; &gt;= &lt;= to compare two values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answers must be typed inside double quotation marks</a:t>
            </a:r>
            <a:endParaRPr lang="en-US" sz="1200"/>
          </a:p>
        </p:txBody>
      </p:sp>
      <p:sp>
        <p:nvSpPr>
          <p:cNvPr id="41" name="Vocab Heading"/>
          <p:cNvSpPr/>
          <p:nvPr/>
        </p:nvSpPr>
        <p:spPr>
          <a:xfrm>
            <a:off x="658368" y="6120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1300"/>
          </a:p>
        </p:txBody>
      </p:sp>
      <p:sp>
        <p:nvSpPr>
          <p:cNvPr id="42" name="Vocab Words"/>
          <p:cNvSpPr/>
          <p:nvPr/>
        </p:nvSpPr>
        <p:spPr>
          <a:xfrm>
            <a:off x="658368" y="6420000"/>
            <a:ext cx="269748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such as C3&gt;=10 that is either true or false.</a:t>
            </a:r>
            <a:endParaRPr lang="en-US" sz="105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IF: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 placed inside another to test more than two outcomes.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743200" cy="5349240"/>
          </a:xfrm>
          <a:prstGeom prst="roundRect">
            <a:avLst>
              <a:gd name="adj" fmla="val 2333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58768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88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COUNTIF: Count with a Condition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3877056" y="2596896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877056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261104" y="25237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=COUNTIF($B$3:$B$21,"Director") counts every Director in the range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877056" y="3383280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387705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261104" y="331012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=COUNTIF($C$3:$C$21,"&lt;5") counts values under 5 (gives 7)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877056" y="4169664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3877056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261104" y="409651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=COUNTIF($C$3:$C$21,"&gt;=10") counts values of 10 or more (gives 5)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877056" y="4956048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877056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261104" y="4882896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range with $ signs so it stays fixed when copied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858768" y="581558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and COUNTIF let a model make decisions and summarise data automatically.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7" name="Image 0" descr="Objecti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8065008"/>
            <a:ext cx="658368" cy="6583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640"/>
          </a:p>
        </p:txBody>
      </p:sp>
      <p:pic>
        <p:nvPicPr>
          <p:cNvPr id="29" name="Image 1" descr="Success Criter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8065008"/>
            <a:ext cx="658368" cy="6583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60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640"/>
          </a:p>
        </p:txBody>
      </p:sp>
      <p:pic>
        <p:nvPicPr>
          <p:cNvPr id="31" name="Image 2" descr="Vocabul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6" y="8065008"/>
            <a:ext cx="658368" cy="6583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9751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640"/>
          </a:p>
        </p:txBody>
      </p:sp>
      <p:pic>
        <p:nvPicPr>
          <p:cNvPr id="33" name="Image 3" descr="National Ident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816" y="8065008"/>
            <a:ext cx="658368" cy="6583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8895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Identity</a:t>
            </a:r>
            <a:endParaRPr lang="en-US" sz="640"/>
          </a:p>
        </p:txBody>
      </p:sp>
      <p:pic>
        <p:nvPicPr>
          <p:cNvPr id="35" name="Image 4" descr="Meta-think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896" y="8065008"/>
            <a:ext cx="719007" cy="6583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039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Meta-thinking</a:t>
            </a:r>
            <a:endParaRPr lang="en-US" sz="640"/>
          </a:p>
        </p:txBody>
      </p:sp>
      <p:pic>
        <p:nvPicPr>
          <p:cNvPr id="37" name="Image 5" descr="Lin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115" y="8065008"/>
            <a:ext cx="871369" cy="6583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718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640"/>
          </a:p>
        </p:txBody>
      </p:sp>
      <p:pic>
        <p:nvPicPr>
          <p:cNvPr id="39" name="Image 6" descr="AI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372" y="8065008"/>
            <a:ext cx="659656" cy="6583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32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6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LOOKUP FUNCTIONS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Lookups: VLOOKUP &amp; XLOOKUP</a:t>
            </a:r>
            <a:endParaRPr lang="en-US" sz="2500"/>
          </a:p>
          <a:p>
            <a:pPr marL="0" indent="0" algn="l">
              <a:spcBef>
                <a:spcPts val="600"/>
              </a:spcBef>
              <a:buNone/>
            </a:pPr>
            <a:r>
              <a:rPr lang="en-US" sz="110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function searches a table for a value and returns matching data from another row or column.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063240" cy="5349240"/>
          </a:xfrm>
          <a:prstGeom prst="roundRect">
            <a:avLst>
              <a:gd name="adj" fmla="val 209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Lookups to Know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58368" y="2400000"/>
            <a:ext cx="2697480" cy="3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=HLOOKUP(B6,$B$2:$H$3,2) reads across a horizontal table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=VLOOKUP(B3,client.csv!$A$2:$B$8,2,FALSE) reads down a vertical table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=XLOOKUP(B3,client1.csv!$B$2:$B$8,client1.csv!$A$2:$A$8,"Not found") is the newer, flexible lookup</a:t>
            </a:r>
            <a:endParaRPr lang="en-US" sz="1200"/>
          </a:p>
          <a:p>
            <a:pPr marL="342900" indent="-3429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forces an exact match; a lookup can even read from another file</a:t>
            </a:r>
            <a:endParaRPr lang="en-US" sz="1200"/>
          </a:p>
        </p:txBody>
      </p:sp>
      <p:sp>
        <p:nvSpPr>
          <p:cNvPr id="41" name="Vocab Heading"/>
          <p:cNvSpPr/>
          <p:nvPr/>
        </p:nvSpPr>
        <p:spPr>
          <a:xfrm>
            <a:off x="658368" y="6120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1300"/>
          </a:p>
        </p:txBody>
      </p:sp>
      <p:sp>
        <p:nvSpPr>
          <p:cNvPr id="42" name="Vocab Words"/>
          <p:cNvSpPr/>
          <p:nvPr/>
        </p:nvSpPr>
        <p:spPr>
          <a:xfrm>
            <a:off x="658368" y="6420000"/>
            <a:ext cx="2697480" cy="6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value: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the function searches for in the table.</a:t>
            </a:r>
            <a:endParaRPr lang="en-US" sz="1050"/>
          </a:p>
          <a:p>
            <a:pPr marL="0" indent="0">
              <a:lnSpc>
                <a:spcPct val="108000"/>
              </a:lnSpc>
              <a:buNone/>
            </a:pPr>
            <a:r>
              <a:rPr lang="en-US" sz="10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(or 0) returns only a perfect match, not the nearest.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743200" cy="5349240"/>
          </a:xfrm>
          <a:prstGeom prst="roundRect">
            <a:avLst>
              <a:gd name="adj" fmla="val 2333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858768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B88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Lookup Works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3877056" y="2596896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877056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261104" y="25237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lookup value is what you search for, e.g. a client ID in B3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877056" y="3383280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387705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261104" y="3310128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array is the range that holds the data, locked with $ signs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877056" y="4169664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3877056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261104" y="409651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or row number says which value to return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3877056" y="4956048"/>
            <a:ext cx="274320" cy="274320"/>
          </a:xfrm>
          <a:prstGeom prst="ellipse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877056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261104" y="4882896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can show a "Not found" message when there is no match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858768" y="5815584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pull the right data from large tables without searching by hand.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7" name="Image 0" descr="Objectiv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8065008"/>
            <a:ext cx="658368" cy="6583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640"/>
          </a:p>
        </p:txBody>
      </p:sp>
      <p:pic>
        <p:nvPicPr>
          <p:cNvPr id="29" name="Image 1" descr="Success Criter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8065008"/>
            <a:ext cx="658368" cy="6583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60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640"/>
          </a:p>
        </p:txBody>
      </p:sp>
      <p:pic>
        <p:nvPicPr>
          <p:cNvPr id="31" name="Image 2" descr="Vocabul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6" y="8065008"/>
            <a:ext cx="658368" cy="65836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9751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640"/>
          </a:p>
        </p:txBody>
      </p:sp>
      <p:pic>
        <p:nvPicPr>
          <p:cNvPr id="33" name="Image 3" descr="National Identi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816" y="8065008"/>
            <a:ext cx="658368" cy="6583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8895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Identity</a:t>
            </a:r>
            <a:endParaRPr lang="en-US" sz="640"/>
          </a:p>
        </p:txBody>
      </p:sp>
      <p:pic>
        <p:nvPicPr>
          <p:cNvPr id="35" name="Image 4" descr="Meta-think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896" y="8065008"/>
            <a:ext cx="719007" cy="6583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039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Meta-thinking</a:t>
            </a:r>
            <a:endParaRPr lang="en-US" sz="640"/>
          </a:p>
        </p:txBody>
      </p:sp>
      <p:pic>
        <p:nvPicPr>
          <p:cNvPr id="37" name="Image 5" descr="Lin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115" y="8065008"/>
            <a:ext cx="871369" cy="6583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7183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640"/>
          </a:p>
        </p:txBody>
      </p:sp>
      <p:pic>
        <p:nvPicPr>
          <p:cNvPr id="39" name="Image 6" descr="AI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372" y="8065008"/>
            <a:ext cx="659656" cy="65836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632704" y="87508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6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Lookup: VLOO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Eyebrow"/>
          <p:cNvSpPr/>
          <p:nvPr/>
        </p:nvSpPr>
        <p:spPr>
          <a:xfrm>
            <a:off x="457200" y="420624"/>
            <a:ext cx="4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WORKED LOOKUP</a:t>
            </a:r>
          </a:p>
        </p:txBody>
      </p:sp>
      <p:sp>
        <p:nvSpPr>
          <p:cNvPr id="4" name="Pill BG"/>
          <p:cNvSpPr/>
          <p:nvPr/>
        </p:nvSpPr>
        <p:spPr>
          <a:xfrm>
            <a:off x="4900000" y="384048"/>
            <a:ext cx="150080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79255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Lookup: VLOOKUP in Action</a:t>
            </a:r>
          </a:p>
        </p:txBody>
      </p:sp>
      <p:sp>
        <p:nvSpPr>
          <p:cNvPr id="6" name="Source Band BG"/>
          <p:cNvSpPr/>
          <p:nvPr/>
        </p:nvSpPr>
        <p:spPr>
          <a:xfrm>
            <a:off x="457200" y="1460000"/>
            <a:ext cx="5943600" cy="164000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able Label"/>
          <p:cNvSpPr/>
          <p:nvPr/>
        </p:nvSpPr>
        <p:spPr>
          <a:xfrm>
            <a:off x="670000" y="1560000"/>
            <a:ext cx="23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0F7BA8"/>
                </a:solidFill>
                <a:latin typeface="Calibri" pitchFamily="34" charset="0"/>
                <a:cs typeface="Calibri" pitchFamily="34" charset="0"/>
              </a:rPr>
              <a:t>PRICE LIST (LOOKUP TABLE)</a:t>
            </a:r>
          </a:p>
        </p:txBody>
      </p:sp>
      <p:graphicFrame>
        <p:nvGraphicFramePr>
          <p:cNvPr id="7" name="Lookup Table"/>
          <p:cNvGraphicFramePr>
            <a:graphicFrameLocks noGrp="1"/>
          </p:cNvGraphicFramePr>
          <p:nvPr/>
        </p:nvGraphicFramePr>
        <p:xfrm>
          <a:off x="670000" y="1820000"/>
          <a:ext cx="2380000" cy="1500000"/>
        </p:xfrm>
        <a:graphic>
          <a:graphicData uri="http://schemas.openxmlformats.org/drawingml/2006/table">
            <a:tbl>
              <a:tblPr firstRow="1"/>
              <a:tblGrid>
                <a:gridCol w="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Code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Item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Price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C01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Pen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£1.20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C02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Ruler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£0.80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C03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Folder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£2.50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C04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Binder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£4.50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C05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Stapler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£6.00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S Label"/>
          <p:cNvSpPr/>
          <p:nvPr/>
        </p:nvSpPr>
        <p:spPr>
          <a:xfrm>
            <a:off x="3230000" y="1560000"/>
            <a:ext cx="299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0F7BA8"/>
                </a:solidFill>
                <a:latin typeface="Calibri" pitchFamily="34" charset="0"/>
                <a:cs typeface="Calibri" pitchFamily="34" charset="0"/>
              </a:rPr>
              <a:t>SPREADSHEET VIEW</a:t>
            </a:r>
          </a:p>
        </p:txBody>
      </p:sp>
      <p:sp>
        <p:nvSpPr>
          <p:cNvPr id="11" name="Formula Bar"/>
          <p:cNvSpPr/>
          <p:nvPr/>
        </p:nvSpPr>
        <p:spPr>
          <a:xfrm>
            <a:off x="3230000" y="1830000"/>
            <a:ext cx="2990000" cy="36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DEEB"/>
            </a:solidFill>
          </a:ln>
        </p:spPr>
        <p:txBody>
          <a:bodyPr wrap="square" lIns="72000" tIns="0" rIns="36000" bIns="0" rtlCol="0" anchor="ctr"/>
          <a:lstStyle/>
          <a:p>
            <a:pPr marL="0" indent="0">
              <a:buNone/>
            </a:pPr>
            <a:r>
              <a:rPr lang="en-US" sz="850" b="1" i="1">
                <a:solidFill>
                  <a:srgbClr val="8A97A0"/>
                </a:solidFill>
                <a:latin typeface="Calibri" pitchFamily="34" charset="0"/>
                <a:cs typeface="Calibri" pitchFamily="34" charset="0"/>
              </a:rPr>
              <a:t>ƒx  </a:t>
            </a:r>
            <a:r>
              <a:rPr lang="en-US" sz="850" b="1">
                <a:solidFill>
                  <a:srgbClr val="10324B"/>
                </a:solidFill>
                <a:latin typeface="Consolas" pitchFamily="49" charset="0"/>
                <a:cs typeface="Consolas" pitchFamily="49" charset="0"/>
              </a:rPr>
              <a:t>=VLOOKUP(B3,$A$2:$C$8,3,FALSE)</a:t>
            </a:r>
          </a:p>
        </p:txBody>
      </p:sp>
      <p:sp>
        <p:nvSpPr>
          <p:cNvPr id="12" name="Input Chip"/>
          <p:cNvSpPr/>
          <p:nvPr/>
        </p:nvSpPr>
        <p:spPr>
          <a:xfrm>
            <a:off x="3230000" y="2260000"/>
            <a:ext cx="299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Look up cell B3 = </a:t>
            </a:r>
            <a:r>
              <a:rPr lang="en-US" sz="900" b="1">
                <a:solidFill>
                  <a:srgbClr val="10324B"/>
                </a:solidFill>
                <a:latin typeface="Calibri" pitchFamily="34" charset="0"/>
                <a:cs typeface="Calibri" pitchFamily="34" charset="0"/>
              </a:rPr>
              <a:t>C04</a:t>
            </a:r>
          </a:p>
        </p:txBody>
      </p:sp>
      <p:sp>
        <p:nvSpPr>
          <p:cNvPr id="13" name="Result Chip"/>
          <p:cNvSpPr/>
          <p:nvPr/>
        </p:nvSpPr>
        <p:spPr>
          <a:xfrm>
            <a:off x="3230000" y="2580000"/>
            <a:ext cx="2990000" cy="360000"/>
          </a:xfrm>
          <a:prstGeom prst="roundRect">
            <a:avLst>
              <a:gd name="adj" fmla="val 12000"/>
            </a:avLst>
          </a:prstGeom>
          <a:solidFill>
            <a:srgbClr val="10324B"/>
          </a:solidFill>
          <a:ln/>
        </p:spPr>
        <p:txBody>
          <a:bodyPr wrap="square" lIns="72000" tIns="0" rIns="3600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cs typeface="Calibri" pitchFamily="34" charset="0"/>
              </a:rPr>
              <a:t>Returns £4.50  —  Binder</a:t>
            </a:r>
          </a:p>
        </p:txBody>
      </p:sp>
      <p:sp>
        <p:nvSpPr>
          <p:cNvPr id="20" name="Card 20 BG"/>
          <p:cNvSpPr/>
          <p:nvPr/>
        </p:nvSpPr>
        <p:spPr>
          <a:xfrm>
            <a:off x="457200" y="325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20 Accent"/>
          <p:cNvSpPr/>
          <p:nvPr/>
        </p:nvSpPr>
        <p:spPr>
          <a:xfrm>
            <a:off x="457200" y="3250000"/>
            <a:ext cx="100584" cy="1245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20 Text"/>
          <p:cNvSpPr/>
          <p:nvPr/>
        </p:nvSpPr>
        <p:spPr>
          <a:xfrm>
            <a:off x="700000" y="339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LAY OUT THE TABLE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lookup list in its own block — codes in the first column, items and prices beside them.</a:t>
            </a:r>
          </a:p>
        </p:txBody>
      </p:sp>
      <p:sp>
        <p:nvSpPr>
          <p:cNvPr id="30" name="Card 30 BG"/>
          <p:cNvSpPr/>
          <p:nvPr/>
        </p:nvSpPr>
        <p:spPr>
          <a:xfrm>
            <a:off x="457200" y="461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30 Accent"/>
          <p:cNvSpPr/>
          <p:nvPr/>
        </p:nvSpPr>
        <p:spPr>
          <a:xfrm>
            <a:off x="457200" y="4615000"/>
            <a:ext cx="100584" cy="1245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30 Text"/>
          <p:cNvSpPr/>
          <p:nvPr/>
        </p:nvSpPr>
        <p:spPr>
          <a:xfrm>
            <a:off x="700000" y="475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WRITE THE LOOKUP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answer cell type =VLOOKUP(B3,$A$2:$C$8,3,FALSE) to fetch the price for the chosen code.</a:t>
            </a:r>
          </a:p>
        </p:txBody>
      </p:sp>
      <p:sp>
        <p:nvSpPr>
          <p:cNvPr id="40" name="Card 40 BG"/>
          <p:cNvSpPr/>
          <p:nvPr/>
        </p:nvSpPr>
        <p:spPr>
          <a:xfrm>
            <a:off x="457200" y="598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40 Accent"/>
          <p:cNvSpPr/>
          <p:nvPr/>
        </p:nvSpPr>
        <p:spPr>
          <a:xfrm>
            <a:off x="457200" y="5980000"/>
            <a:ext cx="100584" cy="1245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40 Text"/>
          <p:cNvSpPr/>
          <p:nvPr/>
        </p:nvSpPr>
        <p:spPr>
          <a:xfrm>
            <a:off x="700000" y="612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LOCK THE RANGE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$ signs around the table range so it stays fixed when you fill the formula down the column.</a:t>
            </a:r>
          </a:p>
        </p:txBody>
      </p:sp>
      <p:sp>
        <p:nvSpPr>
          <p:cNvPr id="50" name="Card 50 BG"/>
          <p:cNvSpPr/>
          <p:nvPr/>
        </p:nvSpPr>
        <p:spPr>
          <a:xfrm>
            <a:off x="457200" y="734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Card 50 Accent"/>
          <p:cNvSpPr/>
          <p:nvPr/>
        </p:nvSpPr>
        <p:spPr>
          <a:xfrm>
            <a:off x="457200" y="7345000"/>
            <a:ext cx="100584" cy="1245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2" name="Card 50 Text"/>
          <p:cNvSpPr/>
          <p:nvPr/>
        </p:nvSpPr>
        <p:spPr>
          <a:xfrm>
            <a:off x="700000" y="748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CHECK THE RESULT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forces an exact match; a missing code returns </a:t>
            </a:r>
            <a:r>
              <a:rPr lang="en-US" sz="1000" b="1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#N/A</a:t>
            </a: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check every answer looks right.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to Analyse a Sour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Eyebrow"/>
          <p:cNvSpPr/>
          <p:nvPr/>
        </p:nvSpPr>
        <p:spPr>
          <a:xfrm>
            <a:off x="457200" y="420624"/>
            <a:ext cx="4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STEP BY STEP</a:t>
            </a:r>
            <a:endParaRPr lang="en-US" sz="1100"/>
          </a:p>
        </p:txBody>
      </p:sp>
      <p:sp>
        <p:nvSpPr>
          <p:cNvPr id="4" name="Pill BG"/>
          <p:cNvSpPr/>
          <p:nvPr/>
        </p:nvSpPr>
        <p:spPr>
          <a:xfrm>
            <a:off x="4900000" y="384048"/>
            <a:ext cx="150080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Toolkit</a:t>
            </a:r>
            <a:endParaRPr lang="en-US" sz="1100"/>
          </a:p>
        </p:txBody>
      </p:sp>
      <p:sp>
        <p:nvSpPr>
          <p:cNvPr id="5" name="Title"/>
          <p:cNvSpPr/>
          <p:nvPr/>
        </p:nvSpPr>
        <p:spPr>
          <a:xfrm>
            <a:off x="457200" y="79255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Data Model, Step by Step</a:t>
            </a:r>
            <a:endParaRPr lang="en-US" sz="2500"/>
          </a:p>
        </p:txBody>
      </p:sp>
      <p:sp>
        <p:nvSpPr>
          <p:cNvPr id="6" name="Intro"/>
          <p:cNvSpPr/>
          <p:nvPr/>
        </p:nvSpPr>
        <p:spPr>
          <a:xfrm>
            <a:off x="457200" y="1420000"/>
            <a:ext cx="5943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four steps to build a times-table model that works for any number you enter.</a:t>
            </a:r>
            <a:endParaRPr lang="en-US" sz="1150"/>
          </a:p>
        </p:txBody>
      </p:sp>
      <p:sp>
        <p:nvSpPr>
          <p:cNvPr id="20" name="Card 1 BG"/>
          <p:cNvSpPr/>
          <p:nvPr/>
        </p:nvSpPr>
        <p:spPr>
          <a:xfrm>
            <a:off x="457200" y="1980000"/>
            <a:ext cx="5943600" cy="9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1 Accent"/>
          <p:cNvSpPr/>
          <p:nvPr/>
        </p:nvSpPr>
        <p:spPr>
          <a:xfrm>
            <a:off x="457200" y="1980000"/>
            <a:ext cx="100584" cy="90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1 Text"/>
          <p:cNvSpPr/>
          <p:nvPr/>
        </p:nvSpPr>
        <p:spPr>
          <a:xfrm>
            <a:off x="700000" y="2130000"/>
            <a:ext cx="545000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ENTER A VALUE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number, such as 2, in cell A1 — this drives every calculation.</a:t>
            </a:r>
          </a:p>
        </p:txBody>
      </p:sp>
      <p:sp>
        <p:nvSpPr>
          <p:cNvPr id="30" name="Card 2 BG"/>
          <p:cNvSpPr/>
          <p:nvPr/>
        </p:nvSpPr>
        <p:spPr>
          <a:xfrm>
            <a:off x="457200" y="2940000"/>
            <a:ext cx="5943600" cy="9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2 Accent"/>
          <p:cNvSpPr/>
          <p:nvPr/>
        </p:nvSpPr>
        <p:spPr>
          <a:xfrm>
            <a:off x="457200" y="2940000"/>
            <a:ext cx="100584" cy="900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2 Text"/>
          <p:cNvSpPr/>
          <p:nvPr/>
        </p:nvSpPr>
        <p:spPr>
          <a:xfrm>
            <a:off x="700000" y="3090000"/>
            <a:ext cx="545000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LIST THE ROWS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and 2 in A3 and A4, then fill down to A12 for the numbers 1 to 10.</a:t>
            </a:r>
          </a:p>
        </p:txBody>
      </p:sp>
      <p:sp>
        <p:nvSpPr>
          <p:cNvPr id="40" name="Card 3 BG"/>
          <p:cNvSpPr/>
          <p:nvPr/>
        </p:nvSpPr>
        <p:spPr>
          <a:xfrm>
            <a:off x="457200" y="3900000"/>
            <a:ext cx="5943600" cy="9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3 Accent"/>
          <p:cNvSpPr/>
          <p:nvPr/>
        </p:nvSpPr>
        <p:spPr>
          <a:xfrm>
            <a:off x="457200" y="3900000"/>
            <a:ext cx="100584" cy="900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3 Text"/>
          <p:cNvSpPr/>
          <p:nvPr/>
        </p:nvSpPr>
        <p:spPr>
          <a:xfrm>
            <a:off x="700000" y="4050000"/>
            <a:ext cx="545000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WRITE THE FORMULA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B3 enter =A3*$A$1, mixing a relative and an absolute reference.</a:t>
            </a:r>
          </a:p>
        </p:txBody>
      </p:sp>
      <p:sp>
        <p:nvSpPr>
          <p:cNvPr id="50" name="Card 4 BG"/>
          <p:cNvSpPr/>
          <p:nvPr/>
        </p:nvSpPr>
        <p:spPr>
          <a:xfrm>
            <a:off x="457200" y="4860000"/>
            <a:ext cx="5943600" cy="9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Card 4 Accent"/>
          <p:cNvSpPr/>
          <p:nvPr/>
        </p:nvSpPr>
        <p:spPr>
          <a:xfrm>
            <a:off x="457200" y="4860000"/>
            <a:ext cx="100584" cy="900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2" name="Card 4 Text"/>
          <p:cNvSpPr/>
          <p:nvPr/>
        </p:nvSpPr>
        <p:spPr>
          <a:xfrm>
            <a:off x="700000" y="5010000"/>
            <a:ext cx="5450000" cy="8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FILL IT DOWN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formula to B12; $A$1 stays fixed while A3 moves down each row.</a:t>
            </a:r>
          </a:p>
        </p:txBody>
      </p:sp>
      <p:sp>
        <p:nvSpPr>
          <p:cNvPr id="70" name="Avoid Mistakes Callout"/>
          <p:cNvSpPr/>
          <p:nvPr/>
        </p:nvSpPr>
        <p:spPr>
          <a:xfrm>
            <a:off x="457200" y="6120000"/>
            <a:ext cx="5943600" cy="13500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E4B87C"/>
            </a:solidFill>
            <a:prstDash val="solid"/>
          </a:ln>
        </p:spPr>
        <p:txBody>
          <a:bodyPr wrap="square" lIns="182880" tIns="63500" rIns="182880" bIns="45720" rtlCol="0" anchor="t"/>
          <a:lstStyle/>
          <a:p>
            <a:pPr marL="0" indent="0" algn="l">
              <a:buNone/>
            </a:pPr>
            <a:r>
              <a:rPr lang="en-US" sz="1100" b="1" spc="150">
                <a:solidFill>
                  <a:srgbClr val="B8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MISTAKES</a:t>
            </a:r>
          </a:p>
        </p:txBody>
      </p:sp>
      <p:sp>
        <p:nvSpPr>
          <p:cNvPr id="71" name="Avoid Col Left"/>
          <p:cNvSpPr/>
          <p:nvPr/>
        </p:nvSpPr>
        <p:spPr>
          <a:xfrm>
            <a:off x="640080" y="6480000"/>
            <a:ext cx="266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C0392B"/>
                </a:solidFill>
                <a:latin typeface="Calibri" pitchFamily="34" charset="0"/>
                <a:cs typeface="Calibri" pitchFamily="34" charset="0"/>
              </a:rPr>
              <a:t>#DIV/0!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Divisor is zero or blank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b="1">
                <a:solidFill>
                  <a:srgbClr val="B8862B"/>
                </a:solidFill>
                <a:latin typeface="Calibri" pitchFamily="34" charset="0"/>
                <a:cs typeface="Calibri" pitchFamily="34" charset="0"/>
              </a:rPr>
              <a:t>#N/A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Lookup value not found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b="1">
                <a:solidFill>
                  <a:srgbClr val="8E44AD"/>
                </a:solidFill>
                <a:latin typeface="Calibri" pitchFamily="34" charset="0"/>
                <a:cs typeface="Calibri" pitchFamily="34" charset="0"/>
              </a:rPr>
              <a:t>#REF!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Reference was deleted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b="1">
                <a:solidFill>
                  <a:srgbClr val="1F8A70"/>
                </a:solidFill>
                <a:latin typeface="Calibri" pitchFamily="34" charset="0"/>
                <a:cs typeface="Calibri" pitchFamily="34" charset="0"/>
              </a:rPr>
              <a:t>#VALUE!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Wrong data type used</a:t>
            </a:r>
          </a:p>
        </p:txBody>
      </p:sp>
      <p:sp>
        <p:nvSpPr>
          <p:cNvPr id="72" name="Avoid Col Right"/>
          <p:cNvSpPr/>
          <p:nvPr/>
        </p:nvSpPr>
        <p:spPr>
          <a:xfrm>
            <a:off x="3400000" y="6480000"/>
            <a:ext cx="26600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2471A3"/>
                </a:solidFill>
                <a:latin typeface="Calibri" pitchFamily="34" charset="0"/>
                <a:cs typeface="Calibri" pitchFamily="34" charset="0"/>
              </a:rPr>
              <a:t>#NAME?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Fix the name spelling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b="1">
                <a:solidFill>
                  <a:srgbClr val="D35400"/>
                </a:solidFill>
                <a:latin typeface="Calibri" pitchFamily="34" charset="0"/>
                <a:cs typeface="Calibri" pitchFamily="34" charset="0"/>
              </a:rPr>
              <a:t>#NUM!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Use a valid number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b="1">
                <a:solidFill>
                  <a:srgbClr val="566573"/>
                </a:solidFill>
                <a:latin typeface="Calibri" pitchFamily="34" charset="0"/>
                <a:cs typeface="Calibri" pitchFamily="34" charset="0"/>
              </a:rPr>
              <a:t>#NULL!</a:t>
            </a:r>
            <a:r>
              <a:rPr lang="en-US" sz="900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 — Add a comma between ranges</a:t>
            </a:r>
          </a:p>
        </p:txBody>
      </p:sp>
      <p:sp>
        <p:nvSpPr>
          <p:cNvPr id="73" name="Avoid Caption"/>
          <p:cNvSpPr/>
          <p:nvPr/>
        </p:nvSpPr>
        <p:spPr>
          <a:xfrm>
            <a:off x="640080" y="7180000"/>
            <a:ext cx="53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>
                <a:solidFill>
                  <a:srgbClr val="5A6B76"/>
                </a:solidFill>
                <a:latin typeface="Calibri" pitchFamily="34" charset="0"/>
                <a:cs typeface="Calibri" pitchFamily="34" charset="0"/>
              </a:rPr>
              <a:t>Colours match the Formula Quick Reference cheat sheet.</a:t>
            </a:r>
          </a:p>
        </p:txBody>
      </p:sp>
      <p:sp>
        <p:nvSpPr>
          <p:cNvPr id="60" name="Tip Band"/>
          <p:cNvSpPr/>
          <p:nvPr/>
        </p:nvSpPr>
        <p:spPr>
          <a:xfrm>
            <a:off x="457200" y="7830000"/>
            <a:ext cx="5943600" cy="700000"/>
          </a:xfrm>
          <a:prstGeom prst="roundRect">
            <a:avLst>
              <a:gd name="adj" fmla="val 10000"/>
            </a:avLst>
          </a:prstGeom>
          <a:solidFill>
            <a:srgbClr val="EAF6FC"/>
          </a:solidFill>
          <a:ln/>
        </p:spPr>
        <p:txBody>
          <a:bodyPr wrap="square" lIns="182880" tIns="45720" rIns="182880" bIns="4572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number in A1 and the whole times table recalculates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Source 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Eyebrow"/>
          <p:cNvSpPr/>
          <p:nvPr/>
        </p:nvSpPr>
        <p:spPr>
          <a:xfrm>
            <a:off x="457200" y="420624"/>
            <a:ext cx="4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WORKED EXAMPLE</a:t>
            </a:r>
            <a:endParaRPr lang="en-US" sz="1100"/>
          </a:p>
        </p:txBody>
      </p:sp>
      <p:sp>
        <p:nvSpPr>
          <p:cNvPr id="4" name="Pill BG"/>
          <p:cNvSpPr/>
          <p:nvPr/>
        </p:nvSpPr>
        <p:spPr>
          <a:xfrm>
            <a:off x="4900000" y="384048"/>
            <a:ext cx="150080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/>
          </a:p>
        </p:txBody>
      </p:sp>
      <p:sp>
        <p:nvSpPr>
          <p:cNvPr id="5" name="Title"/>
          <p:cNvSpPr/>
          <p:nvPr/>
        </p:nvSpPr>
        <p:spPr>
          <a:xfrm>
            <a:off x="457200" y="79255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Sales Bonus Model</a:t>
            </a:r>
            <a:endParaRPr lang="en-US" sz="2500"/>
          </a:p>
        </p:txBody>
      </p:sp>
      <p:sp>
        <p:nvSpPr>
          <p:cNvPr id="6" name="Source Band BG"/>
          <p:cNvSpPr/>
          <p:nvPr/>
        </p:nvSpPr>
        <p:spPr>
          <a:xfrm>
            <a:off x="457200" y="1460000"/>
            <a:ext cx="5943600" cy="164000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graphicFrame>
        <p:nvGraphicFramePr>
          <p:cNvPr id="7" name="Sour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948832"/>
              </p:ext>
            </p:extLst>
          </p:nvPr>
        </p:nvGraphicFramePr>
        <p:xfrm>
          <a:off x="670000" y="1600000"/>
          <a:ext cx="2380000" cy="1400000"/>
        </p:xfrm>
        <a:graphic>
          <a:graphicData uri="http://schemas.openxmlformats.org/drawingml/2006/table">
            <a:tbl>
              <a:tblPr firstRow="1"/>
              <a:tblGrid>
                <a:gridCol w="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Staff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Sold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Amir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14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Suki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Lena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22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Tom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000"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Mia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11</a:t>
                      </a:r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/>
                    </a:p>
                  </a:txBody>
                  <a:tcPr marL="18000" marR="18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ource Text"/>
          <p:cNvSpPr/>
          <p:nvPr/>
        </p:nvSpPr>
        <p:spPr>
          <a:xfrm>
            <a:off x="3110000" y="1590000"/>
            <a:ext cx="31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9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B1 is named Unit (the bonus paid per sale). The list of sales figures is named Sold, so every formula reads clearly.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700" i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ranges make spreadsheet formulae clear and easy to copy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950" b="1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build a bonus model that updates when the rate changes?</a:t>
            </a:r>
          </a:p>
        </p:txBody>
      </p:sp>
      <p:sp>
        <p:nvSpPr>
          <p:cNvPr id="20" name="Card 1 BG"/>
          <p:cNvSpPr/>
          <p:nvPr/>
        </p:nvSpPr>
        <p:spPr>
          <a:xfrm>
            <a:off x="457200" y="325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1 Accent"/>
          <p:cNvSpPr/>
          <p:nvPr/>
        </p:nvSpPr>
        <p:spPr>
          <a:xfrm>
            <a:off x="457200" y="3250000"/>
            <a:ext cx="100584" cy="1245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1 Text"/>
          <p:cNvSpPr/>
          <p:nvPr/>
        </p:nvSpPr>
        <p:spPr>
          <a:xfrm>
            <a:off x="700000" y="339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NAME THE CELLS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B1 Unit and the sales figures Sold so formulae are easy to read.</a:t>
            </a:r>
          </a:p>
        </p:txBody>
      </p:sp>
      <p:sp>
        <p:nvSpPr>
          <p:cNvPr id="30" name="Card 2 BG"/>
          <p:cNvSpPr/>
          <p:nvPr/>
        </p:nvSpPr>
        <p:spPr>
          <a:xfrm>
            <a:off x="457200" y="461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2 Accent"/>
          <p:cNvSpPr/>
          <p:nvPr/>
        </p:nvSpPr>
        <p:spPr>
          <a:xfrm>
            <a:off x="457200" y="4615000"/>
            <a:ext cx="100584" cy="1245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2 Text"/>
          <p:cNvSpPr/>
          <p:nvPr/>
        </p:nvSpPr>
        <p:spPr>
          <a:xfrm>
            <a:off x="700000" y="475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WRITE THE FORMULA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= Sold * Unit, using the named cell so the rate never changes when copied.</a:t>
            </a:r>
          </a:p>
        </p:txBody>
      </p:sp>
      <p:sp>
        <p:nvSpPr>
          <p:cNvPr id="40" name="Card 3 BG"/>
          <p:cNvSpPr/>
          <p:nvPr/>
        </p:nvSpPr>
        <p:spPr>
          <a:xfrm>
            <a:off x="457200" y="598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3 Accent"/>
          <p:cNvSpPr/>
          <p:nvPr/>
        </p:nvSpPr>
        <p:spPr>
          <a:xfrm>
            <a:off x="457200" y="5980000"/>
            <a:ext cx="100584" cy="1245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3 Text"/>
          <p:cNvSpPr/>
          <p:nvPr/>
        </p:nvSpPr>
        <p:spPr>
          <a:xfrm>
            <a:off x="700000" y="612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USE A FUNCTION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=SUM(Sold) to find the total items sold by all staff.</a:t>
            </a:r>
          </a:p>
        </p:txBody>
      </p:sp>
      <p:sp>
        <p:nvSpPr>
          <p:cNvPr id="50" name="Card 4 BG"/>
          <p:cNvSpPr/>
          <p:nvPr/>
        </p:nvSpPr>
        <p:spPr>
          <a:xfrm>
            <a:off x="457200" y="734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Card 4 Accent"/>
          <p:cNvSpPr/>
          <p:nvPr/>
        </p:nvSpPr>
        <p:spPr>
          <a:xfrm>
            <a:off x="457200" y="7345000"/>
            <a:ext cx="100584" cy="1245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2" name="Card 4 Text"/>
          <p:cNvSpPr/>
          <p:nvPr/>
        </p:nvSpPr>
        <p:spPr>
          <a:xfrm>
            <a:off x="700000" y="748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TEST WHAT IF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Unit and every bonus updates — the model answers ‘what if the rate rises?’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6858000" cy="320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PRESENTING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&amp; Charts</a:t>
            </a:r>
            <a:endParaRPr lang="en-US" sz="3800" dirty="0"/>
          </a:p>
          <a:p>
            <a:pPr marL="0" indent="0" algn="ctr">
              <a:lnSpc>
                <a:spcPct val="95000"/>
              </a:lnSpc>
              <a:buNone/>
            </a:pP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CFE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spreadsheet data into clear visuals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D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choosing the right chart type to adding full labels, learn to present data so it tells a clear story</a:t>
            </a:r>
            <a:r>
              <a:rPr lang="en-US" sz="1250" i="1" dirty="0">
                <a:solidFill>
                  <a:srgbClr val="D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000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mage 0" descr="Data tab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54" y="4956514"/>
            <a:ext cx="776492" cy="6052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42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2916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1" name="Image 1" descr="Table reco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600" y="4827676"/>
            <a:ext cx="880000" cy="8629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58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3832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4" name="Image 2" descr="Table fiel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200" y="4819160"/>
            <a:ext cx="880000" cy="880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374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4748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7" name="Image 3" descr="Table head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800" y="4916171"/>
            <a:ext cx="880000" cy="6859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290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</a:t>
            </a:r>
            <a:endParaRPr lang="en-US" sz="900" dirty="0"/>
          </a:p>
        </p:txBody>
      </p:sp>
      <p:sp>
        <p:nvSpPr>
          <p:cNvPr id="21" name="Shape Rifle"/>
          <p:cNvSpPr/>
          <p:nvPr/>
        </p:nvSpPr>
        <p:spPr>
          <a:xfrm>
            <a:off x="45664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2" name="Image Rifle" descr="Table data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400" y="4827676"/>
            <a:ext cx="880000" cy="862967"/>
          </a:xfrm>
          <a:prstGeom prst="rect">
            <a:avLst/>
          </a:prstGeom>
        </p:spPr>
      </p:pic>
      <p:sp>
        <p:nvSpPr>
          <p:cNvPr id="23" name="Label Rifle"/>
          <p:cNvSpPr/>
          <p:nvPr/>
        </p:nvSpPr>
        <p:spPr>
          <a:xfrm>
            <a:off x="45206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900"/>
          </a:p>
        </p:txBody>
      </p:sp>
      <p:sp>
        <p:nvSpPr>
          <p:cNvPr id="24" name="Shape Grenade"/>
          <p:cNvSpPr/>
          <p:nvPr/>
        </p:nvSpPr>
        <p:spPr>
          <a:xfrm>
            <a:off x="5658000" y="4709160"/>
            <a:ext cx="1000000" cy="11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Image Grenade" descr="Table summa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375" y="4970374"/>
            <a:ext cx="579249" cy="577571"/>
          </a:xfrm>
          <a:prstGeom prst="rect">
            <a:avLst/>
          </a:prstGeom>
        </p:spPr>
      </p:pic>
      <p:sp>
        <p:nvSpPr>
          <p:cNvPr id="26" name="Label Grenade"/>
          <p:cNvSpPr/>
          <p:nvPr/>
        </p:nvSpPr>
        <p:spPr>
          <a:xfrm>
            <a:off x="5612200" y="5840000"/>
            <a:ext cx="109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/>
          </a:p>
        </p:txBody>
      </p:sp>
      <p:sp>
        <p:nvSpPr>
          <p:cNvPr id="20" name="Text 14">
            <a:hlinkClick r:id="rId6" action="ppaction://hlinksldjump" tooltip="Back to roadmap"/>
          </p:cNvPr>
          <p:cNvSpPr/>
          <p:nvPr/>
        </p:nvSpPr>
        <p:spPr>
          <a:xfrm>
            <a:off x="365760" y="2926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 dirty="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4206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CHART TYPES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Chart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Choice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57200" y="170078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usually between a pie chart, a bar (column) chart and a line graph. Pick the one that suits the data.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50000" cy="1820000"/>
          </a:xfrm>
          <a:prstGeom prst="roundRect">
            <a:avLst>
              <a:gd name="adj" fmla="val 493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39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Chart to Purpose</a:t>
            </a:r>
            <a:endParaRPr lang="en-US" sz="1250"/>
          </a:p>
        </p:txBody>
      </p:sp>
      <p:sp>
        <p:nvSpPr>
          <p:cNvPr id="10" name="Text 10"/>
          <p:cNvSpPr/>
          <p:nvPr/>
        </p:nvSpPr>
        <p:spPr>
          <a:xfrm>
            <a:off x="713232" y="262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 chart</a:t>
            </a:r>
            <a:endParaRPr lang="en-US" sz="850"/>
          </a:p>
          <a:p>
            <a:pPr marL="0" indent="0">
              <a:buNone/>
            </a:pPr>
            <a:r>
              <a:rPr lang="en-US" sz="8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parts of a whole, e.g. % of staff in each job type.</a:t>
            </a:r>
            <a:endParaRPr lang="en-US" sz="800"/>
          </a:p>
        </p:txBody>
      </p:sp>
      <p:sp>
        <p:nvSpPr>
          <p:cNvPr id="12" name="Text 12"/>
          <p:cNvSpPr/>
          <p:nvPr/>
        </p:nvSpPr>
        <p:spPr>
          <a:xfrm>
            <a:off x="2620000" y="262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 / column chart</a:t>
            </a:r>
            <a:endParaRPr lang="en-US" sz="850"/>
          </a:p>
          <a:p>
            <a:pPr marL="0" indent="0">
              <a:buNone/>
            </a:pPr>
            <a:r>
              <a:rPr lang="en-US" sz="8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separate values, e.g. number of staff per job.</a:t>
            </a:r>
            <a:endParaRPr lang="en-US" sz="800"/>
          </a:p>
        </p:txBody>
      </p:sp>
      <p:sp>
        <p:nvSpPr>
          <p:cNvPr id="14" name="Text 14"/>
          <p:cNvSpPr/>
          <p:nvPr/>
        </p:nvSpPr>
        <p:spPr>
          <a:xfrm>
            <a:off x="713232" y="309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graph</a:t>
            </a:r>
            <a:endParaRPr lang="en-US" sz="850"/>
          </a:p>
          <a:p>
            <a:pPr marL="0" indent="0">
              <a:buNone/>
            </a:pPr>
            <a:r>
              <a:rPr lang="en-US" sz="8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trends over time, e.g. rainfall across the months.</a:t>
            </a:r>
            <a:endParaRPr lang="en-US" sz="800"/>
          </a:p>
        </p:txBody>
      </p:sp>
      <p:sp>
        <p:nvSpPr>
          <p:cNvPr id="16" name="Text 16"/>
          <p:cNvSpPr/>
          <p:nvPr/>
        </p:nvSpPr>
        <p:spPr>
          <a:xfrm>
            <a:off x="2620000" y="309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it simple</a:t>
            </a:r>
            <a:endParaRPr lang="en-US" sz="850"/>
          </a:p>
          <a:p>
            <a:pPr marL="0" indent="0">
              <a:buNone/>
            </a:pPr>
            <a:r>
              <a:rPr lang="en-US" sz="8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3-D and clutter — a simple chart is clearer.</a:t>
            </a:r>
            <a:endParaRPr lang="en-US" sz="800"/>
          </a:p>
        </p:txBody>
      </p:sp>
      <p:sp>
        <p:nvSpPr>
          <p:cNvPr id="18" name="Text 18"/>
          <p:cNvSpPr/>
          <p:nvPr/>
        </p:nvSpPr>
        <p:spPr>
          <a:xfrm>
            <a:off x="713232" y="356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20" name="Text 20"/>
          <p:cNvSpPr/>
          <p:nvPr/>
        </p:nvSpPr>
        <p:spPr>
          <a:xfrm>
            <a:off x="2620000" y="3560000"/>
            <a:ext cx="18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/>
          </a:p>
          <a:p>
            <a:pPr marL="0" indent="0">
              <a:buNone/>
            </a:pPr>
            <a:endParaRPr lang="en-US" sz="800"/>
          </a:p>
        </p:txBody>
      </p:sp>
      <p:sp>
        <p:nvSpPr>
          <p:cNvPr id="22" name="Task Heading"/>
          <p:cNvSpPr/>
          <p:nvPr/>
        </p:nvSpPr>
        <p:spPr>
          <a:xfrm>
            <a:off x="457200" y="41200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CHOOSE AND CREATE</a:t>
            </a:r>
            <a:endParaRPr lang="en-US" sz="950"/>
          </a:p>
        </p:txBody>
      </p:sp>
      <p:sp>
        <p:nvSpPr>
          <p:cNvPr id="23" name="Task Card BG"/>
          <p:cNvSpPr/>
          <p:nvPr/>
        </p:nvSpPr>
        <p:spPr>
          <a:xfrm>
            <a:off x="457200" y="4430000"/>
            <a:ext cx="5943600" cy="30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ask Card Accent"/>
          <p:cNvSpPr/>
          <p:nvPr/>
        </p:nvSpPr>
        <p:spPr>
          <a:xfrm>
            <a:off x="457200" y="4430000"/>
            <a:ext cx="80000" cy="306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ask Card Text"/>
          <p:cNvSpPr/>
          <p:nvPr/>
        </p:nvSpPr>
        <p:spPr>
          <a:xfrm>
            <a:off x="677200" y="4640000"/>
            <a:ext cx="5503600" cy="2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Bef>
                <a:spcPts val="10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employees.csv. Highlight the JobType and Number of staff columns, then use Insert ▸ Charts to create a 2-D column chart. Explain why a column chart suits this data.</a:t>
            </a:r>
          </a:p>
        </p:txBody>
      </p:sp>
      <p:sp>
        <p:nvSpPr>
          <p:cNvPr id="43" name="Shape 37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4" name="Text 38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45" name="Image 4" descr="Independ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" y="8065008"/>
            <a:ext cx="658368" cy="65836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463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640"/>
          </a:p>
        </p:txBody>
      </p:sp>
      <p:pic>
        <p:nvPicPr>
          <p:cNvPr id="47" name="Image 5" descr="Learning Lad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66" y="8065008"/>
            <a:ext cx="658368" cy="65836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464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Ladders</a:t>
            </a:r>
            <a:endParaRPr lang="en-US" sz="640"/>
          </a:p>
        </p:txBody>
      </p:sp>
      <p:pic>
        <p:nvPicPr>
          <p:cNvPr id="49" name="Image 6" descr="Re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9666" y="8065008"/>
            <a:ext cx="658368" cy="658368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7465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640"/>
          </a:p>
        </p:txBody>
      </p:sp>
      <p:pic>
        <p:nvPicPr>
          <p:cNvPr id="51" name="Image 7" descr="Numeracy Lin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9766" y="8065008"/>
            <a:ext cx="658368" cy="658368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25466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Numeracy Link</a:t>
            </a:r>
            <a:endParaRPr lang="en-US" sz="640"/>
          </a:p>
        </p:txBody>
      </p:sp>
      <p:pic>
        <p:nvPicPr>
          <p:cNvPr id="53" name="Image 8" descr="Hard-wor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6352" y="8065008"/>
            <a:ext cx="605396" cy="65836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3467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Hard-working</a:t>
            </a:r>
            <a:endParaRPr lang="en-US" sz="640"/>
          </a:p>
        </p:txBody>
      </p:sp>
      <p:pic>
        <p:nvPicPr>
          <p:cNvPr id="55" name="Image 9" descr="Creat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5056" y="8065008"/>
            <a:ext cx="788187" cy="658368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1468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</a:t>
            </a:r>
            <a:endParaRPr lang="en-US" sz="640"/>
          </a:p>
        </p:txBody>
      </p:sp>
      <p:pic>
        <p:nvPicPr>
          <p:cNvPr id="57" name="Image 10" descr="Realis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840" y="8065008"/>
            <a:ext cx="798820" cy="658368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49469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Realising</a:t>
            </a:r>
            <a:endParaRPr lang="en-US" sz="640"/>
          </a:p>
        </p:txBody>
      </p:sp>
      <p:pic>
        <p:nvPicPr>
          <p:cNvPr id="59" name="Image 11" descr="Data Literac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8222" y="8065008"/>
            <a:ext cx="662256" cy="658368"/>
          </a:xfrm>
          <a:prstGeom prst="rect">
            <a:avLst/>
          </a:prstGeom>
        </p:spPr>
      </p:pic>
      <p:sp>
        <p:nvSpPr>
          <p:cNvPr id="60" name="Text 46"/>
          <p:cNvSpPr/>
          <p:nvPr/>
        </p:nvSpPr>
        <p:spPr>
          <a:xfrm>
            <a:off x="5747004" y="8750808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4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Literacy</a:t>
            </a:r>
            <a:endParaRPr lang="en-US" sz="640"/>
          </a:p>
        </p:txBody>
      </p:sp>
      <p:sp>
        <p:nvSpPr>
          <p:cNvPr id="70" name="Source Frame"/>
          <p:cNvSpPr/>
          <p:nvPr/>
        </p:nvSpPr>
        <p:spPr>
          <a:xfrm>
            <a:off x="4680000" y="2194560"/>
            <a:ext cx="1580000" cy="1440000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0F7BA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ource Eyebrow"/>
          <p:cNvSpPr/>
          <p:nvPr/>
        </p:nvSpPr>
        <p:spPr>
          <a:xfrm>
            <a:off x="4700000" y="2250000"/>
            <a:ext cx="15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2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700"/>
          </a:p>
        </p:txBody>
      </p:sp>
      <p:pic>
        <p:nvPicPr>
          <p:cNvPr id="71" name="Source Image" descr="Query filtering matching records in a table"/>
          <p:cNvPicPr>
            <a:picLocks noChangeAspect="1"/>
          </p:cNvPicPr>
          <p:nvPr/>
        </p:nvPicPr>
        <p:blipFill>
          <a:blip r:embed="rId11"/>
          <a:srcRect l="14000" r="11731"/>
          <a:stretch>
            <a:fillRect/>
          </a:stretch>
        </p:blipFill>
        <p:spPr>
          <a:xfrm>
            <a:off x="4876000" y="2450000"/>
            <a:ext cx="1188000" cy="1080000"/>
          </a:xfrm>
          <a:prstGeom prst="rect">
            <a:avLst/>
          </a:prstGeom>
        </p:spPr>
      </p:pic>
      <p:sp>
        <p:nvSpPr>
          <p:cNvPr id="72" name="Source Caption"/>
          <p:cNvSpPr/>
          <p:nvPr/>
        </p:nvSpPr>
        <p:spPr>
          <a:xfrm>
            <a:off x="4660000" y="3690000"/>
            <a:ext cx="1620000" cy="4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8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· staff by job type</a:t>
            </a:r>
          </a:p>
          <a:p>
            <a:pPr marL="0" indent="0" algn="ctr">
              <a:lnSpc>
                <a:spcPct val="96000"/>
              </a:lnSpc>
              <a:buNone/>
            </a:pPr>
            <a:endParaRPr lang="en-US" sz="680" i="1">
              <a:solidFill>
                <a:srgbClr val="5A6B7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eapons Research B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90000"/>
            <a:ext cx="1645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CHART TYPES</a:t>
            </a:r>
            <a:endParaRPr lang="en-US" sz="1100"/>
          </a:p>
        </p:txBody>
      </p:sp>
      <p:sp>
        <p:nvSpPr>
          <p:cNvPr id="5" name="Pill"/>
          <p:cNvSpPr/>
          <p:nvPr/>
        </p:nvSpPr>
        <p:spPr>
          <a:xfrm>
            <a:off x="4617720" y="552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B886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100"/>
          </a:p>
        </p:txBody>
      </p:sp>
      <p:sp>
        <p:nvSpPr>
          <p:cNvPr id="6" name="Title"/>
          <p:cNvSpPr/>
          <p:nvPr/>
        </p:nvSpPr>
        <p:spPr>
          <a:xfrm>
            <a:off x="457200" y="920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Types Compared</a:t>
            </a:r>
            <a:endParaRPr lang="en-US" sz="2500"/>
          </a:p>
        </p:txBody>
      </p:sp>
      <p:sp>
        <p:nvSpPr>
          <p:cNvPr id="7" name="Intro"/>
          <p:cNvSpPr/>
          <p:nvPr/>
        </p:nvSpPr>
        <p:spPr>
          <a:xfrm>
            <a:off x="457200" y="1500000"/>
            <a:ext cx="5943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chart type tells a different story. Match the chart to the question you want your data to answer.</a:t>
            </a:r>
            <a:endParaRPr lang="en-US" sz="1150"/>
          </a:p>
        </p:txBody>
      </p:sp>
      <p:sp>
        <p:nvSpPr>
          <p:cNvPr id="10" name="LAND Header"/>
          <p:cNvSpPr/>
          <p:nvPr/>
        </p:nvSpPr>
        <p:spPr>
          <a:xfrm>
            <a:off x="457200" y="2020000"/>
            <a:ext cx="5943600" cy="440000"/>
          </a:xfrm>
          <a:prstGeom prst="roundRect">
            <a:avLst>
              <a:gd name="adj" fmla="val 14000"/>
            </a:avLst>
          </a:prstGeom>
          <a:solidFill>
            <a:srgbClr val="B8862B"/>
          </a:solidFill>
          <a:ln/>
        </p:spPr>
        <p:txBody>
          <a:bodyPr wrap="square" lIns="200000" tIns="0" rIns="200000" bIns="0" rtlCol="0" anchor="ctr"/>
          <a:lstStyle/>
          <a:p>
            <a:pPr marL="0" indent="0">
              <a:buNone/>
            </a:pPr>
            <a:r>
              <a:rPr lang="en-US" sz="1250" b="1" spc="1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</a:t>
            </a:r>
            <a:r>
              <a:rPr lang="en-US" sz="1050">
                <a:solidFill>
                  <a:srgbClr val="EA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show parts of a whole</a:t>
            </a:r>
          </a:p>
        </p:txBody>
      </p:sp>
      <p:sp>
        <p:nvSpPr>
          <p:cNvPr id="11" name="Tanks Card"/>
          <p:cNvSpPr/>
          <p:nvPr/>
        </p:nvSpPr>
        <p:spPr>
          <a:xfrm>
            <a:off x="457200" y="250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" name="Tanks Accent"/>
          <p:cNvSpPr/>
          <p:nvPr/>
        </p:nvSpPr>
        <p:spPr>
          <a:xfrm>
            <a:off x="457200" y="250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anks Text"/>
          <p:cNvSpPr/>
          <p:nvPr/>
        </p:nvSpPr>
        <p:spPr>
          <a:xfrm>
            <a:off x="717200" y="250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for percentages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shows how a total splits into slices, e.g. favourite drinks.</a:t>
            </a:r>
          </a:p>
        </p:txBody>
      </p:sp>
      <p:sp>
        <p:nvSpPr>
          <p:cNvPr id="15" name="Flamethrowers Card"/>
          <p:cNvSpPr/>
          <p:nvPr/>
        </p:nvSpPr>
        <p:spPr>
          <a:xfrm>
            <a:off x="457200" y="297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" name="Flamethrowers Accent"/>
          <p:cNvSpPr/>
          <p:nvPr/>
        </p:nvSpPr>
        <p:spPr>
          <a:xfrm>
            <a:off x="457200" y="297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Flamethrowers Text"/>
          <p:cNvSpPr/>
          <p:nvPr/>
        </p:nvSpPr>
        <p:spPr>
          <a:xfrm>
            <a:off x="717200" y="297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 series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use a single set of values that add up to 100%.</a:t>
            </a:r>
          </a:p>
        </p:txBody>
      </p:sp>
      <p:sp>
        <p:nvSpPr>
          <p:cNvPr id="19" name="Barbed Wire &amp; Land Mines Card"/>
          <p:cNvSpPr/>
          <p:nvPr/>
        </p:nvSpPr>
        <p:spPr>
          <a:xfrm>
            <a:off x="457200" y="344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0" name="Barbed Wire &amp; Land Mines Accent"/>
          <p:cNvSpPr/>
          <p:nvPr/>
        </p:nvSpPr>
        <p:spPr>
          <a:xfrm>
            <a:off x="457200" y="344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Barbed Wire &amp; Land Mines Text"/>
          <p:cNvSpPr/>
          <p:nvPr/>
        </p:nvSpPr>
        <p:spPr>
          <a:xfrm>
            <a:off x="717200" y="344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each sector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add sector labels and percentage values so it is easy to read.</a:t>
            </a:r>
          </a:p>
        </p:txBody>
      </p:sp>
      <p:sp>
        <p:nvSpPr>
          <p:cNvPr id="23" name="Heavy Artillery Card"/>
          <p:cNvSpPr/>
          <p:nvPr/>
        </p:nvSpPr>
        <p:spPr>
          <a:xfrm>
            <a:off x="457200" y="391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4" name="Heavy Artillery Accent"/>
          <p:cNvSpPr/>
          <p:nvPr/>
        </p:nvSpPr>
        <p:spPr>
          <a:xfrm>
            <a:off x="457200" y="391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Heavy Artillery Text"/>
          <p:cNvSpPr/>
          <p:nvPr/>
        </p:nvSpPr>
        <p:spPr>
          <a:xfrm>
            <a:off x="717200" y="391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 too many slices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few clear sectors read better than many thin ones.</a:t>
            </a:r>
          </a:p>
        </p:txBody>
      </p:sp>
      <p:sp>
        <p:nvSpPr>
          <p:cNvPr id="27" name="SEA Header"/>
          <p:cNvSpPr/>
          <p:nvPr/>
        </p:nvSpPr>
        <p:spPr>
          <a:xfrm>
            <a:off x="457200" y="4430000"/>
            <a:ext cx="5943600" cy="440000"/>
          </a:xfrm>
          <a:prstGeom prst="roundRect">
            <a:avLst>
              <a:gd name="adj" fmla="val 14000"/>
            </a:avLst>
          </a:prstGeom>
          <a:solidFill>
            <a:srgbClr val="0F7BA8"/>
          </a:solidFill>
          <a:ln/>
        </p:spPr>
        <p:txBody>
          <a:bodyPr wrap="square" lIns="200000" tIns="0" rIns="200000" bIns="0" rtlCol="0" anchor="ctr"/>
          <a:lstStyle/>
          <a:p>
            <a:pPr marL="0" indent="0">
              <a:buNone/>
            </a:pPr>
            <a:r>
              <a:rPr lang="en-US" sz="1250" b="1" spc="1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COLUMN CHARTS</a:t>
            </a:r>
            <a:r>
              <a:rPr lang="en-US" sz="1050">
                <a:solidFill>
                  <a:srgbClr val="EA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compare separate values</a:t>
            </a:r>
          </a:p>
        </p:txBody>
      </p:sp>
      <p:sp>
        <p:nvSpPr>
          <p:cNvPr id="28" name="U-Boats Card"/>
          <p:cNvSpPr/>
          <p:nvPr/>
        </p:nvSpPr>
        <p:spPr>
          <a:xfrm>
            <a:off x="457200" y="491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29" name="U-Boats Accent"/>
          <p:cNvSpPr/>
          <p:nvPr/>
        </p:nvSpPr>
        <p:spPr>
          <a:xfrm>
            <a:off x="457200" y="491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0" name="U-Boats Text"/>
          <p:cNvSpPr/>
          <p:nvPr/>
        </p:nvSpPr>
        <p:spPr>
          <a:xfrm>
            <a:off x="717200" y="491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categories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column charts use vertical bars; bar charts run across.</a:t>
            </a:r>
          </a:p>
        </p:txBody>
      </p:sp>
      <p:sp>
        <p:nvSpPr>
          <p:cNvPr id="32" name="Battleships &amp; Dreadnoughts Card"/>
          <p:cNvSpPr/>
          <p:nvPr/>
        </p:nvSpPr>
        <p:spPr>
          <a:xfrm>
            <a:off x="457200" y="538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3" name="Battleships &amp; Dreadnoughts Accent"/>
          <p:cNvSpPr/>
          <p:nvPr/>
        </p:nvSpPr>
        <p:spPr>
          <a:xfrm>
            <a:off x="457200" y="538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4" name="Battleships &amp; Dreadnoughts Text"/>
          <p:cNvSpPr/>
          <p:nvPr/>
        </p:nvSpPr>
        <p:spPr>
          <a:xfrm>
            <a:off x="717200" y="538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axis labels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label the category axis and the value axis with units.</a:t>
            </a:r>
          </a:p>
        </p:txBody>
      </p:sp>
      <p:sp>
        <p:nvSpPr>
          <p:cNvPr id="36" name="AIR Header"/>
          <p:cNvSpPr/>
          <p:nvPr/>
        </p:nvSpPr>
        <p:spPr>
          <a:xfrm>
            <a:off x="457200" y="5900000"/>
            <a:ext cx="5943600" cy="440000"/>
          </a:xfrm>
          <a:prstGeom prst="roundRect">
            <a:avLst>
              <a:gd name="adj" fmla="val 14000"/>
            </a:avLst>
          </a:prstGeom>
          <a:solidFill>
            <a:srgbClr val="159BD2"/>
          </a:solidFill>
          <a:ln/>
        </p:spPr>
        <p:txBody>
          <a:bodyPr wrap="square" lIns="200000" tIns="0" rIns="200000" bIns="0" rtlCol="0" anchor="ctr"/>
          <a:lstStyle/>
          <a:p>
            <a:pPr marL="0" indent="0">
              <a:buNone/>
            </a:pPr>
            <a:r>
              <a:rPr lang="en-US" sz="1250" b="1" spc="1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GRAPHS</a:t>
            </a:r>
            <a:r>
              <a:rPr lang="en-US" sz="1050">
                <a:solidFill>
                  <a:srgbClr val="EA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show change over time</a:t>
            </a:r>
          </a:p>
        </p:txBody>
      </p:sp>
      <p:sp>
        <p:nvSpPr>
          <p:cNvPr id="37" name="Fighter Planes Card"/>
          <p:cNvSpPr/>
          <p:nvPr/>
        </p:nvSpPr>
        <p:spPr>
          <a:xfrm>
            <a:off x="457200" y="638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38" name="Fighter Planes Accent"/>
          <p:cNvSpPr/>
          <p:nvPr/>
        </p:nvSpPr>
        <p:spPr>
          <a:xfrm>
            <a:off x="457200" y="638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9" name="Fighter Planes Text"/>
          <p:cNvSpPr/>
          <p:nvPr/>
        </p:nvSpPr>
        <p:spPr>
          <a:xfrm>
            <a:off x="717200" y="638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trends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ideal for data recorded over a period, e.g. temperature.</a:t>
            </a:r>
          </a:p>
        </p:txBody>
      </p:sp>
      <p:sp>
        <p:nvSpPr>
          <p:cNvPr id="41" name="Zeppelins &amp; Bombers Card"/>
          <p:cNvSpPr/>
          <p:nvPr/>
        </p:nvSpPr>
        <p:spPr>
          <a:xfrm>
            <a:off x="457200" y="6850000"/>
            <a:ext cx="5943600" cy="420000"/>
          </a:xfrm>
          <a:prstGeom prst="roundRect">
            <a:avLst>
              <a:gd name="adj" fmla="val 12000"/>
            </a:avLst>
          </a:prstGeom>
          <a:solidFill>
            <a:srgbClr val="F4FBFE"/>
          </a:solidFill>
          <a:ln w="12700">
            <a:solidFill>
              <a:srgbClr val="D7EBF5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2" name="Zeppelins &amp; Bombers Accent"/>
          <p:cNvSpPr/>
          <p:nvPr/>
        </p:nvSpPr>
        <p:spPr>
          <a:xfrm>
            <a:off x="457200" y="6850000"/>
            <a:ext cx="90000" cy="4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3" name="Zeppelins &amp; Bombers Text"/>
          <p:cNvSpPr/>
          <p:nvPr/>
        </p:nvSpPr>
        <p:spPr>
          <a:xfrm>
            <a:off x="717200" y="6850000"/>
            <a:ext cx="5483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variables</a:t>
            </a: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 line graph plots one value against another, such as time.</a:t>
            </a:r>
          </a:p>
        </p:txBody>
      </p:sp>
      <p:pic>
        <p:nvPicPr>
          <p:cNvPr id="70" name="Detente Photo"/>
          <p:cNvPicPr>
            <a:picLocks noChangeAspect="1"/>
          </p:cNvPicPr>
          <p:nvPr/>
        </p:nvPicPr>
        <p:blipFill>
          <a:blip r:embed="rId4"/>
          <a:srcRect t="32376" b="32376"/>
          <a:stretch>
            <a:fillRect/>
          </a:stretch>
        </p:blipFill>
        <p:spPr>
          <a:xfrm>
            <a:off x="457200" y="7360000"/>
            <a:ext cx="5943600" cy="1170000"/>
          </a:xfrm>
          <a:prstGeom prst="rect">
            <a:avLst/>
          </a:prstGeom>
        </p:spPr>
      </p:pic>
      <p:sp>
        <p:nvSpPr>
          <p:cNvPr id="72" name="Photo Caption"/>
          <p:cNvSpPr/>
          <p:nvPr/>
        </p:nvSpPr>
        <p:spPr>
          <a:xfrm>
            <a:off x="457200" y="8545000"/>
            <a:ext cx="59436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>
                <a:solidFill>
                  <a:srgbClr val="5A6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chart makes the pattern in your data obvious at a glance.</a:t>
            </a:r>
            <a:endParaRPr lang="en-US" sz="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ed Example: Source 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Eyebrow"/>
          <p:cNvSpPr/>
          <p:nvPr/>
        </p:nvSpPr>
        <p:spPr>
          <a:xfrm>
            <a:off x="457200" y="420624"/>
            <a:ext cx="4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CREATE A CHART</a:t>
            </a:r>
            <a:endParaRPr lang="en-US" sz="1100"/>
          </a:p>
        </p:txBody>
      </p:sp>
      <p:sp>
        <p:nvSpPr>
          <p:cNvPr id="4" name="Pill BG"/>
          <p:cNvSpPr/>
          <p:nvPr/>
        </p:nvSpPr>
        <p:spPr>
          <a:xfrm>
            <a:off x="4900000" y="384048"/>
            <a:ext cx="150080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/>
          </a:p>
        </p:txBody>
      </p:sp>
      <p:sp>
        <p:nvSpPr>
          <p:cNvPr id="5" name="Title"/>
          <p:cNvSpPr/>
          <p:nvPr/>
        </p:nvSpPr>
        <p:spPr>
          <a:xfrm>
            <a:off x="457200" y="79255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Chart, Step by Step</a:t>
            </a:r>
            <a:endParaRPr lang="en-US" sz="2500"/>
          </a:p>
        </p:txBody>
      </p:sp>
      <p:sp>
        <p:nvSpPr>
          <p:cNvPr id="6" name="Source Band BG"/>
          <p:cNvSpPr/>
          <p:nvPr/>
        </p:nvSpPr>
        <p:spPr>
          <a:xfrm>
            <a:off x="457200" y="1460000"/>
            <a:ext cx="5943600" cy="1640000"/>
          </a:xfrm>
          <a:prstGeom prst="roundRect">
            <a:avLst>
              <a:gd name="adj" fmla="val 4000"/>
            </a:avLst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7" name="Source Image" descr="Data entry form with input fiel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33" y="1610000"/>
            <a:ext cx="1670332" cy="1340000"/>
          </a:xfrm>
          <a:prstGeom prst="rect">
            <a:avLst/>
          </a:prstGeom>
          <a:ln w="12700">
            <a:solidFill>
              <a:srgbClr val="0F7BA8"/>
            </a:solidFill>
          </a:ln>
        </p:spPr>
      </p:pic>
      <p:sp>
        <p:nvSpPr>
          <p:cNvPr id="8" name="Source Text"/>
          <p:cNvSpPr/>
          <p:nvPr/>
        </p:nvSpPr>
        <p:spPr>
          <a:xfrm>
            <a:off x="3110000" y="1590000"/>
            <a:ext cx="31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START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9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Recommended Charts for a quick suggestion, or the Insert ▸ Charts gallery to pick the exact type. Both build from your highlighted data.</a:t>
            </a:r>
          </a:p>
        </p:txBody>
      </p:sp>
      <p:sp>
        <p:nvSpPr>
          <p:cNvPr id="20" name="Card 1 BG"/>
          <p:cNvSpPr/>
          <p:nvPr/>
        </p:nvSpPr>
        <p:spPr>
          <a:xfrm>
            <a:off x="457200" y="325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1 Accent"/>
          <p:cNvSpPr/>
          <p:nvPr/>
        </p:nvSpPr>
        <p:spPr>
          <a:xfrm>
            <a:off x="457200" y="3250000"/>
            <a:ext cx="100584" cy="1245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1 Text"/>
          <p:cNvSpPr/>
          <p:nvPr/>
        </p:nvSpPr>
        <p:spPr>
          <a:xfrm>
            <a:off x="700000" y="339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HIGHLIGHT THE DATA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labels and values you want, e.g. A1:B8. Hold Ctrl to pick non-adjacent columns such as A1:A8 and C1:C8.</a:t>
            </a:r>
          </a:p>
        </p:txBody>
      </p:sp>
      <p:sp>
        <p:nvSpPr>
          <p:cNvPr id="30" name="Card 2 BG"/>
          <p:cNvSpPr/>
          <p:nvPr/>
        </p:nvSpPr>
        <p:spPr>
          <a:xfrm>
            <a:off x="457200" y="461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2 Accent"/>
          <p:cNvSpPr/>
          <p:nvPr/>
        </p:nvSpPr>
        <p:spPr>
          <a:xfrm>
            <a:off x="457200" y="4615000"/>
            <a:ext cx="100584" cy="1245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2 Text"/>
          <p:cNvSpPr/>
          <p:nvPr/>
        </p:nvSpPr>
        <p:spPr>
          <a:xfrm>
            <a:off x="700000" y="475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INSERT THE CHART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Insert tab, open Charts and choose a 2-D pie, column or line chart to suit the data.</a:t>
            </a:r>
          </a:p>
        </p:txBody>
      </p:sp>
      <p:sp>
        <p:nvSpPr>
          <p:cNvPr id="40" name="Card 3 BG"/>
          <p:cNvSpPr/>
          <p:nvPr/>
        </p:nvSpPr>
        <p:spPr>
          <a:xfrm>
            <a:off x="457200" y="5980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3 Accent"/>
          <p:cNvSpPr/>
          <p:nvPr/>
        </p:nvSpPr>
        <p:spPr>
          <a:xfrm>
            <a:off x="457200" y="5980000"/>
            <a:ext cx="100584" cy="1245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3 Text"/>
          <p:cNvSpPr/>
          <p:nvPr/>
        </p:nvSpPr>
        <p:spPr>
          <a:xfrm>
            <a:off x="700000" y="6120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CHECK THE TYPE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chart suits the data; change it if it is misleading.</a:t>
            </a:r>
          </a:p>
        </p:txBody>
      </p:sp>
      <p:sp>
        <p:nvSpPr>
          <p:cNvPr id="50" name="Card 4 BG"/>
          <p:cNvSpPr/>
          <p:nvPr/>
        </p:nvSpPr>
        <p:spPr>
          <a:xfrm>
            <a:off x="457200" y="7345000"/>
            <a:ext cx="5943600" cy="1245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Card 4 Accent"/>
          <p:cNvSpPr/>
          <p:nvPr/>
        </p:nvSpPr>
        <p:spPr>
          <a:xfrm>
            <a:off x="457200" y="7345000"/>
            <a:ext cx="100584" cy="1245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2" name="Card 4 Text"/>
          <p:cNvSpPr/>
          <p:nvPr/>
        </p:nvSpPr>
        <p:spPr>
          <a:xfrm>
            <a:off x="700000" y="7485000"/>
            <a:ext cx="5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SAVE YOUR WORK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chart in the spreadsheet, e.g. as task16a, ready for labelling.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fe in the Trench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90000"/>
            <a:ext cx="1645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5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LABELLING A CHART</a:t>
            </a:r>
            <a:endParaRPr lang="en-US" sz="1100"/>
          </a:p>
        </p:txBody>
      </p:sp>
      <p:sp>
        <p:nvSpPr>
          <p:cNvPr id="5" name="Pill"/>
          <p:cNvSpPr/>
          <p:nvPr/>
        </p:nvSpPr>
        <p:spPr>
          <a:xfrm>
            <a:off x="4617720" y="552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</a:t>
            </a:r>
            <a:endParaRPr lang="en-US" sz="1100"/>
          </a:p>
        </p:txBody>
      </p:sp>
      <p:sp>
        <p:nvSpPr>
          <p:cNvPr id="6" name="Title"/>
          <p:cNvSpPr/>
          <p:nvPr/>
        </p:nvSpPr>
        <p:spPr>
          <a:xfrm>
            <a:off x="457200" y="920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Labelling a Chart Clearly</a:t>
            </a:r>
            <a:endParaRPr lang="en-US" sz="2500"/>
          </a:p>
        </p:txBody>
      </p:sp>
      <p:sp>
        <p:nvSpPr>
          <p:cNvPr id="7" name="Intro"/>
          <p:cNvSpPr/>
          <p:nvPr/>
        </p:nvSpPr>
        <p:spPr>
          <a:xfrm>
            <a:off x="457200" y="1500000"/>
            <a:ext cx="59436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must be fully labelled so a reader understands it without asking any questions.</a:t>
            </a:r>
            <a:endParaRPr lang="en-US" sz="1150"/>
          </a:p>
        </p:txBody>
      </p:sp>
      <p:sp>
        <p:nvSpPr>
          <p:cNvPr id="10" name="Card A"/>
          <p:cNvSpPr/>
          <p:nvPr/>
        </p:nvSpPr>
        <p:spPr>
          <a:xfrm>
            <a:off x="457200" y="201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Card A Accent"/>
          <p:cNvSpPr/>
          <p:nvPr/>
        </p:nvSpPr>
        <p:spPr>
          <a:xfrm>
            <a:off x="457200" y="201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Card A Text"/>
          <p:cNvSpPr/>
          <p:nvPr/>
        </p:nvSpPr>
        <p:spPr>
          <a:xfrm>
            <a:off x="657200" y="218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TITLE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words Chart Title and type a title that describes the data.</a:t>
            </a:r>
          </a:p>
        </p:txBody>
      </p:sp>
      <p:sp>
        <p:nvSpPr>
          <p:cNvPr id="20" name="Card B"/>
          <p:cNvSpPr/>
          <p:nvPr/>
        </p:nvSpPr>
        <p:spPr>
          <a:xfrm>
            <a:off x="3530800" y="201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Card B Accent"/>
          <p:cNvSpPr/>
          <p:nvPr/>
        </p:nvSpPr>
        <p:spPr>
          <a:xfrm>
            <a:off x="3530800" y="201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Card B Text"/>
          <p:cNvSpPr/>
          <p:nvPr/>
        </p:nvSpPr>
        <p:spPr>
          <a:xfrm>
            <a:off x="3730800" y="218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AXIS TITLES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axis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Axis Titles on the (+) menu, then name each axis, e.g. Rainfall.</a:t>
            </a:r>
          </a:p>
        </p:txBody>
      </p:sp>
      <p:sp>
        <p:nvSpPr>
          <p:cNvPr id="30" name="Card C"/>
          <p:cNvSpPr/>
          <p:nvPr/>
        </p:nvSpPr>
        <p:spPr>
          <a:xfrm>
            <a:off x="457200" y="360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Card C Accent"/>
          <p:cNvSpPr/>
          <p:nvPr/>
        </p:nvSpPr>
        <p:spPr>
          <a:xfrm>
            <a:off x="457200" y="360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Card C Text"/>
          <p:cNvSpPr/>
          <p:nvPr/>
        </p:nvSpPr>
        <p:spPr>
          <a:xfrm>
            <a:off x="657200" y="377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AXIS SCALE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sensible minimum, maximum and step in the Format Axis pane.</a:t>
            </a:r>
          </a:p>
        </p:txBody>
      </p:sp>
      <p:sp>
        <p:nvSpPr>
          <p:cNvPr id="40" name="Card D"/>
          <p:cNvSpPr/>
          <p:nvPr/>
        </p:nvSpPr>
        <p:spPr>
          <a:xfrm>
            <a:off x="3530800" y="360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Card D Accent"/>
          <p:cNvSpPr/>
          <p:nvPr/>
        </p:nvSpPr>
        <p:spPr>
          <a:xfrm>
            <a:off x="3530800" y="360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Card D Text"/>
          <p:cNvSpPr/>
          <p:nvPr/>
        </p:nvSpPr>
        <p:spPr>
          <a:xfrm>
            <a:off x="3730800" y="377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LABELS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along the bottom, such as days or job types.</a:t>
            </a:r>
          </a:p>
        </p:txBody>
      </p:sp>
      <p:sp>
        <p:nvSpPr>
          <p:cNvPr id="70" name="Card E"/>
          <p:cNvSpPr/>
          <p:nvPr/>
        </p:nvSpPr>
        <p:spPr>
          <a:xfrm>
            <a:off x="457200" y="519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Card E Accent"/>
          <p:cNvSpPr/>
          <p:nvPr/>
        </p:nvSpPr>
        <p:spPr>
          <a:xfrm>
            <a:off x="457200" y="519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2" name="Card E Text"/>
          <p:cNvSpPr/>
          <p:nvPr/>
        </p:nvSpPr>
        <p:spPr>
          <a:xfrm>
            <a:off x="657200" y="536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LABELS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Data Labels on the (+) menu to show the value on each bar or slice.</a:t>
            </a:r>
          </a:p>
        </p:txBody>
      </p:sp>
      <p:sp>
        <p:nvSpPr>
          <p:cNvPr id="80" name="Card F"/>
          <p:cNvSpPr/>
          <p:nvPr/>
        </p:nvSpPr>
        <p:spPr>
          <a:xfrm>
            <a:off x="3530800" y="5190000"/>
            <a:ext cx="2870000" cy="1450000"/>
          </a:xfrm>
          <a:prstGeom prst="roundRect">
            <a:avLst>
              <a:gd name="adj" fmla="val 5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Card F Accent"/>
          <p:cNvSpPr/>
          <p:nvPr/>
        </p:nvSpPr>
        <p:spPr>
          <a:xfrm>
            <a:off x="3530800" y="5190000"/>
            <a:ext cx="80000" cy="145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2" name="Card F Text"/>
          <p:cNvSpPr/>
          <p:nvPr/>
        </p:nvSpPr>
        <p:spPr>
          <a:xfrm>
            <a:off x="3730800" y="5360000"/>
            <a:ext cx="252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LEGEND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b="1" spc="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0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each colour or series — only needed when there is more than one.</a:t>
            </a:r>
          </a:p>
        </p:txBody>
      </p:sp>
      <p:sp>
        <p:nvSpPr>
          <p:cNvPr id="50" name="Task Band"/>
          <p:cNvSpPr/>
          <p:nvPr/>
        </p:nvSpPr>
        <p:spPr>
          <a:xfrm>
            <a:off x="457200" y="6800000"/>
            <a:ext cx="5943600" cy="1500000"/>
          </a:xfrm>
          <a:prstGeom prst="roundRect">
            <a:avLst>
              <a:gd name="adj" fmla="val 5000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ask Text"/>
          <p:cNvSpPr/>
          <p:nvPr/>
        </p:nvSpPr>
        <p:spPr>
          <a:xfrm>
            <a:off x="700000" y="6980000"/>
            <a:ext cx="5450000" cy="1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7F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with no title or axis labels cannot gain full marks in the exam.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b"/>
          <p:cNvSpPr/>
          <p:nvPr/>
        </p:nvSpPr>
        <p:spPr>
          <a:xfrm>
            <a:off x="457200" y="420624"/>
            <a:ext cx="43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SECONDARY AXES</a:t>
            </a:r>
          </a:p>
        </p:txBody>
      </p:sp>
      <p:sp>
        <p:nvSpPr>
          <p:cNvPr id="4" name="rr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b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Charts</a:t>
            </a:r>
          </a:p>
        </p:txBody>
      </p:sp>
      <p:sp>
        <p:nvSpPr>
          <p:cNvPr id="6" name="tb"/>
          <p:cNvSpPr/>
          <p:nvPr/>
        </p:nvSpPr>
        <p:spPr>
          <a:xfrm>
            <a:off x="457200" y="676656"/>
            <a:ext cx="40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a Secondary Axis</a:t>
            </a:r>
          </a:p>
        </p:txBody>
      </p:sp>
      <p:sp>
        <p:nvSpPr>
          <p:cNvPr id="7" name="tb"/>
          <p:cNvSpPr/>
          <p:nvPr/>
        </p:nvSpPr>
        <p:spPr>
          <a:xfrm>
            <a:off x="457200" y="1480000"/>
            <a:ext cx="5943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data sets use very different scales, a combo chart with a secondary axis makes both readable.</a:t>
            </a:r>
          </a:p>
        </p:txBody>
      </p:sp>
      <p:sp>
        <p:nvSpPr>
          <p:cNvPr id="8" name="rr"/>
          <p:cNvSpPr/>
          <p:nvPr/>
        </p:nvSpPr>
        <p:spPr>
          <a:xfrm>
            <a:off x="457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"/>
          <p:cNvSpPr/>
          <p:nvPr/>
        </p:nvSpPr>
        <p:spPr>
          <a:xfrm>
            <a:off x="457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b"/>
          <p:cNvSpPr/>
          <p:nvPr/>
        </p:nvSpPr>
        <p:spPr>
          <a:xfrm>
            <a:off x="637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 ONE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two series with different scales, e.g. rainfall and temperature.</a:t>
            </a:r>
          </a:p>
        </p:txBody>
      </p:sp>
      <p:sp>
        <p:nvSpPr>
          <p:cNvPr id="11" name="rr"/>
          <p:cNvSpPr/>
          <p:nvPr/>
        </p:nvSpPr>
        <p:spPr>
          <a:xfrm>
            <a:off x="3529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"/>
          <p:cNvSpPr/>
          <p:nvPr/>
        </p:nvSpPr>
        <p:spPr>
          <a:xfrm>
            <a:off x="3529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b"/>
          <p:cNvSpPr/>
          <p:nvPr/>
        </p:nvSpPr>
        <p:spPr>
          <a:xfrm>
            <a:off x="3709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 CHART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column series and a line series on one chart.</a:t>
            </a:r>
          </a:p>
        </p:txBody>
      </p:sp>
      <p:sp>
        <p:nvSpPr>
          <p:cNvPr id="14" name="rr"/>
          <p:cNvSpPr/>
          <p:nvPr/>
        </p:nvSpPr>
        <p:spPr>
          <a:xfrm>
            <a:off x="457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"/>
          <p:cNvSpPr/>
          <p:nvPr/>
        </p:nvSpPr>
        <p:spPr>
          <a:xfrm>
            <a:off x="457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b"/>
          <p:cNvSpPr/>
          <p:nvPr/>
        </p:nvSpPr>
        <p:spPr>
          <a:xfrm>
            <a:off x="637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AXIS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axis, scaled for the first data series.</a:t>
            </a:r>
          </a:p>
        </p:txBody>
      </p:sp>
      <p:sp>
        <p:nvSpPr>
          <p:cNvPr id="17" name="rr"/>
          <p:cNvSpPr/>
          <p:nvPr/>
        </p:nvSpPr>
        <p:spPr>
          <a:xfrm>
            <a:off x="3529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"/>
          <p:cNvSpPr/>
          <p:nvPr/>
        </p:nvSpPr>
        <p:spPr>
          <a:xfrm>
            <a:off x="3529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b"/>
          <p:cNvSpPr/>
          <p:nvPr/>
        </p:nvSpPr>
        <p:spPr>
          <a:xfrm>
            <a:off x="3709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AXIS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axis, scaled for the second series.</a:t>
            </a:r>
          </a:p>
        </p:txBody>
      </p:sp>
      <p:sp>
        <p:nvSpPr>
          <p:cNvPr id="20" name="rr"/>
          <p:cNvSpPr/>
          <p:nvPr/>
        </p:nvSpPr>
        <p:spPr>
          <a:xfrm>
            <a:off x="457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"/>
          <p:cNvSpPr/>
          <p:nvPr/>
        </p:nvSpPr>
        <p:spPr>
          <a:xfrm>
            <a:off x="457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b"/>
          <p:cNvSpPr/>
          <p:nvPr/>
        </p:nvSpPr>
        <p:spPr>
          <a:xfrm>
            <a:off x="637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THE SCALE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left axis 0–250 in steps of 50; scale the right axis to suit.</a:t>
            </a:r>
          </a:p>
        </p:txBody>
      </p:sp>
      <p:sp>
        <p:nvSpPr>
          <p:cNvPr id="23" name="rr"/>
          <p:cNvSpPr/>
          <p:nvPr/>
        </p:nvSpPr>
        <p:spPr>
          <a:xfrm>
            <a:off x="3529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r"/>
          <p:cNvSpPr/>
          <p:nvPr/>
        </p:nvSpPr>
        <p:spPr>
          <a:xfrm>
            <a:off x="3529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b"/>
          <p:cNvSpPr/>
          <p:nvPr/>
        </p:nvSpPr>
        <p:spPr>
          <a:xfrm>
            <a:off x="3709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BOTH AXES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left and right axes so readers know each scale.</a:t>
            </a:r>
          </a:p>
        </p:txBody>
      </p:sp>
      <p:sp>
        <p:nvSpPr>
          <p:cNvPr id="26" name="rr"/>
          <p:cNvSpPr/>
          <p:nvPr/>
        </p:nvSpPr>
        <p:spPr>
          <a:xfrm>
            <a:off x="457200" y="4640000"/>
            <a:ext cx="5943600" cy="2360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"/>
          <p:cNvSpPr/>
          <p:nvPr/>
        </p:nvSpPr>
        <p:spPr>
          <a:xfrm>
            <a:off x="457200" y="4640000"/>
            <a:ext cx="100584" cy="236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b"/>
          <p:cNvSpPr/>
          <p:nvPr/>
        </p:nvSpPr>
        <p:spPr>
          <a:xfrm>
            <a:off x="700000" y="4790000"/>
            <a:ext cx="54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</a:p>
        </p:txBody>
      </p:sp>
      <p:sp>
        <p:nvSpPr>
          <p:cNvPr id="29" name="tb"/>
          <p:cNvSpPr/>
          <p:nvPr/>
        </p:nvSpPr>
        <p:spPr>
          <a:xfrm>
            <a:off x="700000" y="511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Combo chart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mixing two chart types, such as column and line.</a:t>
            </a:r>
          </a:p>
        </p:txBody>
      </p:sp>
      <p:sp>
        <p:nvSpPr>
          <p:cNvPr id="30" name="tb"/>
          <p:cNvSpPr/>
          <p:nvPr/>
        </p:nvSpPr>
        <p:spPr>
          <a:xfrm>
            <a:off x="700000" y="569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axis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value axis, usually on the right-hand side.</a:t>
            </a:r>
          </a:p>
        </p:txBody>
      </p:sp>
      <p:sp>
        <p:nvSpPr>
          <p:cNvPr id="31" name="tb"/>
          <p:cNvSpPr/>
          <p:nvPr/>
        </p:nvSpPr>
        <p:spPr>
          <a:xfrm>
            <a:off x="700000" y="627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related data values plotted on the chart.</a:t>
            </a:r>
          </a:p>
        </p:txBody>
      </p:sp>
      <p:sp>
        <p:nvSpPr>
          <p:cNvPr id="902" name="Source Band"/>
          <p:cNvSpPr/>
          <p:nvPr/>
        </p:nvSpPr>
        <p:spPr>
          <a:xfrm>
            <a:off x="0" y="7050000"/>
            <a:ext cx="6858000" cy="190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00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229340"/>
            <a:ext cx="2360000" cy="1541320"/>
          </a:xfrm>
          <a:prstGeom prst="rect">
            <a:avLst/>
          </a:prstGeom>
          <a:ln w="12700">
            <a:solidFill>
              <a:srgbClr val="0F7BA8"/>
            </a:solidFill>
          </a:ln>
        </p:spPr>
      </p:pic>
      <p:sp>
        <p:nvSpPr>
          <p:cNvPr id="901" name="Photo Caption"/>
          <p:cNvSpPr/>
          <p:nvPr/>
        </p:nvSpPr>
        <p:spPr>
          <a:xfrm>
            <a:off x="2980000" y="7220000"/>
            <a:ext cx="34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· RAINFALL &amp; TEMPERATURE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8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rainfall as columns and temperature as a line, then move temperature to a secondary axis and label both.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8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Insert ▸ Combo Chart ▸ Create Custom Combo Chart, then set the left axis 0–250 (step 50) and scale the right axis to the temperatures.</a:t>
            </a:r>
          </a:p>
          <a:p>
            <a:pPr marL="0" indent="0">
              <a:spcBef>
                <a:spcPts val="400"/>
              </a:spcBef>
              <a:buNone/>
            </a:pPr>
            <a:endParaRPr lang="en-US" sz="850" i="1">
              <a:solidFill>
                <a:srgbClr val="5A6B7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b"/>
          <p:cNvSpPr/>
          <p:nvPr/>
        </p:nvSpPr>
        <p:spPr>
          <a:xfrm>
            <a:off x="457200" y="420624"/>
            <a:ext cx="43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CLASS ACTIVITY</a:t>
            </a:r>
          </a:p>
        </p:txBody>
      </p:sp>
      <p:sp>
        <p:nvSpPr>
          <p:cNvPr id="4" name="rr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b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</a:p>
        </p:txBody>
      </p:sp>
      <p:sp>
        <p:nvSpPr>
          <p:cNvPr id="6" name="tb"/>
          <p:cNvSpPr/>
          <p:nvPr/>
        </p:nvSpPr>
        <p:spPr>
          <a:xfrm>
            <a:off x="457200" y="676656"/>
            <a:ext cx="40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Activity: Build &amp; Label a Chart</a:t>
            </a:r>
          </a:p>
        </p:txBody>
      </p:sp>
      <p:sp>
        <p:nvSpPr>
          <p:cNvPr id="7" name="tb"/>
          <p:cNvSpPr/>
          <p:nvPr/>
        </p:nvSpPr>
        <p:spPr>
          <a:xfrm>
            <a:off x="457200" y="1480000"/>
            <a:ext cx="5943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spreadsheet data to create, label and improve a chart of your own.</a:t>
            </a:r>
          </a:p>
        </p:txBody>
      </p:sp>
      <p:sp>
        <p:nvSpPr>
          <p:cNvPr id="8" name="rr"/>
          <p:cNvSpPr/>
          <p:nvPr/>
        </p:nvSpPr>
        <p:spPr>
          <a:xfrm>
            <a:off x="457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"/>
          <p:cNvSpPr/>
          <p:nvPr/>
        </p:nvSpPr>
        <p:spPr>
          <a:xfrm>
            <a:off x="457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b"/>
          <p:cNvSpPr/>
          <p:nvPr/>
        </p:nvSpPr>
        <p:spPr>
          <a:xfrm>
            <a:off x="637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DATA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employees.csv with job types and staff numbers.</a:t>
            </a:r>
          </a:p>
        </p:txBody>
      </p:sp>
      <p:sp>
        <p:nvSpPr>
          <p:cNvPr id="11" name="rr"/>
          <p:cNvSpPr/>
          <p:nvPr/>
        </p:nvSpPr>
        <p:spPr>
          <a:xfrm>
            <a:off x="3529200" y="200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"/>
          <p:cNvSpPr/>
          <p:nvPr/>
        </p:nvSpPr>
        <p:spPr>
          <a:xfrm>
            <a:off x="3529200" y="200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b"/>
          <p:cNvSpPr/>
          <p:nvPr/>
        </p:nvSpPr>
        <p:spPr>
          <a:xfrm>
            <a:off x="3709200" y="200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 CHART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the percentage of staff in each job type.</a:t>
            </a:r>
          </a:p>
        </p:txBody>
      </p:sp>
      <p:sp>
        <p:nvSpPr>
          <p:cNvPr id="14" name="rr"/>
          <p:cNvSpPr/>
          <p:nvPr/>
        </p:nvSpPr>
        <p:spPr>
          <a:xfrm>
            <a:off x="457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"/>
          <p:cNvSpPr/>
          <p:nvPr/>
        </p:nvSpPr>
        <p:spPr>
          <a:xfrm>
            <a:off x="457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b"/>
          <p:cNvSpPr/>
          <p:nvPr/>
        </p:nvSpPr>
        <p:spPr>
          <a:xfrm>
            <a:off x="637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CHART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the number of staff in each job type.</a:t>
            </a:r>
          </a:p>
        </p:txBody>
      </p:sp>
      <p:sp>
        <p:nvSpPr>
          <p:cNvPr id="17" name="rr"/>
          <p:cNvSpPr/>
          <p:nvPr/>
        </p:nvSpPr>
        <p:spPr>
          <a:xfrm>
            <a:off x="3529200" y="284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r"/>
          <p:cNvSpPr/>
          <p:nvPr/>
        </p:nvSpPr>
        <p:spPr>
          <a:xfrm>
            <a:off x="3529200" y="284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b"/>
          <p:cNvSpPr/>
          <p:nvPr/>
        </p:nvSpPr>
        <p:spPr>
          <a:xfrm>
            <a:off x="3709200" y="284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LABELS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clear title, axis titles and data labels.</a:t>
            </a:r>
          </a:p>
        </p:txBody>
      </p:sp>
      <p:sp>
        <p:nvSpPr>
          <p:cNvPr id="20" name="rr"/>
          <p:cNvSpPr/>
          <p:nvPr/>
        </p:nvSpPr>
        <p:spPr>
          <a:xfrm>
            <a:off x="457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"/>
          <p:cNvSpPr/>
          <p:nvPr/>
        </p:nvSpPr>
        <p:spPr>
          <a:xfrm>
            <a:off x="457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b"/>
          <p:cNvSpPr/>
          <p:nvPr/>
        </p:nvSpPr>
        <p:spPr>
          <a:xfrm>
            <a:off x="637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 A SECTOR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out one pie sector and recolour it to stand out.</a:t>
            </a:r>
          </a:p>
        </p:txBody>
      </p:sp>
      <p:sp>
        <p:nvSpPr>
          <p:cNvPr id="23" name="rr"/>
          <p:cNvSpPr/>
          <p:nvPr/>
        </p:nvSpPr>
        <p:spPr>
          <a:xfrm>
            <a:off x="3529200" y="3680000"/>
            <a:ext cx="2871600" cy="780000"/>
          </a:xfrm>
          <a:prstGeom prst="roundRect">
            <a:avLst>
              <a:gd name="adj" fmla="val 6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r"/>
          <p:cNvSpPr/>
          <p:nvPr/>
        </p:nvSpPr>
        <p:spPr>
          <a:xfrm>
            <a:off x="3529200" y="3680000"/>
            <a:ext cx="70000" cy="78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b"/>
          <p:cNvSpPr/>
          <p:nvPr/>
        </p:nvSpPr>
        <p:spPr>
          <a:xfrm>
            <a:off x="3709200" y="3680000"/>
            <a:ext cx="25716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88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chart shows the data most clearly, and why.</a:t>
            </a:r>
          </a:p>
        </p:txBody>
      </p:sp>
      <p:sp>
        <p:nvSpPr>
          <p:cNvPr id="26" name="rr"/>
          <p:cNvSpPr/>
          <p:nvPr/>
        </p:nvSpPr>
        <p:spPr>
          <a:xfrm>
            <a:off x="457200" y="4640000"/>
            <a:ext cx="5943600" cy="23600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r"/>
          <p:cNvSpPr/>
          <p:nvPr/>
        </p:nvSpPr>
        <p:spPr>
          <a:xfrm>
            <a:off x="457200" y="4640000"/>
            <a:ext cx="100584" cy="236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b"/>
          <p:cNvSpPr/>
          <p:nvPr/>
        </p:nvSpPr>
        <p:spPr>
          <a:xfrm>
            <a:off x="700000" y="4790000"/>
            <a:ext cx="54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</a:t>
            </a:r>
          </a:p>
        </p:txBody>
      </p:sp>
      <p:sp>
        <p:nvSpPr>
          <p:cNvPr id="29" name="tb"/>
          <p:cNvSpPr/>
          <p:nvPr/>
        </p:nvSpPr>
        <p:spPr>
          <a:xfrm>
            <a:off x="700000" y="511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both a pie chart and a column chart from the same data.</a:t>
            </a:r>
          </a:p>
        </p:txBody>
      </p:sp>
      <p:sp>
        <p:nvSpPr>
          <p:cNvPr id="30" name="tb"/>
          <p:cNvSpPr/>
          <p:nvPr/>
        </p:nvSpPr>
        <p:spPr>
          <a:xfrm>
            <a:off x="700000" y="569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label each chart so it needs no explanation.</a:t>
            </a:r>
          </a:p>
        </p:txBody>
      </p:sp>
      <p:sp>
        <p:nvSpPr>
          <p:cNvPr id="31" name="tb"/>
          <p:cNvSpPr/>
          <p:nvPr/>
        </p:nvSpPr>
        <p:spPr>
          <a:xfrm>
            <a:off x="700000" y="6270000"/>
            <a:ext cx="5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>
                <a:solidFill>
                  <a:srgbClr val="0F7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 — remove clutter and avoid 3-D effects.</a:t>
            </a:r>
          </a:p>
        </p:txBody>
      </p:sp>
      <p:sp>
        <p:nvSpPr>
          <p:cNvPr id="902" name="Source Band"/>
          <p:cNvSpPr/>
          <p:nvPr/>
        </p:nvSpPr>
        <p:spPr>
          <a:xfrm>
            <a:off x="0" y="7050000"/>
            <a:ext cx="6858000" cy="190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00" name="Photo"/>
          <p:cNvPicPr>
            <a:picLocks noChangeAspect="1"/>
          </p:cNvPicPr>
          <p:nvPr/>
        </p:nvPicPr>
        <p:blipFill>
          <a:blip r:embed="rId3"/>
          <a:srcRect t="1949" b="1949"/>
          <a:stretch>
            <a:fillRect/>
          </a:stretch>
        </p:blipFill>
        <p:spPr>
          <a:xfrm>
            <a:off x="457200" y="7220000"/>
            <a:ext cx="2360000" cy="1560000"/>
          </a:xfrm>
          <a:prstGeom prst="rect">
            <a:avLst/>
          </a:prstGeom>
          <a:ln w="12700">
            <a:solidFill>
              <a:srgbClr val="0F7BA8"/>
            </a:solidFill>
          </a:ln>
        </p:spPr>
      </p:pic>
      <p:sp>
        <p:nvSpPr>
          <p:cNvPr id="901" name="Photo Caption"/>
          <p:cNvSpPr/>
          <p:nvPr/>
        </p:nvSpPr>
        <p:spPr>
          <a:xfrm>
            <a:off x="2980000" y="7220000"/>
            <a:ext cx="342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8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created from highlighted spreadsheet data — select carefully before you insert.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700" i="1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photograph · for classroom reference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extracting a single pie sector to see how it draws attention to that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ursework Brie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50000"/>
            <a:ext cx="1645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  ·  SPREADSHEET SCENARIO</a:t>
            </a:r>
            <a:endParaRPr lang="en-US" sz="1050"/>
          </a:p>
        </p:txBody>
      </p:sp>
      <p:sp>
        <p:nvSpPr>
          <p:cNvPr id="5" name="Pill BG"/>
          <p:cNvSpPr/>
          <p:nvPr/>
        </p:nvSpPr>
        <p:spPr>
          <a:xfrm>
            <a:off x="4617720" y="540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Pill Text"/>
          <p:cNvSpPr/>
          <p:nvPr/>
        </p:nvSpPr>
        <p:spPr>
          <a:xfrm>
            <a:off x="4617720" y="540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</a:t>
            </a:r>
            <a:endParaRPr lang="en-US" sz="1100"/>
          </a:p>
        </p:txBody>
      </p:sp>
      <p:sp>
        <p:nvSpPr>
          <p:cNvPr id="7" name="Title"/>
          <p:cNvSpPr/>
          <p:nvPr/>
        </p:nvSpPr>
        <p:spPr>
          <a:xfrm>
            <a:off x="457200" y="93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Café Takings Model</a:t>
            </a:r>
            <a:endParaRPr lang="en-US" sz="2400"/>
          </a:p>
        </p:txBody>
      </p:sp>
      <p:sp>
        <p:nvSpPr>
          <p:cNvPr id="8" name="Intro"/>
          <p:cNvSpPr/>
          <p:nvPr/>
        </p:nvSpPr>
        <p:spPr>
          <a:xfrm>
            <a:off x="457200" y="150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exam-style task: build a spreadsheet model for the Sunrise Café so the owner can explore ‘what if’ pricing.</a:t>
            </a:r>
            <a:endParaRPr lang="en-US" sz="1200"/>
          </a:p>
        </p:txBody>
      </p:sp>
      <p:sp>
        <p:nvSpPr>
          <p:cNvPr id="10" name="Source Card BG"/>
          <p:cNvSpPr/>
          <p:nvPr/>
        </p:nvSpPr>
        <p:spPr>
          <a:xfrm>
            <a:off x="457200" y="2180000"/>
            <a:ext cx="5943600" cy="15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ource Card Accent"/>
          <p:cNvSpPr/>
          <p:nvPr/>
        </p:nvSpPr>
        <p:spPr>
          <a:xfrm>
            <a:off x="457200" y="2180000"/>
            <a:ext cx="80000" cy="1500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ource Card Text"/>
          <p:cNvSpPr/>
          <p:nvPr/>
        </p:nvSpPr>
        <p:spPr>
          <a:xfrm>
            <a:off x="677200" y="2340000"/>
            <a:ext cx="55036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SCENARIO  ·  SUNRISE CAFÉ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0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Sunrise Café sells five items. You are given the price of each item and the number sold on each day of one week. Build a model that finds the daily and weekly income, and lets the owner test new prices.</a:t>
            </a:r>
          </a:p>
        </p:txBody>
      </p:sp>
      <p:sp>
        <p:nvSpPr>
          <p:cNvPr id="20" name="Task Card BG"/>
          <p:cNvSpPr/>
          <p:nvPr/>
        </p:nvSpPr>
        <p:spPr>
          <a:xfrm>
            <a:off x="457200" y="3800000"/>
            <a:ext cx="5943600" cy="2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ask Card Accent"/>
          <p:cNvSpPr/>
          <p:nvPr/>
        </p:nvSpPr>
        <p:spPr>
          <a:xfrm>
            <a:off x="457200" y="3800000"/>
            <a:ext cx="80000" cy="262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ask Card Text"/>
          <p:cNvSpPr/>
          <p:nvPr/>
        </p:nvSpPr>
        <p:spPr>
          <a:xfrm>
            <a:off x="677200" y="3970000"/>
            <a:ext cx="550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items, their prices and the daily sales figures.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=Price*Quantity for each item’s income, with the price as an absolute reference.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SUM to total the daily and weekly takings.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AVERAGE for the mean daily income and ROUND it to 2 decimal places.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labelled column chart of income by item and a line graph of daily takings.</a:t>
            </a:r>
          </a:p>
        </p:txBody>
      </p:sp>
      <p:sp>
        <p:nvSpPr>
          <p:cNvPr id="50" name="Discuss Band"/>
          <p:cNvSpPr/>
          <p:nvPr/>
        </p:nvSpPr>
        <p:spPr>
          <a:xfrm>
            <a:off x="0" y="6650000"/>
            <a:ext cx="6858000" cy="97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Discuss Text"/>
          <p:cNvSpPr/>
          <p:nvPr/>
        </p:nvSpPr>
        <p:spPr>
          <a:xfrm>
            <a:off x="457200" y="6790000"/>
            <a:ext cx="59436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 ·  GO FURTHER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COUNTIF to count the days takings passed £500, and add conditional formatting to highlight the best-selling item.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9" name="Image 0" descr="Objecti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6" y="8065008"/>
            <a:ext cx="658368" cy="6583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00"/>
          </a:p>
        </p:txBody>
      </p:sp>
      <p:pic>
        <p:nvPicPr>
          <p:cNvPr id="31" name="Image 1" descr="Vocabula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8065008"/>
            <a:ext cx="658368" cy="6583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131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700"/>
          </a:p>
        </p:txBody>
      </p:sp>
      <p:pic>
        <p:nvPicPr>
          <p:cNvPr id="33" name="Image 2" descr="Success Criteri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416" y="8065008"/>
            <a:ext cx="658368" cy="6583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2799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/>
          </a:p>
        </p:txBody>
      </p:sp>
      <p:pic>
        <p:nvPicPr>
          <p:cNvPr id="35" name="Image 3" descr="Analys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3488" y="8065008"/>
            <a:ext cx="877824" cy="6583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3467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</a:t>
            </a:r>
            <a:endParaRPr lang="en-US" sz="700"/>
          </a:p>
        </p:txBody>
      </p:sp>
      <p:pic>
        <p:nvPicPr>
          <p:cNvPr id="37" name="Image 4" descr="Link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515" y="8065008"/>
            <a:ext cx="871369" cy="6583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4135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700"/>
          </a:p>
        </p:txBody>
      </p:sp>
      <p:pic>
        <p:nvPicPr>
          <p:cNvPr id="39" name="Image 5" descr="AI Concep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172" y="8065008"/>
            <a:ext cx="659656" cy="6583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480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udent Check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2" action="ppaction://hlinksldjump" tooltip="Back to roadmap"/>
          </p:cNvPr>
          <p:cNvSpPr/>
          <p:nvPr/>
        </p:nvSpPr>
        <p:spPr>
          <a:xfrm>
            <a:off x="457200" y="250000"/>
            <a:ext cx="1645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  ·  CHECKLIST</a:t>
            </a:r>
            <a:endParaRPr lang="en-US" sz="1050"/>
          </a:p>
        </p:txBody>
      </p:sp>
      <p:sp>
        <p:nvSpPr>
          <p:cNvPr id="5" name="Pill BG"/>
          <p:cNvSpPr/>
          <p:nvPr/>
        </p:nvSpPr>
        <p:spPr>
          <a:xfrm>
            <a:off x="4617720" y="540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Pill Text"/>
          <p:cNvSpPr/>
          <p:nvPr/>
        </p:nvSpPr>
        <p:spPr>
          <a:xfrm>
            <a:off x="4617720" y="540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/>
          </a:p>
        </p:txBody>
      </p:sp>
      <p:sp>
        <p:nvSpPr>
          <p:cNvPr id="7" name="Title"/>
          <p:cNvSpPr/>
          <p:nvPr/>
        </p:nvSpPr>
        <p:spPr>
          <a:xfrm>
            <a:off x="457200" y="93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Sunrise Café Model Checklist</a:t>
            </a:r>
            <a:endParaRPr lang="en-US" sz="2400"/>
          </a:p>
        </p:txBody>
      </p:sp>
      <p:sp>
        <p:nvSpPr>
          <p:cNvPr id="8" name="Intro"/>
          <p:cNvSpPr/>
          <p:nvPr/>
        </p:nvSpPr>
        <p:spPr>
          <a:xfrm>
            <a:off x="457200" y="150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each box as you finish it. Print this page and keep it beside your work as you build.</a:t>
            </a:r>
            <a:endParaRPr lang="en-US" sz="1200"/>
          </a:p>
        </p:txBody>
      </p:sp>
      <p:sp>
        <p:nvSpPr>
          <p:cNvPr id="10" name="Source Card BG"/>
          <p:cNvSpPr/>
          <p:nvPr/>
        </p:nvSpPr>
        <p:spPr>
          <a:xfrm>
            <a:off x="457200" y="2180000"/>
            <a:ext cx="5943600" cy="15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ource Card Accent"/>
          <p:cNvSpPr/>
          <p:nvPr/>
        </p:nvSpPr>
        <p:spPr>
          <a:xfrm>
            <a:off x="457200" y="2180000"/>
            <a:ext cx="80000" cy="1500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ource Card Text"/>
          <p:cNvSpPr/>
          <p:nvPr/>
        </p:nvSpPr>
        <p:spPr>
          <a:xfrm>
            <a:off x="677200" y="2340000"/>
            <a:ext cx="55036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 BUILD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prices and daily sales entered accurately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=Price*Quantity income formulae using an absolute price reference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totals for daily and weekly takings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income, ROUNDed to 2 decimal places</a:t>
            </a:r>
          </a:p>
        </p:txBody>
      </p:sp>
      <p:sp>
        <p:nvSpPr>
          <p:cNvPr id="20" name="Task Card BG"/>
          <p:cNvSpPr/>
          <p:nvPr/>
        </p:nvSpPr>
        <p:spPr>
          <a:xfrm>
            <a:off x="457200" y="3800000"/>
            <a:ext cx="5943600" cy="2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ask Card Accent"/>
          <p:cNvSpPr/>
          <p:nvPr/>
        </p:nvSpPr>
        <p:spPr>
          <a:xfrm>
            <a:off x="457200" y="3800000"/>
            <a:ext cx="80000" cy="262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ask Card Text"/>
          <p:cNvSpPr/>
          <p:nvPr/>
        </p:nvSpPr>
        <p:spPr>
          <a:xfrm>
            <a:off x="677200" y="3970000"/>
            <a:ext cx="550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FINISH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of income by item, fully labelled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graph of daily takings with title and axis labels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formatting applied to all money values</a:t>
            </a:r>
          </a:p>
          <a:p>
            <a:pPr marL="342900" indent="-342900">
              <a:spcBef>
                <a:spcPts val="700"/>
              </a:spcBef>
              <a:buNone/>
            </a:pPr>
            <a:r>
              <a:rPr lang="en-US" sz="1100" b="1">
                <a:solidFill>
                  <a:srgbClr val="159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 </a:t>
            </a: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shown on the printout</a:t>
            </a:r>
          </a:p>
        </p:txBody>
      </p:sp>
      <p:sp>
        <p:nvSpPr>
          <p:cNvPr id="50" name="Discuss Band"/>
          <p:cNvSpPr/>
          <p:nvPr/>
        </p:nvSpPr>
        <p:spPr>
          <a:xfrm>
            <a:off x="0" y="6650000"/>
            <a:ext cx="6858000" cy="97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Discuss Text"/>
          <p:cNvSpPr/>
          <p:nvPr/>
        </p:nvSpPr>
        <p:spPr>
          <a:xfrm>
            <a:off x="457200" y="6790000"/>
            <a:ext cx="59436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HAND IN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formulae view to check your calculations, then print both the values and the formulae.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9" name="Image 0" descr="Objecti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16" y="8065008"/>
            <a:ext cx="658368" cy="6583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00"/>
          </a:p>
        </p:txBody>
      </p:sp>
      <p:pic>
        <p:nvPicPr>
          <p:cNvPr id="31" name="Image 1" descr="Vocabula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616" y="8065008"/>
            <a:ext cx="658368" cy="6583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131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700"/>
          </a:p>
        </p:txBody>
      </p:sp>
      <p:pic>
        <p:nvPicPr>
          <p:cNvPr id="33" name="Image 2" descr="Success Criter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416" y="8065008"/>
            <a:ext cx="658368" cy="6583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2799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/>
          </a:p>
        </p:txBody>
      </p:sp>
      <p:pic>
        <p:nvPicPr>
          <p:cNvPr id="35" name="Image 3" descr="Analys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3488" y="8065008"/>
            <a:ext cx="877824" cy="6583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3467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</a:t>
            </a:r>
            <a:endParaRPr lang="en-US" sz="700"/>
          </a:p>
        </p:txBody>
      </p:sp>
      <p:pic>
        <p:nvPicPr>
          <p:cNvPr id="37" name="Image 4" descr="Link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3515" y="8065008"/>
            <a:ext cx="871369" cy="6583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4135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700"/>
          </a:p>
        </p:txBody>
      </p:sp>
      <p:pic>
        <p:nvPicPr>
          <p:cNvPr id="39" name="Image 5" descr="AI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6172" y="8065008"/>
            <a:ext cx="659656" cy="6583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480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uick Quiz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Roadmap Link">
            <a:hlinkClick r:id="rId3" action="ppaction://hlinksldjump" tooltip="Back to roadmap"/>
          </p:cNvPr>
          <p:cNvSpPr/>
          <p:nvPr/>
        </p:nvSpPr>
        <p:spPr>
          <a:xfrm>
            <a:off x="457200" y="250000"/>
            <a:ext cx="1645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u="sng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Back to road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Roadmap</a:t>
            </a:r>
            <a:endParaRPr lang="en-US" sz="1050"/>
          </a:p>
        </p:txBody>
      </p:sp>
      <p:sp>
        <p:nvSpPr>
          <p:cNvPr id="4" name="Eyebrow"/>
          <p:cNvSpPr/>
          <p:nvPr/>
        </p:nvSpPr>
        <p:spPr>
          <a:xfrm>
            <a:off x="457200" y="600000"/>
            <a:ext cx="4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  ·  QUICK QUIZ</a:t>
            </a:r>
            <a:endParaRPr lang="en-US" sz="1050"/>
          </a:p>
        </p:txBody>
      </p:sp>
      <p:sp>
        <p:nvSpPr>
          <p:cNvPr id="5" name="Pill BG"/>
          <p:cNvSpPr/>
          <p:nvPr/>
        </p:nvSpPr>
        <p:spPr>
          <a:xfrm>
            <a:off x="4617720" y="5400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Pill Text"/>
          <p:cNvSpPr/>
          <p:nvPr/>
        </p:nvSpPr>
        <p:spPr>
          <a:xfrm>
            <a:off x="4617720" y="540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100"/>
          </a:p>
        </p:txBody>
      </p:sp>
      <p:sp>
        <p:nvSpPr>
          <p:cNvPr id="7" name="Title"/>
          <p:cNvSpPr/>
          <p:nvPr/>
        </p:nvSpPr>
        <p:spPr>
          <a:xfrm>
            <a:off x="457200" y="93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Quiz: Check Your Understanding</a:t>
            </a:r>
            <a:endParaRPr lang="en-US" sz="2000"/>
          </a:p>
        </p:txBody>
      </p:sp>
      <p:sp>
        <p:nvSpPr>
          <p:cNvPr id="8" name="Intro"/>
          <p:cNvSpPr/>
          <p:nvPr/>
        </p:nvSpPr>
        <p:spPr>
          <a:xfrm>
            <a:off x="457200" y="1500000"/>
            <a:ext cx="5943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exam-style questions from memory. The marks are shown for each one, and the answers are in the teaching notes.</a:t>
            </a:r>
            <a:endParaRPr lang="en-US" sz="1200"/>
          </a:p>
        </p:txBody>
      </p:sp>
      <p:sp>
        <p:nvSpPr>
          <p:cNvPr id="10" name="Source Card BG"/>
          <p:cNvSpPr/>
          <p:nvPr/>
        </p:nvSpPr>
        <p:spPr>
          <a:xfrm>
            <a:off x="457200" y="2180000"/>
            <a:ext cx="5943600" cy="1500000"/>
          </a:xfrm>
          <a:prstGeom prst="roundRect">
            <a:avLst>
              <a:gd name="adj" fmla="val 40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ource Card Accent"/>
          <p:cNvSpPr/>
          <p:nvPr/>
        </p:nvSpPr>
        <p:spPr>
          <a:xfrm>
            <a:off x="457200" y="2180000"/>
            <a:ext cx="80000" cy="1500000"/>
          </a:xfrm>
          <a:prstGeom prst="rect">
            <a:avLst/>
          </a:prstGeom>
          <a:solidFill>
            <a:srgbClr val="B886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ource Card Text"/>
          <p:cNvSpPr/>
          <p:nvPr/>
        </p:nvSpPr>
        <p:spPr>
          <a:xfrm>
            <a:off x="677200" y="2340000"/>
            <a:ext cx="55036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 ·  RECALL  ·  1 MARK EACH</a:t>
            </a:r>
          </a:p>
          <a:p>
            <a:pPr marL="285750" indent="-285750">
              <a:spcBef>
                <a:spcPts val="500"/>
              </a:spcBef>
              <a:buFont typeface="+mj-lt"/>
              <a:buAutoNum type="arabicPeriod"/>
            </a:pPr>
            <a:r>
              <a:rPr lang="en-US" sz="110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symbol must every formula start with?</a:t>
            </a:r>
          </a:p>
          <a:p>
            <a:pPr marL="285750" indent="-285750">
              <a:spcBef>
                <a:spcPts val="300"/>
              </a:spcBef>
              <a:buFont typeface="+mj-lt"/>
              <a:buAutoNum type="arabicPeriod"/>
            </a:pPr>
            <a:r>
              <a:rPr lang="en-US" sz="110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$ sign do in a cell reference?</a:t>
            </a:r>
          </a:p>
          <a:p>
            <a:pPr marL="285750" indent="-285750">
              <a:spcBef>
                <a:spcPts val="300"/>
              </a:spcBef>
              <a:buFont typeface="+mj-lt"/>
              <a:buAutoNum type="arabicPeriod"/>
            </a:pPr>
            <a:r>
              <a:rPr lang="en-US" sz="110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 type best shows change over time?</a:t>
            </a:r>
          </a:p>
        </p:txBody>
      </p:sp>
      <p:sp>
        <p:nvSpPr>
          <p:cNvPr id="20" name="Task Card BG"/>
          <p:cNvSpPr/>
          <p:nvPr/>
        </p:nvSpPr>
        <p:spPr>
          <a:xfrm>
            <a:off x="457200" y="3800000"/>
            <a:ext cx="5943600" cy="2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ask Card Accent"/>
          <p:cNvSpPr/>
          <p:nvPr/>
        </p:nvSpPr>
        <p:spPr>
          <a:xfrm>
            <a:off x="457200" y="3800000"/>
            <a:ext cx="80000" cy="262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2" name="Task Card Text"/>
          <p:cNvSpPr/>
          <p:nvPr/>
        </p:nvSpPr>
        <p:spPr>
          <a:xfrm>
            <a:off x="677200" y="3970000"/>
            <a:ext cx="550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spc="4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 ·  SHORT ANSWER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formula to add cells B2 to B7. (1 mark)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relative and an absolute reference. (2 marks)</a:t>
            </a:r>
          </a:p>
          <a:p>
            <a:pPr marL="285750" indent="-285750">
              <a:spcBef>
                <a:spcPts val="600"/>
              </a:spcBef>
              <a:buFont typeface="+mj-lt"/>
              <a:buAutoNum type="arabicPeriod"/>
            </a:pPr>
            <a:r>
              <a:rPr lang="en-US" sz="115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to label the axes of a chart. (1 mark)</a:t>
            </a:r>
          </a:p>
        </p:txBody>
      </p:sp>
      <p:sp>
        <p:nvSpPr>
          <p:cNvPr id="50" name="Discuss Band"/>
          <p:cNvSpPr/>
          <p:nvPr/>
        </p:nvSpPr>
        <p:spPr>
          <a:xfrm>
            <a:off x="0" y="6650000"/>
            <a:ext cx="6858000" cy="970000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Discuss Text"/>
          <p:cNvSpPr/>
          <p:nvPr/>
        </p:nvSpPr>
        <p:spPr>
          <a:xfrm>
            <a:off x="457200" y="6790000"/>
            <a:ext cx="59436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·  SUNRISE CAFÉ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150">
                <a:solidFill>
                  <a:srgbClr val="10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formula that multiplies an item's price in B$1 by its quantity in C4, and say why the price reference is absolute.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0" y="7699248"/>
            <a:ext cx="6858000" cy="1444752"/>
          </a:xfrm>
          <a:prstGeom prst="rect">
            <a:avLst/>
          </a:prstGeom>
          <a:solidFill>
            <a:srgbClr val="EAF5F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8" name="Text 26"/>
          <p:cNvSpPr/>
          <p:nvPr/>
        </p:nvSpPr>
        <p:spPr>
          <a:xfrm>
            <a:off x="457200" y="77906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LINKS FOR THIS TASK</a:t>
            </a:r>
            <a:endParaRPr lang="en-US" sz="900"/>
          </a:p>
        </p:txBody>
      </p:sp>
      <p:pic>
        <p:nvPicPr>
          <p:cNvPr id="29" name="Image 0" descr="Objecti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16" y="8065008"/>
            <a:ext cx="658368" cy="6583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6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00"/>
          </a:p>
        </p:txBody>
      </p:sp>
      <p:pic>
        <p:nvPicPr>
          <p:cNvPr id="31" name="Image 1" descr="Vocabular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8065008"/>
            <a:ext cx="658368" cy="6583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2131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700"/>
          </a:p>
        </p:txBody>
      </p:sp>
      <p:pic>
        <p:nvPicPr>
          <p:cNvPr id="33" name="Image 2" descr="Success Criteri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416" y="8065008"/>
            <a:ext cx="658368" cy="6583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22799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700"/>
          </a:p>
        </p:txBody>
      </p:sp>
      <p:pic>
        <p:nvPicPr>
          <p:cNvPr id="35" name="Image 3" descr="Analys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3488" y="8065008"/>
            <a:ext cx="877824" cy="6583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3467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</a:t>
            </a:r>
            <a:endParaRPr lang="en-US" sz="700"/>
          </a:p>
        </p:txBody>
      </p:sp>
      <p:pic>
        <p:nvPicPr>
          <p:cNvPr id="37" name="Image 4" descr="Link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3515" y="8065008"/>
            <a:ext cx="871369" cy="65836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4135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6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</a:t>
            </a:r>
            <a:endParaRPr lang="en-US" sz="700"/>
          </a:p>
        </p:txBody>
      </p:sp>
      <p:pic>
        <p:nvPicPr>
          <p:cNvPr id="39" name="Image 5" descr="AI Concep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172" y="8065008"/>
            <a:ext cx="659656" cy="6583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480304" y="8750808"/>
            <a:ext cx="1231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700" b="1">
                <a:solidFill>
                  <a:srgbClr val="1C4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Concepts</a:t>
            </a:r>
            <a:endParaRPr lang="en-US"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tb"/>
          <p:cNvSpPr/>
          <p:nvPr/>
        </p:nvSpPr>
        <p:spPr>
          <a:xfrm>
            <a:off x="457200" y="420624"/>
            <a:ext cx="43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PRACTICE · REVIEW</a:t>
            </a:r>
          </a:p>
        </p:txBody>
      </p:sp>
      <p:sp>
        <p:nvSpPr>
          <p:cNvPr id="4" name="rr"/>
          <p:cNvSpPr/>
          <p:nvPr/>
        </p:nvSpPr>
        <p:spPr>
          <a:xfrm>
            <a:off x="4617720" y="3840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b"/>
          <p:cNvSpPr/>
          <p:nvPr/>
        </p:nvSpPr>
        <p:spPr>
          <a:xfrm>
            <a:off x="4617720" y="3840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</a:p>
        </p:txBody>
      </p:sp>
      <p:sp>
        <p:nvSpPr>
          <p:cNvPr id="6" name="tb"/>
          <p:cNvSpPr/>
          <p:nvPr/>
        </p:nvSpPr>
        <p:spPr>
          <a:xfrm>
            <a:off x="457200" y="676656"/>
            <a:ext cx="40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3-2-1: What You’ve Learned</a:t>
            </a:r>
          </a:p>
        </p:txBody>
      </p:sp>
      <p:sp>
        <p:nvSpPr>
          <p:cNvPr id="7" name="tb"/>
          <p:cNvSpPr/>
          <p:nvPr/>
        </p:nvSpPr>
        <p:spPr>
          <a:xfrm>
            <a:off x="457200" y="1480000"/>
            <a:ext cx="5943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100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across the unit — the models, formulae, functions and charts you have built.</a:t>
            </a:r>
          </a:p>
        </p:txBody>
      </p:sp>
      <p:sp>
        <p:nvSpPr>
          <p:cNvPr id="8" name="rr"/>
          <p:cNvSpPr/>
          <p:nvPr/>
        </p:nvSpPr>
        <p:spPr>
          <a:xfrm>
            <a:off x="457200" y="2080000"/>
            <a:ext cx="5943600" cy="1620000"/>
          </a:xfrm>
          <a:prstGeom prst="roundRect">
            <a:avLst>
              <a:gd name="adj" fmla="val 4500"/>
            </a:avLst>
          </a:prstGeom>
          <a:solidFill>
            <a:srgbClr val="EAF4FA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"/>
          <p:cNvSpPr/>
          <p:nvPr/>
        </p:nvSpPr>
        <p:spPr>
          <a:xfrm>
            <a:off x="457200" y="2080000"/>
            <a:ext cx="100584" cy="1620000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rr"/>
          <p:cNvSpPr/>
          <p:nvPr/>
        </p:nvSpPr>
        <p:spPr>
          <a:xfrm>
            <a:off x="680000" y="2440000"/>
            <a:ext cx="900000" cy="900000"/>
          </a:xfrm>
          <a:prstGeom prst="roundRect">
            <a:avLst>
              <a:gd name="adj" fmla="val 18000"/>
            </a:avLst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b"/>
          <p:cNvSpPr/>
          <p:nvPr/>
        </p:nvSpPr>
        <p:spPr>
          <a:xfrm>
            <a:off x="680000" y="2440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</a:p>
        </p:txBody>
      </p:sp>
      <p:sp>
        <p:nvSpPr>
          <p:cNvPr id="12" name="tb"/>
          <p:cNvSpPr/>
          <p:nvPr/>
        </p:nvSpPr>
        <p:spPr>
          <a:xfrm>
            <a:off x="1800000" y="2080000"/>
            <a:ext cx="440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chart types you can now choose between with confidence: pie, bar and line.</a:t>
            </a:r>
          </a:p>
        </p:txBody>
      </p:sp>
      <p:sp>
        <p:nvSpPr>
          <p:cNvPr id="13" name="rr"/>
          <p:cNvSpPr/>
          <p:nvPr/>
        </p:nvSpPr>
        <p:spPr>
          <a:xfrm>
            <a:off x="457200" y="3860000"/>
            <a:ext cx="5943600" cy="1620000"/>
          </a:xfrm>
          <a:prstGeom prst="roundRect">
            <a:avLst>
              <a:gd name="adj" fmla="val 4500"/>
            </a:avLst>
          </a:prstGeom>
          <a:solidFill>
            <a:srgbClr val="F4FBFE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"/>
          <p:cNvSpPr/>
          <p:nvPr/>
        </p:nvSpPr>
        <p:spPr>
          <a:xfrm>
            <a:off x="457200" y="3860000"/>
            <a:ext cx="100584" cy="1620000"/>
          </a:xfrm>
          <a:prstGeom prst="rect">
            <a:avLst/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rr"/>
          <p:cNvSpPr/>
          <p:nvPr/>
        </p:nvSpPr>
        <p:spPr>
          <a:xfrm>
            <a:off x="680000" y="4220000"/>
            <a:ext cx="900000" cy="900000"/>
          </a:xfrm>
          <a:prstGeom prst="roundRect">
            <a:avLst>
              <a:gd name="adj" fmla="val 18000"/>
            </a:avLst>
          </a:prstGeom>
          <a:solidFill>
            <a:srgbClr val="0F7BA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b"/>
          <p:cNvSpPr/>
          <p:nvPr/>
        </p:nvSpPr>
        <p:spPr>
          <a:xfrm>
            <a:off x="680000" y="4220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</a:p>
        </p:txBody>
      </p:sp>
      <p:sp>
        <p:nvSpPr>
          <p:cNvPr id="17" name="tb"/>
          <p:cNvSpPr/>
          <p:nvPr/>
        </p:nvSpPr>
        <p:spPr>
          <a:xfrm>
            <a:off x="1800000" y="3860000"/>
            <a:ext cx="440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 you would use in a spreadsheet model, and why each one fits.</a:t>
            </a:r>
          </a:p>
        </p:txBody>
      </p:sp>
      <p:sp>
        <p:nvSpPr>
          <p:cNvPr id="18" name="rr"/>
          <p:cNvSpPr/>
          <p:nvPr/>
        </p:nvSpPr>
        <p:spPr>
          <a:xfrm>
            <a:off x="457200" y="5640000"/>
            <a:ext cx="5943600" cy="1620000"/>
          </a:xfrm>
          <a:prstGeom prst="roundRect">
            <a:avLst>
              <a:gd name="adj" fmla="val 4500"/>
            </a:avLst>
          </a:prstGeom>
          <a:solidFill>
            <a:srgbClr val="EAF4FA"/>
          </a:solidFill>
          <a:ln w="12700">
            <a:solidFill>
              <a:srgbClr val="D7EBF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"/>
          <p:cNvSpPr/>
          <p:nvPr/>
        </p:nvSpPr>
        <p:spPr>
          <a:xfrm>
            <a:off x="457200" y="5640000"/>
            <a:ext cx="100584" cy="1620000"/>
          </a:xfrm>
          <a:prstGeom prst="rect">
            <a:avLst/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rr"/>
          <p:cNvSpPr/>
          <p:nvPr/>
        </p:nvSpPr>
        <p:spPr>
          <a:xfrm>
            <a:off x="680000" y="6000000"/>
            <a:ext cx="900000" cy="900000"/>
          </a:xfrm>
          <a:prstGeom prst="roundRect">
            <a:avLst>
              <a:gd name="adj" fmla="val 18000"/>
            </a:avLst>
          </a:prstGeom>
          <a:solidFill>
            <a:srgbClr val="10324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1" name="tb"/>
          <p:cNvSpPr/>
          <p:nvPr/>
        </p:nvSpPr>
        <p:spPr>
          <a:xfrm>
            <a:off x="680000" y="6000000"/>
            <a:ext cx="9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</a:p>
        </p:txBody>
      </p:sp>
      <p:sp>
        <p:nvSpPr>
          <p:cNvPr id="22" name="tb"/>
          <p:cNvSpPr/>
          <p:nvPr/>
        </p:nvSpPr>
        <p:spPr>
          <a:xfrm>
            <a:off x="1800000" y="5640000"/>
            <a:ext cx="440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>
                <a:solidFill>
                  <a:srgbClr val="213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‘what if’ question you could answer by changing a value in your own model.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ormula Quick Refere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6858000" cy="146304"/>
          </a:xfrm>
          <a:prstGeom prst="rect">
            <a:avLst/>
          </a:prstGeom>
          <a:solidFill>
            <a:srgbClr val="159BD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Eyebrow"/>
          <p:cNvSpPr/>
          <p:nvPr/>
        </p:nvSpPr>
        <p:spPr>
          <a:xfrm>
            <a:off x="457200" y="420624"/>
            <a:ext cx="42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0F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· FORMULA SUMMARY</a:t>
            </a:r>
          </a:p>
        </p:txBody>
      </p:sp>
      <p:sp>
        <p:nvSpPr>
          <p:cNvPr id="4" name="Pill BG"/>
          <p:cNvSpPr/>
          <p:nvPr/>
        </p:nvSpPr>
        <p:spPr>
          <a:xfrm>
            <a:off x="4900000" y="384048"/>
            <a:ext cx="1500800" cy="384048"/>
          </a:xfrm>
          <a:prstGeom prst="roundRect">
            <a:avLst>
              <a:gd name="adj" fmla="val 19048"/>
            </a:avLst>
          </a:prstGeom>
          <a:solidFill>
            <a:srgbClr val="1032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BF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792555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>
                <a:solidFill>
                  <a:srgbClr val="103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Quick Reference</a:t>
            </a:r>
          </a:p>
        </p:txBody>
      </p:sp>
      <p:sp>
        <p:nvSpPr>
          <p:cNvPr id="6" name="Subtitle"/>
          <p:cNvSpPr/>
          <p:nvPr/>
        </p:nvSpPr>
        <p:spPr>
          <a:xfrm>
            <a:off x="457200" y="1330000"/>
            <a:ext cx="59436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from the tasks, plus common error messages, with a worked example and its result.</a:t>
            </a:r>
          </a:p>
        </p:txBody>
      </p:sp>
      <p:graphicFrame>
        <p:nvGraphicFramePr>
          <p:cNvPr id="7" name="Formul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98349"/>
              </p:ext>
            </p:extLst>
          </p:nvPr>
        </p:nvGraphicFramePr>
        <p:xfrm>
          <a:off x="457200" y="1560000"/>
          <a:ext cx="5943600" cy="6920000"/>
        </p:xfrm>
        <a:graphic>
          <a:graphicData uri="http://schemas.openxmlformats.org/drawingml/2006/table">
            <a:tbl>
              <a:tblPr firstRow="1"/>
              <a:tblGrid>
                <a:gridCol w="11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Function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What it does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Example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10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SUM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Adds all values in a range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=SUM(B4:B8) → 80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AVERAGE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Finds the mean of a range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=AVERAGE(B4:B8) → 16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MAX / MIN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Largest / smallest value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=MAX(B4:B8) → 26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COUNT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Counts cells holding numbers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=COUNT(B4:B8) → 5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COUNTA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Counts all non-empty cells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=COUNTA(B3:B21) → 19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ROUND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Rounds to set decimal places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=ROUND(D3,2)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IF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Tests a condition, gives one of two answers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=IF(C3&gt;=10,"Yes","No")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COUNTIF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Counts cells that meet a condition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=COUNTIF($B$3:$B$21,"Director")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HLOOKUP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Looks along a row to fetch a value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=HLOOKUP(B6,$B$2:$H$3,2)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VLOOKUP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Looks down a column to fetch a value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=VLOOKUP(B3,$A$2:$B$8,2,FALSE)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0324B"/>
                          </a:solidFill>
                          <a:latin typeface="Calibri" pitchFamily="34" charset="0"/>
                          <a:cs typeface="Calibri" pitchFamily="34" charset="0"/>
                        </a:rPr>
                        <a:t>XLOOKUP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Modern, flexible exact-match lookup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=XLOOKUP(B3,$B$2:$B$8,$A$2:$A$8)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000">
                <a:tc gridSpan="3">
                  <a:txBody>
                    <a:bodyPr/>
                    <a:lstStyle/>
                    <a:p>
                      <a:pPr algn="l"/>
                      <a:r>
                        <a:rPr lang="en-US" sz="1000" b="1" spc="15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0"/>
                        </a:rPr>
                        <a:t>COMMON ERROR MESSAGES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0F7B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 pitchFamily="34" charset="0"/>
                          <a:cs typeface="Calibri" pitchFamily="34" charset="0"/>
                        </a:rPr>
                        <a:t>#DIV/0!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C0392B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Dividing by zero or an empty cell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=A1/0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B8862B"/>
                          </a:solidFill>
                          <a:latin typeface="Calibri" pitchFamily="34" charset="0"/>
                          <a:cs typeface="Calibri" pitchFamily="34" charset="0"/>
                        </a:rPr>
                        <a:t>#N/A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B8862B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A lookup found no matching value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=VLOOKUP(B3,$A$2:$B$8,2,FALSE)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8E44AD"/>
                          </a:solidFill>
                          <a:latin typeface="Calibri" pitchFamily="34" charset="0"/>
                          <a:cs typeface="Calibri" pitchFamily="34" charset="0"/>
                        </a:rPr>
                        <a:t>#REF!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8E44AD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A referenced cell was deleted or moved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=SUM(A1,#REF!)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1F8A70"/>
                          </a:solidFill>
                          <a:latin typeface="Calibri" pitchFamily="34" charset="0"/>
                          <a:cs typeface="Calibri" pitchFamily="34" charset="0"/>
                        </a:rPr>
                        <a:t>#VALUE!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1F8A70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Text used where a number is needed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=A1+"text"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2471A3"/>
                          </a:solidFill>
                          <a:latin typeface="Calibri" pitchFamily="34" charset="0"/>
                          <a:cs typeface="Calibri" pitchFamily="34" charset="0"/>
                        </a:rPr>
                        <a:t>#NAME?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2471A3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A function or range name is misspelt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=SUUM(B4:B8)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D35400"/>
                          </a:solidFill>
                          <a:latin typeface="Calibri" pitchFamily="34" charset="0"/>
                          <a:cs typeface="Calibri" pitchFamily="34" charset="0"/>
                        </a:rPr>
                        <a:t>#NUM!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D35400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A calculation produces an invalid number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=SQRT(-1)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566573"/>
                          </a:solidFill>
                          <a:latin typeface="Calibri" pitchFamily="34" charset="0"/>
                          <a:cs typeface="Calibri" pitchFamily="34" charset="0"/>
                        </a:rPr>
                        <a:t>#NULL!</a:t>
                      </a:r>
                    </a:p>
                  </a:txBody>
                  <a:tcPr marL="45000" marR="45000" marT="9000" marB="9000" anchor="ctr">
                    <a:lnL w="38100">
                      <a:solidFill>
                        <a:srgbClr val="566573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>
                          <a:solidFill>
                            <a:srgbClr val="21323D"/>
                          </a:solidFill>
                          <a:latin typeface="Calibri" pitchFamily="34" charset="0"/>
                          <a:cs typeface="Calibri" pitchFamily="34" charset="0"/>
                        </a:rPr>
                        <a:t>Ranges in a formula do not intersect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50" b="1">
                          <a:solidFill>
                            <a:srgbClr val="0F7BA8"/>
                          </a:solidFill>
                          <a:latin typeface="Calibri" pitchFamily="34" charset="0"/>
                          <a:cs typeface="Calibri" pitchFamily="34" charset="0"/>
                        </a:rPr>
                        <a:t>=SUM(A1:A3 C1:C3)</a:t>
                      </a:r>
                    </a:p>
                  </a:txBody>
                  <a:tcPr marL="45000" marR="45000" marT="9000" marB="9000" anchor="ctr">
                    <a:lnL w="6350">
                      <a:solidFill>
                        <a:srgbClr val="D7EBF5"/>
                      </a:solidFill>
                    </a:lnL>
                    <a:lnR w="6350">
                      <a:solidFill>
                        <a:srgbClr val="D7EBF5"/>
                      </a:solidFill>
                    </a:lnR>
                    <a:lnT w="6350">
                      <a:solidFill>
                        <a:srgbClr val="D7EBF5"/>
                      </a:solidFill>
                    </a:lnT>
                    <a:lnB w="6350">
                      <a:solidFill>
                        <a:srgbClr val="D7EBF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9820</TotalTime>
  <Words>6518</Words>
  <Application>Microsoft Macintosh PowerPoint</Application>
  <PresentationFormat>On-screen Show (4:3)</PresentationFormat>
  <Paragraphs>767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Michael Stevens</dc:creator>
  <cp:lastModifiedBy>John Michael Stevens</cp:lastModifiedBy>
  <cp:revision>15</cp:revision>
  <dcterms:created xsi:type="dcterms:W3CDTF">2026-06-25T02:23:13Z</dcterms:created>
  <dcterms:modified xsi:type="dcterms:W3CDTF">2026-07-06T07:01:38Z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f93e8-aad2-466b-adfa-0d01d2da556d_Enabled">
    <vt:lpwstr>true</vt:lpwstr>
  </property>
  <property fmtid="{D5CDD505-2E9C-101B-9397-08002B2CF9AE}" pid="3" name="MSIP_Label_a7bf93e8-aad2-466b-adfa-0d01d2da556d_SetDate">
    <vt:lpwstr>2026-06-25T02:27:57Z</vt:lpwstr>
  </property>
  <property fmtid="{D5CDD505-2E9C-101B-9397-08002B2CF9AE}" pid="4" name="MSIP_Label_a7bf93e8-aad2-466b-adfa-0d01d2da556d_Method">
    <vt:lpwstr>Standard</vt:lpwstr>
  </property>
  <property fmtid="{D5CDD505-2E9C-101B-9397-08002B2CF9AE}" pid="5" name="MSIP_Label_a7bf93e8-aad2-466b-adfa-0d01d2da556d_Name">
    <vt:lpwstr>Internal - General Purpose</vt:lpwstr>
  </property>
  <property fmtid="{D5CDD505-2E9C-101B-9397-08002B2CF9AE}" pid="6" name="MSIP_Label_a7bf93e8-aad2-466b-adfa-0d01d2da556d_SiteId">
    <vt:lpwstr>101ba89f-958c-4260-a5e1-d10119a0eb1e</vt:lpwstr>
  </property>
  <property fmtid="{D5CDD505-2E9C-101B-9397-08002B2CF9AE}" pid="7" name="MSIP_Label_a7bf93e8-aad2-466b-adfa-0d01d2da556d_ActionId">
    <vt:lpwstr>1474aa38-c5a2-4986-ba99-31162bfdc172</vt:lpwstr>
  </property>
  <property fmtid="{D5CDD505-2E9C-101B-9397-08002B2CF9AE}" pid="8" name="MSIP_Label_a7bf93e8-aad2-466b-adfa-0d01d2da556d_ContentBits">
    <vt:lpwstr>2</vt:lpwstr>
  </property>
  <property fmtid="{D5CDD505-2E9C-101B-9397-08002B2CF9AE}" pid="9" name="MSIP_Label_a7bf93e8-aad2-466b-adfa-0d01d2da556d_Tag">
    <vt:lpwstr>50, 1, 2, 1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General Internal Purpose</vt:lpwstr>
  </property>
</Properties>
</file>