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67" r:id="rId2"/>
    <p:sldId id="256" r:id="rId3"/>
    <p:sldId id="297" r:id="rId4"/>
    <p:sldId id="341" r:id="rId5"/>
    <p:sldId id="344" r:id="rId6"/>
    <p:sldId id="364" r:id="rId7"/>
    <p:sldId id="343" r:id="rId8"/>
    <p:sldId id="340" r:id="rId9"/>
    <p:sldId id="298" r:id="rId10"/>
    <p:sldId id="288" r:id="rId11"/>
    <p:sldId id="405" r:id="rId12"/>
    <p:sldId id="427" r:id="rId13"/>
    <p:sldId id="410" r:id="rId14"/>
    <p:sldId id="420" r:id="rId15"/>
    <p:sldId id="309" r:id="rId16"/>
    <p:sldId id="348" r:id="rId17"/>
    <p:sldId id="345" r:id="rId18"/>
    <p:sldId id="406" r:id="rId19"/>
    <p:sldId id="407" r:id="rId20"/>
    <p:sldId id="422" r:id="rId21"/>
    <p:sldId id="365" r:id="rId22"/>
    <p:sldId id="353" r:id="rId23"/>
    <p:sldId id="421" r:id="rId24"/>
    <p:sldId id="429" r:id="rId25"/>
    <p:sldId id="431" r:id="rId26"/>
    <p:sldId id="402" r:id="rId27"/>
    <p:sldId id="432" r:id="rId28"/>
    <p:sldId id="433" r:id="rId29"/>
    <p:sldId id="430" r:id="rId30"/>
    <p:sldId id="359" r:id="rId31"/>
    <p:sldId id="437" r:id="rId32"/>
    <p:sldId id="438" r:id="rId33"/>
    <p:sldId id="439" r:id="rId34"/>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86"/>
    <p:restoredTop sz="91343"/>
  </p:normalViewPr>
  <p:slideViewPr>
    <p:cSldViewPr snapToGrid="0">
      <p:cViewPr>
        <p:scale>
          <a:sx n="127" d="100"/>
          <a:sy n="127" d="100"/>
        </p:scale>
        <p:origin x="520" y="-2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903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Title </a:t>
            </a:r>
            <a:r>
              <a:rPr lang="en-US" b="1" dirty="0"/>
              <a:t>— </a:t>
            </a:r>
            <a:r>
              <a:rPr lang="en-US" b="1"/>
              <a:t>Building Databases with Access</a:t>
            </a:r>
            <a:endParaRPr lang="en-US" b="1" dirty="0"/>
          </a:p>
          <a:p>
            <a:pPr marL="0" indent="0">
              <a:buNone/>
            </a:pPr>
            <a:r>
              <a:rPr lang="en-US" dirty="0"/>
              <a:t>Teaching </a:t>
            </a:r>
            <a:r>
              <a:rPr lang="en-US"/>
              <a:t>notes</a:t>
            </a:r>
            <a:r>
              <a:rPr lang="en-US" dirty="0"/>
              <a:t>: </a:t>
            </a:r>
            <a:r>
              <a:rPr lang="en-US"/>
              <a:t>Open </a:t>
            </a:r>
            <a:r>
              <a:rPr lang="en-US" dirty="0"/>
              <a:t>the unit</a:t>
            </a:r>
            <a:r>
              <a:rPr lang="en-US"/>
              <a:t>. Explain that a database is an organised store of data</a:t>
            </a:r>
            <a:r>
              <a:rPr lang="en-US" dirty="0"/>
              <a:t>, and </a:t>
            </a:r>
            <a:r>
              <a:rPr lang="en-US"/>
              <a:t>that this course builds </a:t>
            </a:r>
            <a:r>
              <a:rPr lang="en-US" dirty="0"/>
              <a:t>from </a:t>
            </a:r>
            <a:r>
              <a:rPr lang="en-US"/>
              <a:t>tables and data types through </a:t>
            </a:r>
            <a:r>
              <a:rPr lang="en-US" dirty="0"/>
              <a:t>to </a:t>
            </a:r>
            <a:r>
              <a:rPr lang="en-US"/>
              <a:t>forms, queries and reports in Access, with hands-on examples at every step</a:t>
            </a:r>
            <a:r>
              <a:rPr lang="en-US" dirty="0"/>
              <a:t>.</a:t>
            </a:r>
          </a:p>
          <a:p>
            <a:pPr marL="0" indent="0">
              <a:buNone/>
            </a:pPr>
            <a:r>
              <a:rPr lang="en-US" b="1"/>
              <a:t>Key </a:t>
            </a:r>
            <a:r>
              <a:rPr lang="en-US" b="1" dirty="0"/>
              <a:t>questions</a:t>
            </a:r>
          </a:p>
          <a:p>
            <a:pPr marL="228600" indent="-228600">
              <a:buChar char="•"/>
            </a:pPr>
            <a:r>
              <a:rPr lang="en-US" dirty="0"/>
              <a:t>What </a:t>
            </a:r>
            <a:r>
              <a:rPr lang="en-US"/>
              <a:t>are the main objects in an Access database</a:t>
            </a:r>
            <a:r>
              <a:rPr lang="en-US" dirty="0"/>
              <a:t>?</a:t>
            </a:r>
          </a:p>
          <a:p>
            <a:pPr marL="228600" indent="-228600">
              <a:buChar char="•"/>
            </a:pPr>
            <a:r>
              <a:rPr lang="en-US"/>
              <a:t>Why do we store data in tables rather than a plain list</a:t>
            </a:r>
            <a:r>
              <a:rPr lang="en-US" dirty="0"/>
              <a:t>?</a:t>
            </a:r>
          </a:p>
          <a:p>
            <a:pPr marL="228600" indent="-228600">
              <a:buChar char="•"/>
            </a:pPr>
            <a:r>
              <a:rPr lang="en-US" dirty="0"/>
              <a:t>What will </a:t>
            </a:r>
            <a:r>
              <a:rPr lang="en-US"/>
              <a:t>you be able </a:t>
            </a:r>
            <a:r>
              <a:rPr lang="en-US" dirty="0"/>
              <a:t>to </a:t>
            </a:r>
            <a:r>
              <a:rPr lang="en-US"/>
              <a:t>build by </a:t>
            </a:r>
            <a:r>
              <a:rPr lang="en-US" dirty="0"/>
              <a:t>the </a:t>
            </a:r>
            <a:r>
              <a:rPr lang="en-US"/>
              <a:t>end </a:t>
            </a:r>
            <a:r>
              <a:rPr lang="en-US" dirty="0"/>
              <a:t>of the </a:t>
            </a:r>
            <a:r>
              <a:rPr lang="en-US"/>
              <a:t>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Course Roadmap</a:t>
            </a:r>
            <a:endParaRPr lang="en-US" b="1" dirty="0"/>
          </a:p>
          <a:p>
            <a:pPr marL="0" indent="0">
              <a:buNone/>
            </a:pPr>
            <a:r>
              <a:rPr lang="en-US" dirty="0"/>
              <a:t>Teaching </a:t>
            </a:r>
            <a:r>
              <a:rPr lang="en-US"/>
              <a:t>notes</a:t>
            </a:r>
            <a:r>
              <a:rPr lang="en-US" dirty="0"/>
              <a:t>: Walk through </a:t>
            </a:r>
            <a:r>
              <a:rPr lang="en-US"/>
              <a:t>the modules</a:t>
            </a:r>
            <a:r>
              <a:rPr lang="en-US" dirty="0"/>
              <a:t>: </a:t>
            </a:r>
            <a:r>
              <a:rPr lang="en-US"/>
              <a:t>database foundations</a:t>
            </a:r>
            <a:r>
              <a:rPr lang="en-US" dirty="0"/>
              <a:t>, </a:t>
            </a:r>
            <a:r>
              <a:rPr lang="en-US"/>
              <a:t>data types </a:t>
            </a:r>
            <a:r>
              <a:rPr lang="en-US" dirty="0"/>
              <a:t>and </a:t>
            </a:r>
            <a:r>
              <a:rPr lang="en-US"/>
              <a:t>tables</a:t>
            </a:r>
            <a:r>
              <a:rPr lang="en-US" dirty="0"/>
              <a:t>, </a:t>
            </a:r>
            <a:r>
              <a:rPr lang="en-US"/>
              <a:t>key fields </a:t>
            </a:r>
            <a:r>
              <a:rPr lang="en-US" dirty="0"/>
              <a:t>and </a:t>
            </a:r>
            <a:r>
              <a:rPr lang="en-US"/>
              <a:t>validation</a:t>
            </a:r>
            <a:r>
              <a:rPr lang="en-US" dirty="0"/>
              <a:t>, </a:t>
            </a:r>
            <a:r>
              <a:rPr lang="en-US"/>
              <a:t>queries, forms, then reports and review</a:t>
            </a:r>
            <a:r>
              <a:rPr lang="en-US" dirty="0"/>
              <a:t>. </a:t>
            </a:r>
            <a:r>
              <a:rPr lang="en-US"/>
              <a:t>Each card is a </a:t>
            </a:r>
            <a:r>
              <a:rPr lang="en-US" dirty="0"/>
              <a:t>clickable jump </a:t>
            </a:r>
            <a:r>
              <a:rPr lang="en-US"/>
              <a:t>point and links to a worked example and a hands-on task</a:t>
            </a:r>
            <a:r>
              <a:rPr lang="en-US" dirty="0"/>
              <a:t>.</a:t>
            </a:r>
          </a:p>
          <a:p>
            <a:pPr marL="0" indent="0">
              <a:buNone/>
            </a:pPr>
            <a:r>
              <a:rPr lang="en-US" b="1"/>
              <a:t>Key </a:t>
            </a:r>
            <a:r>
              <a:rPr lang="en-US" b="1" dirty="0"/>
              <a:t>questions</a:t>
            </a:r>
          </a:p>
          <a:p>
            <a:pPr marL="228600" indent="-228600">
              <a:buChar char="•"/>
            </a:pPr>
            <a:r>
              <a:rPr lang="en-US" dirty="0"/>
              <a:t>Which </a:t>
            </a:r>
            <a:r>
              <a:rPr lang="en-US"/>
              <a:t>module introduces queries</a:t>
            </a:r>
            <a:r>
              <a:rPr lang="en-US" dirty="0"/>
              <a:t>?</a:t>
            </a:r>
          </a:p>
          <a:p>
            <a:pPr marL="228600" indent="-228600">
              <a:buChar char="•"/>
            </a:pPr>
            <a:r>
              <a:rPr lang="en-US" dirty="0"/>
              <a:t>In what order </a:t>
            </a:r>
            <a:r>
              <a:rPr lang="en-US"/>
              <a:t>do we learn tables and forms</a:t>
            </a:r>
            <a:r>
              <a:rPr lang="en-US" dirty="0"/>
              <a:t>?</a:t>
            </a:r>
          </a:p>
          <a:p>
            <a:pPr marL="228600" indent="-228600">
              <a:buChar char="•"/>
            </a:pPr>
            <a:r>
              <a:rPr lang="en-US" dirty="0"/>
              <a:t>How does each </a:t>
            </a:r>
            <a:r>
              <a:rPr lang="en-US"/>
              <a:t>module </a:t>
            </a:r>
            <a:r>
              <a:rPr lang="en-US" dirty="0"/>
              <a:t>build towards the exam?</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Module 1 </a:t>
            </a:r>
            <a:r>
              <a:rPr lang="en-US" b="1" dirty="0"/>
              <a:t>opener — </a:t>
            </a:r>
            <a:r>
              <a:rPr lang="en-US" b="1"/>
              <a:t>Database Foundations</a:t>
            </a:r>
            <a:endParaRPr lang="en-US" b="1" dirty="0"/>
          </a:p>
          <a:p>
            <a:pPr marL="0" indent="0">
              <a:buNone/>
            </a:pPr>
            <a:r>
              <a:rPr lang="en-US" dirty="0"/>
              <a:t>Teaching </a:t>
            </a:r>
            <a:r>
              <a:rPr lang="en-US"/>
              <a:t>notes</a:t>
            </a:r>
            <a:r>
              <a:rPr lang="en-US" dirty="0"/>
              <a:t>: </a:t>
            </a:r>
            <a:r>
              <a:rPr lang="en-US"/>
              <a:t>Introduce </a:t>
            </a:r>
            <a:r>
              <a:rPr lang="en-US" dirty="0"/>
              <a:t>how </a:t>
            </a:r>
            <a:r>
              <a:rPr lang="en-US"/>
              <a:t>fields </a:t>
            </a:r>
            <a:r>
              <a:rPr lang="en-US" dirty="0"/>
              <a:t>and </a:t>
            </a:r>
            <a:r>
              <a:rPr lang="en-US"/>
              <a:t>records combine to form a table, and how tables make up a database. Have pupils open Access so they can see that a table </a:t>
            </a:r>
            <a:r>
              <a:rPr lang="en-US" dirty="0"/>
              <a:t>is </a:t>
            </a:r>
            <a:r>
              <a:rPr lang="en-US"/>
              <a:t>simply rows and columns of stored data</a:t>
            </a:r>
            <a:r>
              <a:rPr lang="en-US" dirty="0"/>
              <a:t>.</a:t>
            </a:r>
          </a:p>
          <a:p>
            <a:pPr marL="0" indent="0">
              <a:buNone/>
            </a:pPr>
            <a:r>
              <a:rPr lang="en-US" b="1"/>
              <a:t>Key </a:t>
            </a:r>
            <a:r>
              <a:rPr lang="en-US" b="1" dirty="0"/>
              <a:t>questions</a:t>
            </a:r>
          </a:p>
          <a:p>
            <a:pPr marL="228600" indent="-228600">
              <a:buChar char="•"/>
            </a:pPr>
            <a:r>
              <a:rPr lang="en-US" dirty="0"/>
              <a:t>What </a:t>
            </a:r>
            <a:r>
              <a:rPr lang="en-US"/>
              <a:t>is a database</a:t>
            </a:r>
            <a:r>
              <a:rPr lang="en-US" dirty="0"/>
              <a:t>?</a:t>
            </a:r>
          </a:p>
          <a:p>
            <a:pPr marL="228600" indent="-228600">
              <a:buChar char="•"/>
            </a:pPr>
            <a:r>
              <a:rPr lang="en-US"/>
              <a:t>What is the difference between a field and a record</a:t>
            </a:r>
            <a:r>
              <a:rPr lang="en-US" dirty="0"/>
              <a:t>?</a:t>
            </a:r>
          </a:p>
          <a:p>
            <a:pPr marL="228600" indent="-228600">
              <a:buChar char="•"/>
            </a:pPr>
            <a:r>
              <a:rPr lang="en-US"/>
              <a:t>Why do we structure data in tables?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0000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dirty="0"/>
              <a:t>The </a:t>
            </a:r>
            <a:r>
              <a:rPr lang="en-US" b="1"/>
              <a:t>Building Blocks of Data</a:t>
            </a:r>
            <a:endParaRPr lang="en-US" b="1" dirty="0"/>
          </a:p>
          <a:p>
            <a:pPr marL="0" indent="0">
              <a:buNone/>
            </a:pPr>
            <a:r>
              <a:rPr lang="en-US" dirty="0"/>
              <a:t>Teaching </a:t>
            </a:r>
            <a:r>
              <a:rPr lang="en-US"/>
              <a:t>notes</a:t>
            </a:r>
            <a:r>
              <a:rPr lang="en-US" dirty="0"/>
              <a:t>: </a:t>
            </a:r>
            <a:r>
              <a:rPr lang="en-US"/>
              <a:t>Explain fields </a:t>
            </a:r>
            <a:r>
              <a:rPr lang="en-US" dirty="0"/>
              <a:t>(</a:t>
            </a:r>
            <a:r>
              <a:rPr lang="en-US"/>
              <a:t>columns</a:t>
            </a:r>
            <a:r>
              <a:rPr lang="en-US" dirty="0"/>
              <a:t>), </a:t>
            </a:r>
            <a:r>
              <a:rPr lang="en-US"/>
              <a:t>records </a:t>
            </a:r>
            <a:r>
              <a:rPr lang="en-US" dirty="0"/>
              <a:t>(</a:t>
            </a:r>
            <a:r>
              <a:rPr lang="en-US"/>
              <a:t>rows</a:t>
            </a:r>
            <a:r>
              <a:rPr lang="en-US" dirty="0"/>
              <a:t>) and </a:t>
            </a:r>
            <a:r>
              <a:rPr lang="en-US"/>
              <a:t>the table that holds them. Stress </a:t>
            </a:r>
            <a:r>
              <a:rPr lang="en-US" dirty="0"/>
              <a:t>the </a:t>
            </a:r>
            <a:r>
              <a:rPr lang="en-US"/>
              <a:t>reason for structuring data: it prevents duplication, keeps data consistent</a:t>
            </a:r>
            <a:r>
              <a:rPr lang="en-US" dirty="0"/>
              <a:t>, and </a:t>
            </a:r>
            <a:r>
              <a:rPr lang="en-US"/>
              <a:t>lets you search, sort </a:t>
            </a:r>
            <a:r>
              <a:rPr lang="en-US" dirty="0"/>
              <a:t>and </a:t>
            </a:r>
            <a:r>
              <a:rPr lang="en-US"/>
              <a:t>report on it easily</a:t>
            </a:r>
            <a:r>
              <a:rPr lang="en-US" dirty="0"/>
              <a:t>.</a:t>
            </a:r>
          </a:p>
          <a:p>
            <a:pPr marL="0" indent="0">
              <a:buNone/>
            </a:pPr>
            <a:r>
              <a:rPr lang="en-US" b="1"/>
              <a:t>Key </a:t>
            </a:r>
            <a:r>
              <a:rPr lang="en-US" b="1" dirty="0"/>
              <a:t>questions</a:t>
            </a:r>
          </a:p>
          <a:p>
            <a:pPr marL="228600" indent="-228600">
              <a:buChar char="•"/>
            </a:pPr>
            <a:r>
              <a:rPr lang="en-US" dirty="0"/>
              <a:t>What </a:t>
            </a:r>
            <a:r>
              <a:rPr lang="en-US"/>
              <a:t>is the difference between a field and a record</a:t>
            </a:r>
            <a:r>
              <a:rPr lang="en-US" dirty="0"/>
              <a:t>?</a:t>
            </a:r>
          </a:p>
          <a:p>
            <a:pPr marL="228600" indent="-228600">
              <a:buChar char="•"/>
            </a:pPr>
            <a:r>
              <a:rPr lang="en-US"/>
              <a:t>What does a table store</a:t>
            </a:r>
            <a:r>
              <a:rPr lang="en-US" dirty="0"/>
              <a:t>?</a:t>
            </a:r>
          </a:p>
          <a:p>
            <a:pPr marL="228600" indent="-228600">
              <a:buChar char="•"/>
            </a:pPr>
            <a:r>
              <a:rPr lang="en-US"/>
              <a:t>Why structure data instead of using a plain list</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Anatomy of a Database Table</a:t>
            </a:r>
            <a:endParaRPr lang="en-US" b="1" dirty="0"/>
          </a:p>
          <a:p>
            <a:pPr marL="0" indent="0">
              <a:buNone/>
            </a:pPr>
            <a:r>
              <a:rPr lang="en-US" dirty="0"/>
              <a:t>Teaching </a:t>
            </a:r>
            <a:r>
              <a:rPr lang="en-US"/>
              <a:t>notes: Model the parts of a table</a:t>
            </a:r>
            <a:r>
              <a:rPr lang="en-US" dirty="0"/>
              <a:t>: </a:t>
            </a:r>
            <a:r>
              <a:rPr lang="en-US"/>
              <a:t>fields as columns, records as rows</a:t>
            </a:r>
            <a:r>
              <a:rPr lang="en-US" dirty="0"/>
              <a:t>, and </a:t>
            </a:r>
            <a:r>
              <a:rPr lang="en-US"/>
              <a:t>the primary key that uniquely identifies each record</a:t>
            </a:r>
            <a:r>
              <a:rPr lang="en-US" dirty="0"/>
              <a:t>. </a:t>
            </a:r>
            <a:r>
              <a:rPr lang="en-US"/>
              <a:t>Have pupils open a table in Datasheet View and point to each part</a:t>
            </a:r>
            <a:r>
              <a:rPr lang="en-US" dirty="0"/>
              <a:t>.</a:t>
            </a:r>
          </a:p>
          <a:p>
            <a:pPr marL="0" indent="0">
              <a:buNone/>
            </a:pPr>
            <a:r>
              <a:rPr lang="en-US" b="1"/>
              <a:t>Key </a:t>
            </a:r>
            <a:r>
              <a:rPr lang="en-US" b="1" dirty="0"/>
              <a:t>questions</a:t>
            </a:r>
          </a:p>
          <a:p>
            <a:pPr marL="228600" indent="-228600">
              <a:buChar char="•"/>
            </a:pPr>
            <a:r>
              <a:rPr lang="en-US" dirty="0"/>
              <a:t>What </a:t>
            </a:r>
            <a:r>
              <a:rPr lang="en-US"/>
              <a:t>is stored in a column versus a row</a:t>
            </a:r>
            <a:r>
              <a:rPr lang="en-US" dirty="0"/>
              <a:t>?</a:t>
            </a:r>
          </a:p>
          <a:p>
            <a:pPr marL="228600" indent="-228600">
              <a:buChar char="•"/>
            </a:pPr>
            <a:r>
              <a:rPr lang="en-US"/>
              <a:t>What does </a:t>
            </a:r>
            <a:r>
              <a:rPr lang="en-US" dirty="0"/>
              <a:t>the </a:t>
            </a:r>
            <a:r>
              <a:rPr lang="en-US"/>
              <a:t>primary key do</a:t>
            </a:r>
            <a:r>
              <a:rPr lang="en-US" dirty="0"/>
              <a:t>?</a:t>
            </a:r>
          </a:p>
          <a:p>
            <a:pPr marL="228600" indent="-228600">
              <a:buChar char="•"/>
            </a:pPr>
            <a:r>
              <a:rPr lang="en-US"/>
              <a:t>Why must each record be unique</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Data Types: </a:t>
            </a:r>
            <a:r>
              <a:rPr lang="en-US" b="1" dirty="0"/>
              <a:t>The </a:t>
            </a:r>
            <a:r>
              <a:rPr lang="en-US" b="1"/>
              <a:t>Essentials</a:t>
            </a:r>
            <a:endParaRPr lang="en-US" b="1" dirty="0"/>
          </a:p>
          <a:p>
            <a:pPr marL="0" indent="0">
              <a:buNone/>
            </a:pPr>
            <a:r>
              <a:rPr lang="en-US" dirty="0"/>
              <a:t>Teaching </a:t>
            </a:r>
            <a:r>
              <a:rPr lang="en-US"/>
              <a:t>notes: Teach the common Access data types</a:t>
            </a:r>
            <a:r>
              <a:rPr lang="en-US" dirty="0"/>
              <a:t>: </a:t>
            </a:r>
            <a:r>
              <a:rPr lang="en-US"/>
              <a:t>Short Text, Number, Currency</a:t>
            </a:r>
            <a:r>
              <a:rPr lang="en-US" dirty="0"/>
              <a:t>, </a:t>
            </a:r>
            <a:r>
              <a:rPr lang="en-US"/>
              <a:t>Date/Time</a:t>
            </a:r>
            <a:r>
              <a:rPr lang="en-US" dirty="0"/>
              <a:t>, </a:t>
            </a:r>
            <a:r>
              <a:rPr lang="en-US"/>
              <a:t>Yes/No and AutoNumber</a:t>
            </a:r>
            <a:r>
              <a:rPr lang="en-US" dirty="0"/>
              <a:t>, and </a:t>
            </a:r>
            <a:r>
              <a:rPr lang="en-US"/>
              <a:t>why the right type keeps data valid</a:t>
            </a:r>
            <a:r>
              <a:rPr lang="en-US" dirty="0"/>
              <a:t>. Pupils </a:t>
            </a:r>
            <a:r>
              <a:rPr lang="en-US"/>
              <a:t>choose a data type for each field in </a:t>
            </a:r>
            <a:r>
              <a:rPr lang="en-US" dirty="0"/>
              <a:t>a </a:t>
            </a:r>
            <a:r>
              <a:rPr lang="en-US"/>
              <a:t>Cars table</a:t>
            </a:r>
            <a:r>
              <a:rPr lang="en-US" dirty="0"/>
              <a:t>.</a:t>
            </a:r>
          </a:p>
          <a:p>
            <a:pPr marL="0" indent="0">
              <a:buNone/>
            </a:pPr>
            <a:r>
              <a:rPr lang="en-US" b="1"/>
              <a:t>Key </a:t>
            </a:r>
            <a:r>
              <a:rPr lang="en-US" b="1" dirty="0"/>
              <a:t>questions</a:t>
            </a:r>
          </a:p>
          <a:p>
            <a:pPr marL="228600" indent="-228600">
              <a:buChar char="•"/>
            </a:pPr>
            <a:r>
              <a:rPr lang="en-US"/>
              <a:t>Which data type suits a price</a:t>
            </a:r>
            <a:r>
              <a:rPr lang="en-US" dirty="0"/>
              <a:t>?</a:t>
            </a:r>
          </a:p>
          <a:p>
            <a:pPr marL="228600" indent="-228600">
              <a:buChar char="•"/>
            </a:pPr>
            <a:r>
              <a:rPr lang="en-US"/>
              <a:t>Why choose Date/Time for a date field</a:t>
            </a:r>
            <a:r>
              <a:rPr lang="en-US" dirty="0"/>
              <a:t>?</a:t>
            </a:r>
          </a:p>
          <a:p>
            <a:pPr marL="228600" indent="-228600">
              <a:buChar char="•"/>
            </a:pPr>
            <a:r>
              <a:rPr lang="en-US"/>
              <a:t>What does AutoNumber do for </a:t>
            </a:r>
            <a:r>
              <a:rPr lang="en-US" dirty="0"/>
              <a:t>a </a:t>
            </a:r>
            <a:r>
              <a:rPr lang="en-US"/>
              <a:t>primary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Key Fields &amp; the Primary Key</a:t>
            </a:r>
            <a:endParaRPr lang="en-US" b="1" dirty="0"/>
          </a:p>
          <a:p>
            <a:pPr marL="0" indent="0">
              <a:buNone/>
            </a:pPr>
            <a:r>
              <a:rPr lang="en-US" dirty="0"/>
              <a:t>Teaching </a:t>
            </a:r>
            <a:r>
              <a:rPr lang="en-US"/>
              <a:t>notes</a:t>
            </a:r>
            <a:r>
              <a:rPr lang="en-US" dirty="0"/>
              <a:t>: The </a:t>
            </a:r>
            <a:r>
              <a:rPr lang="en-US"/>
              <a:t>primary key uniquely identifies each record so no two rows are the same</a:t>
            </a:r>
            <a:r>
              <a:rPr lang="en-US" dirty="0"/>
              <a:t>. </a:t>
            </a:r>
            <a:r>
              <a:rPr lang="en-US"/>
              <a:t>Cover how to choose a suitable key</a:t>
            </a:r>
            <a:r>
              <a:rPr lang="en-US" dirty="0"/>
              <a:t>, </a:t>
            </a:r>
            <a:r>
              <a:rPr lang="en-US"/>
              <a:t>why AutoNumber is a safe choice</a:t>
            </a:r>
            <a:r>
              <a:rPr lang="en-US" dirty="0"/>
              <a:t>, and </a:t>
            </a:r>
            <a:r>
              <a:rPr lang="en-US"/>
              <a:t>how a foreign key links one table to another</a:t>
            </a:r>
            <a:r>
              <a:rPr lang="en-US" dirty="0"/>
              <a:t>.</a:t>
            </a:r>
          </a:p>
          <a:p>
            <a:pPr marL="0" indent="0">
              <a:buNone/>
            </a:pPr>
            <a:r>
              <a:rPr lang="en-US" b="1"/>
              <a:t>Key </a:t>
            </a:r>
            <a:r>
              <a:rPr lang="en-US" b="1" dirty="0"/>
              <a:t>questions</a:t>
            </a:r>
          </a:p>
          <a:p>
            <a:pPr marL="228600" indent="-228600">
              <a:buChar char="•"/>
            </a:pPr>
            <a:r>
              <a:rPr lang="en-US" dirty="0"/>
              <a:t>What </a:t>
            </a:r>
            <a:r>
              <a:rPr lang="en-US"/>
              <a:t>does a primary key guarantee</a:t>
            </a:r>
            <a:r>
              <a:rPr lang="en-US" dirty="0"/>
              <a:t>?</a:t>
            </a:r>
          </a:p>
          <a:p>
            <a:pPr marL="228600" indent="-228600">
              <a:buChar char="•"/>
            </a:pPr>
            <a:r>
              <a:rPr lang="en-US" dirty="0"/>
              <a:t>Why </a:t>
            </a:r>
            <a:r>
              <a:rPr lang="en-US"/>
              <a:t>is AutoNumber a safe primary key</a:t>
            </a:r>
            <a:r>
              <a:rPr lang="en-US" dirty="0"/>
              <a:t>?</a:t>
            </a:r>
          </a:p>
          <a:p>
            <a:pPr marL="228600" indent="-228600">
              <a:buChar char="•"/>
            </a:pPr>
            <a:r>
              <a:rPr lang="en-US"/>
              <a:t>What does a foreign key 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Field Properties &amp; Validation</a:t>
            </a:r>
            <a:endParaRPr lang="en-US" b="1" dirty="0"/>
          </a:p>
          <a:p>
            <a:pPr marL="0" indent="0">
              <a:buNone/>
            </a:pPr>
            <a:r>
              <a:rPr lang="en-US" dirty="0"/>
              <a:t>Teaching </a:t>
            </a:r>
            <a:r>
              <a:rPr lang="en-US"/>
              <a:t>notes</a:t>
            </a:r>
            <a:r>
              <a:rPr lang="en-US" dirty="0"/>
              <a:t>: </a:t>
            </a:r>
            <a:r>
              <a:rPr lang="en-US"/>
              <a:t>Introduce field properties: field size, format, default value, </a:t>
            </a:r>
            <a:r>
              <a:rPr lang="en-US" dirty="0"/>
              <a:t>and </a:t>
            </a:r>
            <a:r>
              <a:rPr lang="en-US"/>
              <a:t>validation rules with validation text</a:t>
            </a:r>
            <a:r>
              <a:rPr lang="en-US" dirty="0"/>
              <a:t>. </a:t>
            </a:r>
            <a:r>
              <a:rPr lang="en-US"/>
              <a:t>Stress that a validation rule checks data as it is entered</a:t>
            </a:r>
            <a:r>
              <a:rPr lang="en-US" dirty="0"/>
              <a:t>, </a:t>
            </a:r>
            <a:r>
              <a:rPr lang="en-US"/>
              <a:t>for example Year must not be in the future</a:t>
            </a:r>
            <a:r>
              <a:rPr lang="en-US" dirty="0"/>
              <a:t>.</a:t>
            </a:r>
            <a:endParaRPr lang="en-US"/>
          </a:p>
          <a:p>
            <a:pPr marL="0" indent="0">
              <a:buNone/>
            </a:pPr>
            <a:r>
              <a:rPr lang="en-US" b="1"/>
              <a:t>Key questions</a:t>
            </a:r>
            <a:endParaRPr lang="en-US" b="1" dirty="0"/>
          </a:p>
          <a:p>
            <a:pPr marL="228600" indent="-228600">
              <a:buChar char="•"/>
            </a:pPr>
            <a:r>
              <a:rPr lang="en-US"/>
              <a:t>What does the Format property change?</a:t>
            </a:r>
          </a:p>
          <a:p>
            <a:pPr marL="228600" indent="-228600">
              <a:buChar char="•"/>
            </a:pPr>
            <a:r>
              <a:rPr lang="en-US"/>
              <a:t>What does a validation rule check?</a:t>
            </a:r>
          </a:p>
          <a:p>
            <a:pPr marL="228600" indent="-228600">
              <a:buChar char="•"/>
            </a:pPr>
            <a:r>
              <a:rPr lang="en-US"/>
              <a:t>When would validation text appear?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Validation &amp; Verification</a:t>
            </a:r>
            <a:endParaRPr lang="en-US" b="1" dirty="0"/>
          </a:p>
          <a:p>
            <a:pPr marL="0" indent="0">
              <a:buNone/>
            </a:pPr>
            <a:r>
              <a:rPr lang="en-US" dirty="0"/>
              <a:t>Teaching </a:t>
            </a:r>
            <a:r>
              <a:rPr lang="en-US"/>
              <a:t>notes</a:t>
            </a:r>
            <a:r>
              <a:rPr lang="en-US" dirty="0"/>
              <a:t>: </a:t>
            </a:r>
            <a:r>
              <a:rPr lang="en-US"/>
              <a:t>Validation checks that data is sensible using rules, input masks </a:t>
            </a:r>
            <a:r>
              <a:rPr lang="en-US" dirty="0"/>
              <a:t>and </a:t>
            </a:r>
            <a:r>
              <a:rPr lang="en-US"/>
              <a:t>required fields; verification checks that data was entered correctly</a:t>
            </a:r>
            <a:r>
              <a:rPr lang="en-US" dirty="0"/>
              <a:t>, </a:t>
            </a:r>
            <a:r>
              <a:rPr lang="en-US"/>
              <a:t>for example double entry or proofreading. Neither can prove the data is actually true.</a:t>
            </a:r>
            <a:endParaRPr lang="en-US" dirty="0"/>
          </a:p>
          <a:p>
            <a:pPr marL="0" indent="0">
              <a:buNone/>
            </a:pPr>
            <a:r>
              <a:rPr lang="en-US" b="1"/>
              <a:t>Key </a:t>
            </a:r>
            <a:r>
              <a:rPr lang="en-US" b="1" dirty="0"/>
              <a:t>questions</a:t>
            </a:r>
          </a:p>
          <a:p>
            <a:pPr marL="228600" indent="-228600">
              <a:buChar char="•"/>
            </a:pPr>
            <a:r>
              <a:rPr lang="en-US"/>
              <a:t>What is the difference between validation and verification</a:t>
            </a:r>
            <a:r>
              <a:rPr lang="en-US" dirty="0"/>
              <a:t>?</a:t>
            </a:r>
          </a:p>
          <a:p>
            <a:pPr marL="228600" indent="-228600">
              <a:buChar char="•"/>
            </a:pPr>
            <a:r>
              <a:rPr lang="en-US"/>
              <a:t>Give an example of a validation rule</a:t>
            </a:r>
            <a:r>
              <a:rPr lang="en-US" dirty="0"/>
              <a:t>.</a:t>
            </a:r>
            <a:endParaRPr lang="en-US"/>
          </a:p>
          <a:p>
            <a:pPr marL="228600" indent="-228600">
              <a:buChar char="•"/>
            </a:pPr>
            <a:r>
              <a:rPr lang="en-US"/>
              <a:t>Can validation prove data is correct?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0000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Module 3 </a:t>
            </a:r>
            <a:r>
              <a:rPr lang="en-US" b="1" dirty="0"/>
              <a:t>opener — </a:t>
            </a:r>
            <a:r>
              <a:rPr lang="en-US" b="1"/>
              <a:t>Building Tables</a:t>
            </a:r>
            <a:endParaRPr lang="en-US" b="1" dirty="0"/>
          </a:p>
          <a:p>
            <a:pPr marL="0" indent="0">
              <a:buNone/>
            </a:pPr>
            <a:r>
              <a:rPr lang="en-US" dirty="0"/>
              <a:t>Teaching </a:t>
            </a:r>
            <a:r>
              <a:rPr lang="en-US"/>
              <a:t>notes</a:t>
            </a:r>
            <a:r>
              <a:rPr lang="en-US" dirty="0"/>
              <a:t>: </a:t>
            </a:r>
            <a:r>
              <a:rPr lang="en-US"/>
              <a:t>Introduce building tables in Access to organise data into fields </a:t>
            </a:r>
            <a:r>
              <a:rPr lang="en-US" dirty="0"/>
              <a:t>and </a:t>
            </a:r>
            <a:r>
              <a:rPr lang="en-US"/>
              <a:t>records, from a simple structure to a full table with a primary key </a:t>
            </a:r>
            <a:r>
              <a:rPr lang="en-US" dirty="0"/>
              <a:t>and </a:t>
            </a:r>
            <a:r>
              <a:rPr lang="en-US"/>
              <a:t>a chosen data type for every field.</a:t>
            </a:r>
            <a:endParaRPr lang="en-US" dirty="0"/>
          </a:p>
          <a:p>
            <a:pPr marL="0" indent="0">
              <a:buNone/>
            </a:pPr>
            <a:r>
              <a:rPr lang="en-US" b="1"/>
              <a:t>Key </a:t>
            </a:r>
            <a:r>
              <a:rPr lang="en-US" b="1" dirty="0"/>
              <a:t>questions</a:t>
            </a:r>
          </a:p>
          <a:p>
            <a:pPr marL="228600" indent="-228600">
              <a:buChar char="•"/>
            </a:pPr>
            <a:r>
              <a:rPr lang="en-US"/>
              <a:t>What are the two views for building a table</a:t>
            </a:r>
            <a:r>
              <a:rPr lang="en-US" dirty="0"/>
              <a:t>?</a:t>
            </a:r>
          </a:p>
          <a:p>
            <a:pPr marL="228600" indent="-228600">
              <a:buChar char="•"/>
            </a:pPr>
            <a:r>
              <a:rPr lang="en-US" dirty="0"/>
              <a:t>What </a:t>
            </a:r>
            <a:r>
              <a:rPr lang="en-US"/>
              <a:t>do you set for each field</a:t>
            </a:r>
            <a:r>
              <a:rPr lang="en-US" dirty="0"/>
              <a:t>?</a:t>
            </a:r>
          </a:p>
          <a:p>
            <a:pPr marL="228600" indent="-228600">
              <a:buChar char="•"/>
            </a:pPr>
            <a:r>
              <a:rPr lang="en-US"/>
              <a:t>Why set a primary key?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Building </a:t>
            </a:r>
            <a:r>
              <a:rPr lang="en-US" b="1" dirty="0"/>
              <a:t>a </a:t>
            </a:r>
            <a:r>
              <a:rPr lang="en-US" b="1"/>
              <a:t>Table, Step by Step</a:t>
            </a:r>
            <a:endParaRPr lang="en-US" b="1" dirty="0"/>
          </a:p>
          <a:p>
            <a:pPr marL="0" indent="0">
              <a:buNone/>
            </a:pPr>
            <a:r>
              <a:rPr lang="en-US" dirty="0"/>
              <a:t>Teaching </a:t>
            </a:r>
            <a:r>
              <a:rPr lang="en-US"/>
              <a:t>notes</a:t>
            </a:r>
            <a:r>
              <a:rPr lang="en-US" dirty="0"/>
              <a:t>: Model the steps </a:t>
            </a:r>
            <a:r>
              <a:rPr lang="en-US"/>
              <a:t>in order</a:t>
            </a:r>
            <a:r>
              <a:rPr lang="en-US" dirty="0"/>
              <a:t>: </a:t>
            </a:r>
            <a:r>
              <a:rPr lang="en-US"/>
              <a:t>open Design View, name each field, choose its data type, set </a:t>
            </a:r>
            <a:r>
              <a:rPr lang="en-US" dirty="0"/>
              <a:t>the </a:t>
            </a:r>
            <a:r>
              <a:rPr lang="en-US"/>
              <a:t>primary key</a:t>
            </a:r>
            <a:r>
              <a:rPr lang="en-US" dirty="0"/>
              <a:t>, </a:t>
            </a:r>
            <a:r>
              <a:rPr lang="en-US"/>
              <a:t>then switch to Datasheet View to enter data. Encourage </a:t>
            </a:r>
            <a:r>
              <a:rPr lang="en-US" dirty="0"/>
              <a:t>pupils </a:t>
            </a:r>
            <a:r>
              <a:rPr lang="en-US"/>
              <a:t>to sketch </a:t>
            </a:r>
            <a:r>
              <a:rPr lang="en-US" dirty="0"/>
              <a:t>the </a:t>
            </a:r>
            <a:r>
              <a:rPr lang="en-US"/>
              <a:t>Cars table </a:t>
            </a:r>
            <a:r>
              <a:rPr lang="en-US" dirty="0"/>
              <a:t>and </a:t>
            </a:r>
            <a:r>
              <a:rPr lang="en-US"/>
              <a:t>list its fields before typing</a:t>
            </a:r>
            <a:r>
              <a:rPr lang="en-US" dirty="0"/>
              <a:t>.</a:t>
            </a:r>
          </a:p>
          <a:p>
            <a:pPr marL="0" indent="0">
              <a:buNone/>
            </a:pPr>
            <a:r>
              <a:rPr lang="en-US" b="1"/>
              <a:t>Key </a:t>
            </a:r>
            <a:r>
              <a:rPr lang="en-US" b="1" dirty="0"/>
              <a:t>questions</a:t>
            </a:r>
          </a:p>
          <a:p>
            <a:pPr marL="228600" indent="-228600">
              <a:buChar char="•"/>
            </a:pPr>
            <a:r>
              <a:rPr lang="en-US"/>
              <a:t>Which view lets you set data types</a:t>
            </a:r>
            <a:r>
              <a:rPr lang="en-US" dirty="0"/>
              <a:t>?</a:t>
            </a:r>
          </a:p>
          <a:p>
            <a:pPr marL="228600" indent="-228600">
              <a:buChar char="•"/>
            </a:pPr>
            <a:r>
              <a:rPr lang="en-US"/>
              <a:t>What do you set on the CarID field?</a:t>
            </a:r>
            <a:endParaRPr lang="en-US" dirty="0"/>
          </a:p>
          <a:p>
            <a:pPr marL="228600" indent="-228600">
              <a:buChar char="•"/>
            </a:pPr>
            <a:r>
              <a:rPr lang="en-US" dirty="0"/>
              <a:t>How do you </a:t>
            </a:r>
            <a:r>
              <a:rPr lang="en-US"/>
              <a:t>switch to entering data</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Worked Example — The Cars Table</a:t>
            </a:r>
          </a:p>
          <a:p>
            <a:pPr marL="0" indent="0">
              <a:buNone/>
            </a:pPr>
            <a:r>
              <a:rPr lang="en-US"/>
              <a:t>Teaching notes: Build tblCars live: CarID as an AutoNumber primary key, then Make and Model as Short Text, Year as Number and Price as Currency. Save with a clear name and enter a few records.</a:t>
            </a:r>
          </a:p>
          <a:p>
            <a:pPr marL="0" indent="0">
              <a:buNone/>
            </a:pPr>
            <a:r>
              <a:rPr lang="en-US" b="1"/>
              <a:t>Key questions</a:t>
            </a:r>
          </a:p>
          <a:p>
            <a:pPr marL="228600" indent="-228600">
              <a:buChar char="•"/>
            </a:pPr>
            <a:r>
              <a:rPr lang="en-US"/>
              <a:t>Which field is the primary key?</a:t>
            </a:r>
          </a:p>
          <a:p>
            <a:pPr marL="228600" indent="-228600">
              <a:buChar char="•"/>
            </a:pPr>
            <a:r>
              <a:rPr lang="en-US"/>
              <a:t>What data type suits Price?</a:t>
            </a:r>
          </a:p>
          <a:p>
            <a:pPr marL="228600" indent="-228600">
              <a:buChar char="•"/>
            </a:pPr>
            <a:r>
              <a:rPr lang="en-US"/>
              <a:t>Why name the table tblCars?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Refining &amp; Editing Tables</a:t>
            </a:r>
            <a:endParaRPr lang="en-US" b="1" dirty="0"/>
          </a:p>
          <a:p>
            <a:pPr marL="0" indent="0">
              <a:buNone/>
            </a:pPr>
            <a:r>
              <a:rPr lang="en-US" dirty="0"/>
              <a:t>Teaching </a:t>
            </a:r>
            <a:r>
              <a:rPr lang="en-US"/>
              <a:t>notes</a:t>
            </a:r>
            <a:r>
              <a:rPr lang="en-US" dirty="0"/>
              <a:t>: </a:t>
            </a:r>
            <a:r>
              <a:rPr lang="en-US"/>
              <a:t>Show how to refine a table: insert, rename </a:t>
            </a:r>
            <a:r>
              <a:rPr lang="en-US" dirty="0"/>
              <a:t>and </a:t>
            </a:r>
            <a:r>
              <a:rPr lang="en-US"/>
              <a:t>reorder fields, change data types safely</a:t>
            </a:r>
            <a:r>
              <a:rPr lang="en-US" dirty="0"/>
              <a:t>, </a:t>
            </a:r>
            <a:r>
              <a:rPr lang="en-US"/>
              <a:t>set field sizes and formats</a:t>
            </a:r>
            <a:r>
              <a:rPr lang="en-US" dirty="0"/>
              <a:t>, and </a:t>
            </a:r>
            <a:r>
              <a:rPr lang="en-US"/>
              <a:t>add or delete records</a:t>
            </a:r>
            <a:r>
              <a:rPr lang="en-US" dirty="0"/>
              <a:t>. </a:t>
            </a:r>
            <a:r>
              <a:rPr lang="en-US"/>
              <a:t>Pupils tidy </a:t>
            </a:r>
            <a:r>
              <a:rPr lang="en-US" dirty="0"/>
              <a:t>the </a:t>
            </a:r>
            <a:r>
              <a:rPr lang="en-US"/>
              <a:t>Cars table and add a new field</a:t>
            </a:r>
            <a:r>
              <a:rPr lang="en-US" dirty="0"/>
              <a:t>.</a:t>
            </a:r>
          </a:p>
          <a:p>
            <a:pPr marL="0" indent="0">
              <a:buNone/>
            </a:pPr>
            <a:r>
              <a:rPr lang="en-US" b="1"/>
              <a:t>Key </a:t>
            </a:r>
            <a:r>
              <a:rPr lang="en-US" b="1" dirty="0"/>
              <a:t>questions</a:t>
            </a:r>
          </a:p>
          <a:p>
            <a:pPr marL="228600" indent="-228600">
              <a:buChar char="•"/>
            </a:pPr>
            <a:r>
              <a:rPr lang="en-US"/>
              <a:t>How do you add a new field to a table</a:t>
            </a:r>
            <a:r>
              <a:rPr lang="en-US" dirty="0"/>
              <a:t>?</a:t>
            </a:r>
          </a:p>
          <a:p>
            <a:pPr marL="228600" indent="-228600">
              <a:buChar char="•"/>
            </a:pPr>
            <a:r>
              <a:rPr lang="en-US" dirty="0"/>
              <a:t>How </a:t>
            </a:r>
            <a:r>
              <a:rPr lang="en-US"/>
              <a:t>do you change a field's data type</a:t>
            </a:r>
            <a:r>
              <a:rPr lang="en-US" dirty="0"/>
              <a:t>?</a:t>
            </a:r>
          </a:p>
          <a:p>
            <a:pPr marL="228600" indent="-228600">
              <a:buChar char="•"/>
            </a:pPr>
            <a:r>
              <a:rPr lang="en-US"/>
              <a:t>How do you set a field's size or format?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Module 4 opener — Working with Data</a:t>
            </a:r>
          </a:p>
          <a:p>
            <a:pPr marL="0" indent="0">
              <a:buNone/>
            </a:pPr>
            <a:r>
              <a:rPr lang="en-US"/>
              <a:t>Teaching notes: Introduce the objects that put a database to work: queries to search and filter records, forms to enter data, and reports to present it.</a:t>
            </a:r>
          </a:p>
          <a:p>
            <a:pPr marL="0" indent="0">
              <a:buNone/>
            </a:pPr>
            <a:r>
              <a:rPr lang="en-US" b="1"/>
              <a:t>Key questions</a:t>
            </a:r>
          </a:p>
          <a:p>
            <a:pPr marL="228600" indent="-228600">
              <a:buChar char="•"/>
            </a:pPr>
            <a:r>
              <a:rPr lang="en-US"/>
              <a:t>What does a query do?</a:t>
            </a:r>
          </a:p>
          <a:p>
            <a:pPr marL="228600" indent="-228600">
              <a:buChar char="•"/>
            </a:pPr>
            <a:r>
              <a:rPr lang="en-US"/>
              <a:t>What is a form used for?</a:t>
            </a:r>
          </a:p>
          <a:p>
            <a:pPr marL="228600" indent="-228600">
              <a:buChar char="•"/>
            </a:pPr>
            <a:r>
              <a:rPr lang="en-US"/>
              <a:t>What is a report used for?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Building a Query</a:t>
            </a:r>
            <a:endParaRPr lang="en-US" b="1" dirty="0"/>
          </a:p>
          <a:p>
            <a:pPr marL="0" indent="0">
              <a:buNone/>
            </a:pPr>
            <a:r>
              <a:rPr lang="en-US" dirty="0"/>
              <a:t>Teaching </a:t>
            </a:r>
            <a:r>
              <a:rPr lang="en-US"/>
              <a:t>notes</a:t>
            </a:r>
            <a:r>
              <a:rPr lang="en-US" dirty="0"/>
              <a:t>: </a:t>
            </a:r>
            <a:r>
              <a:rPr lang="en-US"/>
              <a:t>A query searches a table </a:t>
            </a:r>
            <a:r>
              <a:rPr lang="en-US" dirty="0"/>
              <a:t>and</a:t>
            </a:r>
            <a:r>
              <a:rPr lang="en-US"/>
              <a:t> returns only </a:t>
            </a:r>
            <a:r>
              <a:rPr lang="en-US" dirty="0"/>
              <a:t>the </a:t>
            </a:r>
            <a:r>
              <a:rPr lang="en-US"/>
              <a:t>records you want. Build one in Query Design: add tblCars, choose the fields to show</a:t>
            </a:r>
            <a:r>
              <a:rPr lang="en-US" dirty="0"/>
              <a:t>, </a:t>
            </a:r>
            <a:r>
              <a:rPr lang="en-US"/>
              <a:t>then type criteria such as &gt;10000 under Price.</a:t>
            </a:r>
            <a:endParaRPr lang="en-US" dirty="0"/>
          </a:p>
          <a:p>
            <a:pPr marL="0" indent="0">
              <a:buNone/>
            </a:pPr>
            <a:r>
              <a:rPr lang="en-US" b="1"/>
              <a:t>Key </a:t>
            </a:r>
            <a:r>
              <a:rPr lang="en-US" b="1" dirty="0"/>
              <a:t>questions</a:t>
            </a:r>
          </a:p>
          <a:p>
            <a:pPr marL="228600" indent="-228600">
              <a:buChar char="•"/>
            </a:pPr>
            <a:r>
              <a:rPr lang="en-US"/>
              <a:t>What does a query return</a:t>
            </a:r>
            <a:r>
              <a:rPr lang="en-US" dirty="0"/>
              <a:t>?</a:t>
            </a:r>
          </a:p>
          <a:p>
            <a:pPr marL="228600" indent="-228600">
              <a:buChar char="•"/>
            </a:pPr>
            <a:r>
              <a:rPr lang="en-US"/>
              <a:t>How do you add a table to a query</a:t>
            </a:r>
            <a:r>
              <a:rPr lang="en-US" dirty="0"/>
              <a:t>?</a:t>
            </a:r>
          </a:p>
          <a:p>
            <a:pPr marL="228600" indent="-228600">
              <a:buChar char="•"/>
            </a:pPr>
            <a:r>
              <a:rPr lang="en-US"/>
              <a:t>Where do you type the criteria</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00000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Query Criteria &amp; Operators</a:t>
            </a:r>
            <a:endParaRPr lang="en-US" b="1" dirty="0"/>
          </a:p>
          <a:p>
            <a:pPr marL="0" indent="0">
              <a:buNone/>
            </a:pPr>
            <a:r>
              <a:rPr lang="en-US" dirty="0"/>
              <a:t>Teaching </a:t>
            </a:r>
            <a:r>
              <a:rPr lang="en-US"/>
              <a:t>notes</a:t>
            </a:r>
            <a:r>
              <a:rPr lang="en-US" dirty="0"/>
              <a:t>: </a:t>
            </a:r>
            <a:r>
              <a:rPr lang="en-US"/>
              <a:t>Criteria filter the records a query returns. Cover the operators greater than</a:t>
            </a:r>
            <a:r>
              <a:rPr lang="en-US" dirty="0"/>
              <a:t>, </a:t>
            </a:r>
            <a:r>
              <a:rPr lang="en-US"/>
              <a:t>less than and equals</a:t>
            </a:r>
            <a:r>
              <a:rPr lang="en-US" dirty="0"/>
              <a:t>, </a:t>
            </a:r>
            <a:r>
              <a:rPr lang="en-US"/>
              <a:t>plus AND </a:t>
            </a:r>
            <a:r>
              <a:rPr lang="en-US" dirty="0"/>
              <a:t>and </a:t>
            </a:r>
            <a:r>
              <a:rPr lang="en-US"/>
              <a:t>OR across </a:t>
            </a:r>
            <a:r>
              <a:rPr lang="en-US" dirty="0"/>
              <a:t>the </a:t>
            </a:r>
            <a:r>
              <a:rPr lang="en-US"/>
              <a:t>criteria rows</a:t>
            </a:r>
            <a:r>
              <a:rPr lang="en-US" dirty="0"/>
              <a:t>, and </a:t>
            </a:r>
            <a:r>
              <a:rPr lang="en-US"/>
              <a:t>text criteria in quotes. Show wildcards with Like, for example cars over 10,000 or a chosen Make</a:t>
            </a:r>
            <a:r>
              <a:rPr lang="en-US" dirty="0"/>
              <a:t>.</a:t>
            </a:r>
          </a:p>
          <a:p>
            <a:pPr marL="0" indent="0">
              <a:buNone/>
            </a:pPr>
            <a:r>
              <a:rPr lang="en-US" b="1"/>
              <a:t>Key </a:t>
            </a:r>
            <a:r>
              <a:rPr lang="en-US" b="1" dirty="0"/>
              <a:t>questions</a:t>
            </a:r>
          </a:p>
          <a:p>
            <a:pPr marL="228600" indent="-228600">
              <a:buChar char="•"/>
            </a:pPr>
            <a:r>
              <a:rPr lang="en-US"/>
              <a:t>Which operator finds prices over 10,000?</a:t>
            </a:r>
          </a:p>
          <a:p>
            <a:pPr marL="228600" indent="-228600">
              <a:buChar char="•"/>
            </a:pPr>
            <a:r>
              <a:rPr lang="en-US" dirty="0"/>
              <a:t>What </a:t>
            </a:r>
            <a:r>
              <a:rPr lang="en-US"/>
              <a:t>is </a:t>
            </a:r>
            <a:r>
              <a:rPr lang="en-US" dirty="0"/>
              <a:t>the </a:t>
            </a:r>
            <a:r>
              <a:rPr lang="en-US"/>
              <a:t>difference between AND and OR criteria?</a:t>
            </a:r>
          </a:p>
          <a:p>
            <a:pPr marL="228600" indent="-228600">
              <a:buChar char="•"/>
            </a:pPr>
            <a:r>
              <a:rPr lang="en-US"/>
              <a:t>How do you match text with a wildcard?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Sorting &amp; Summarising Data</a:t>
            </a:r>
            <a:endParaRPr lang="en-US" b="1" dirty="0"/>
          </a:p>
          <a:p>
            <a:pPr marL="0" indent="0">
              <a:buNone/>
            </a:pPr>
            <a:r>
              <a:rPr lang="en-US" dirty="0"/>
              <a:t>Teaching </a:t>
            </a:r>
            <a:r>
              <a:rPr lang="en-US"/>
              <a:t>notes</a:t>
            </a:r>
            <a:r>
              <a:rPr lang="en-US" dirty="0"/>
              <a:t>: </a:t>
            </a:r>
            <a:r>
              <a:rPr lang="en-US"/>
              <a:t>Queries can sort results ascending or descending and summarise them with Totals: Count, Sum, Average</a:t>
            </a:r>
            <a:r>
              <a:rPr lang="en-US" dirty="0"/>
              <a:t>, </a:t>
            </a:r>
            <a:r>
              <a:rPr lang="en-US"/>
              <a:t>Max </a:t>
            </a:r>
            <a:r>
              <a:rPr lang="en-US" dirty="0"/>
              <a:t>and </a:t>
            </a:r>
            <a:r>
              <a:rPr lang="en-US"/>
              <a:t>Min</a:t>
            </a:r>
            <a:r>
              <a:rPr lang="en-US" dirty="0"/>
              <a:t>. </a:t>
            </a:r>
            <a:r>
              <a:rPr lang="en-US"/>
              <a:t>Show sorting cars by Price and counting </a:t>
            </a:r>
            <a:r>
              <a:rPr lang="en-US" dirty="0"/>
              <a:t>how </a:t>
            </a:r>
            <a:r>
              <a:rPr lang="en-US"/>
              <a:t>many records meet a criterion</a:t>
            </a:r>
            <a:r>
              <a:rPr lang="en-US" dirty="0"/>
              <a:t>.</a:t>
            </a:r>
          </a:p>
          <a:p>
            <a:pPr marL="0" indent="0">
              <a:buNone/>
            </a:pPr>
            <a:r>
              <a:rPr lang="en-US" b="1"/>
              <a:t>Key </a:t>
            </a:r>
            <a:r>
              <a:rPr lang="en-US" b="1" dirty="0"/>
              <a:t>questions</a:t>
            </a:r>
          </a:p>
          <a:p>
            <a:pPr marL="228600" indent="-228600">
              <a:buChar char="•"/>
            </a:pPr>
            <a:r>
              <a:rPr lang="en-US"/>
              <a:t>How do you sort query results?</a:t>
            </a:r>
          </a:p>
          <a:p>
            <a:pPr marL="228600" indent="-228600">
              <a:buChar char="•"/>
            </a:pPr>
            <a:r>
              <a:rPr lang="en-US"/>
              <a:t>Which Total adds up a column of values</a:t>
            </a:r>
            <a:r>
              <a:rPr lang="en-US" dirty="0"/>
              <a:t>?</a:t>
            </a:r>
          </a:p>
          <a:p>
            <a:pPr marL="228600" indent="-228600">
              <a:buChar char="•"/>
            </a:pPr>
            <a:r>
              <a:rPr lang="en-US"/>
              <a:t>How would you count </a:t>
            </a:r>
            <a:r>
              <a:rPr lang="en-US" dirty="0"/>
              <a:t>the </a:t>
            </a:r>
            <a:r>
              <a:rPr lang="en-US"/>
              <a:t>matching records?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Forms: Entering Data with Ease</a:t>
            </a:r>
            <a:endParaRPr lang="en-US" b="1" dirty="0"/>
          </a:p>
          <a:p>
            <a:pPr marL="0" indent="0">
              <a:buNone/>
            </a:pPr>
            <a:r>
              <a:rPr lang="en-US" dirty="0"/>
              <a:t>Teaching </a:t>
            </a:r>
            <a:r>
              <a:rPr lang="en-US"/>
              <a:t>notes</a:t>
            </a:r>
            <a:r>
              <a:rPr lang="en-US" dirty="0"/>
              <a:t>: </a:t>
            </a:r>
            <a:r>
              <a:rPr lang="en-US"/>
              <a:t>A form shows one record at a time </a:t>
            </a:r>
            <a:r>
              <a:rPr lang="en-US" dirty="0"/>
              <a:t>in </a:t>
            </a:r>
            <a:r>
              <a:rPr lang="en-US"/>
              <a:t>a friendly layout, making data entry easier and safer than typing straight into a table</a:t>
            </a:r>
            <a:r>
              <a:rPr lang="en-US" dirty="0"/>
              <a:t>. </a:t>
            </a:r>
            <a:r>
              <a:rPr lang="en-US"/>
              <a:t>The Form Wizard builds a form from tblCars in </a:t>
            </a:r>
            <a:r>
              <a:rPr lang="en-US" dirty="0"/>
              <a:t>a </a:t>
            </a:r>
            <a:r>
              <a:rPr lang="en-US"/>
              <a:t>few clicks</a:t>
            </a:r>
            <a:r>
              <a:rPr lang="en-US" dirty="0"/>
              <a:t>.</a:t>
            </a:r>
          </a:p>
          <a:p>
            <a:pPr marL="0" indent="0">
              <a:buNone/>
            </a:pPr>
            <a:r>
              <a:rPr lang="en-US" b="1"/>
              <a:t>Key </a:t>
            </a:r>
            <a:r>
              <a:rPr lang="en-US" b="1" dirty="0"/>
              <a:t>questions</a:t>
            </a:r>
          </a:p>
          <a:p>
            <a:pPr marL="228600" indent="-228600">
              <a:buChar char="•"/>
            </a:pPr>
            <a:r>
              <a:rPr lang="en-US"/>
              <a:t>Why use a form instead of a table for data entry</a:t>
            </a:r>
            <a:r>
              <a:rPr lang="en-US" dirty="0"/>
              <a:t>?</a:t>
            </a:r>
          </a:p>
          <a:p>
            <a:pPr marL="228600" indent="-228600">
              <a:buChar char="•"/>
            </a:pPr>
            <a:r>
              <a:rPr lang="en-US" dirty="0"/>
              <a:t>What </a:t>
            </a:r>
            <a:r>
              <a:rPr lang="en-US"/>
              <a:t>does the Form Wizard build from</a:t>
            </a:r>
            <a:r>
              <a:rPr lang="en-US" dirty="0"/>
              <a:t>?</a:t>
            </a:r>
          </a:p>
          <a:p>
            <a:pPr marL="228600" indent="-228600">
              <a:buChar char="•"/>
            </a:pPr>
            <a:r>
              <a:rPr lang="en-US" dirty="0"/>
              <a:t>How </a:t>
            </a:r>
            <a:r>
              <a:rPr lang="en-US"/>
              <a:t>many records does </a:t>
            </a:r>
            <a:r>
              <a:rPr lang="en-US" dirty="0"/>
              <a:t>a </a:t>
            </a:r>
            <a:r>
              <a:rPr lang="en-US"/>
              <a:t>form show at once</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Modules 5 &amp; 6 </a:t>
            </a:r>
            <a:r>
              <a:rPr lang="en-US" b="1" dirty="0"/>
              <a:t>opener </a:t>
            </a:r>
            <a:r>
              <a:rPr lang="en-US" b="1"/>
              <a:t>— Forms &amp; Reports</a:t>
            </a:r>
            <a:endParaRPr lang="en-US" b="1" dirty="0"/>
          </a:p>
          <a:p>
            <a:pPr marL="0" indent="0">
              <a:buNone/>
            </a:pPr>
            <a:r>
              <a:rPr lang="en-US" dirty="0"/>
              <a:t>Teaching </a:t>
            </a:r>
            <a:r>
              <a:rPr lang="en-US"/>
              <a:t>notes</a:t>
            </a:r>
            <a:r>
              <a:rPr lang="en-US" dirty="0"/>
              <a:t>: Introduce </a:t>
            </a:r>
            <a:r>
              <a:rPr lang="en-US"/>
              <a:t>entering data through forms</a:t>
            </a:r>
            <a:r>
              <a:rPr lang="en-US" dirty="0"/>
              <a:t>, </a:t>
            </a:r>
            <a:r>
              <a:rPr lang="en-US"/>
              <a:t>then presenting it with reports </a:t>
            </a:r>
            <a:r>
              <a:rPr lang="en-US" dirty="0"/>
              <a:t>that </a:t>
            </a:r>
            <a:r>
              <a:rPr lang="en-US"/>
              <a:t>group</a:t>
            </a:r>
            <a:r>
              <a:rPr lang="en-US" dirty="0"/>
              <a:t>, </a:t>
            </a:r>
            <a:r>
              <a:rPr lang="en-US"/>
              <a:t>sort </a:t>
            </a:r>
            <a:r>
              <a:rPr lang="en-US" dirty="0"/>
              <a:t>and </a:t>
            </a:r>
            <a:r>
              <a:rPr lang="en-US"/>
              <a:t>total records ready for printing</a:t>
            </a:r>
            <a:r>
              <a:rPr lang="en-US" dirty="0"/>
              <a:t>.</a:t>
            </a:r>
          </a:p>
          <a:p>
            <a:pPr marL="0" indent="0">
              <a:buNone/>
            </a:pPr>
            <a:r>
              <a:rPr lang="en-US" b="1"/>
              <a:t>Key </a:t>
            </a:r>
            <a:r>
              <a:rPr lang="en-US" b="1" dirty="0"/>
              <a:t>questions</a:t>
            </a:r>
          </a:p>
          <a:p>
            <a:pPr marL="228600" indent="-228600">
              <a:buChar char="•"/>
            </a:pPr>
            <a:r>
              <a:rPr lang="en-US"/>
              <a:t>What is </a:t>
            </a:r>
            <a:r>
              <a:rPr lang="en-US" dirty="0"/>
              <a:t>a </a:t>
            </a:r>
            <a:r>
              <a:rPr lang="en-US"/>
              <a:t>form used for</a:t>
            </a:r>
            <a:r>
              <a:rPr lang="en-US" dirty="0"/>
              <a:t>?</a:t>
            </a:r>
          </a:p>
          <a:p>
            <a:pPr marL="228600" indent="-228600">
              <a:buChar char="•"/>
            </a:pPr>
            <a:r>
              <a:rPr lang="en-US"/>
              <a:t>What does a report let you do</a:t>
            </a:r>
            <a:r>
              <a:rPr lang="en-US" dirty="0"/>
              <a:t>?</a:t>
            </a:r>
          </a:p>
          <a:p>
            <a:pPr marL="228600" indent="-228600">
              <a:buChar char="•"/>
            </a:pPr>
            <a:r>
              <a:rPr lang="en-US"/>
              <a:t>Why group and total a report?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Form Controls &amp; Properties</a:t>
            </a:r>
          </a:p>
          <a:p>
            <a:pPr marL="0" indent="0">
              <a:buNone/>
            </a:pPr>
            <a:r>
              <a:rPr lang="en-US"/>
              <a:t>Teaching notes: A form is built from controls: text boxes bound to fields, labels, buttons and combo boxes. Cover editing controls in Design or Layout View, setting their properties, and adding navigation buttons. Test the form by adding a record.</a:t>
            </a:r>
          </a:p>
          <a:p>
            <a:pPr marL="0" indent="0">
              <a:buNone/>
            </a:pPr>
            <a:r>
              <a:rPr lang="en-US" b="1"/>
              <a:t>Key questions</a:t>
            </a:r>
          </a:p>
          <a:p>
            <a:pPr marL="228600" indent="-228600">
              <a:buChar char="•"/>
            </a:pPr>
            <a:r>
              <a:rPr lang="en-US"/>
              <a:t>What is a bound text box linked to?</a:t>
            </a:r>
          </a:p>
          <a:p>
            <a:pPr marL="228600" indent="-228600">
              <a:buChar char="•"/>
            </a:pPr>
            <a:r>
              <a:rPr lang="en-US"/>
              <a:t>Which view lets you edit form controls?</a:t>
            </a:r>
          </a:p>
          <a:p>
            <a:pPr marL="228600" indent="-228600">
              <a:buChar char="•"/>
            </a:pPr>
            <a:r>
              <a:rPr lang="en-US"/>
              <a:t>How do you move between records on a form?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Ways to Build a Report</a:t>
            </a:r>
            <a:endParaRPr lang="en-US" b="1" dirty="0"/>
          </a:p>
          <a:p>
            <a:pPr marL="0" indent="0">
              <a:buNone/>
            </a:pPr>
            <a:r>
              <a:rPr lang="en-US" dirty="0"/>
              <a:t>Teaching </a:t>
            </a:r>
            <a:r>
              <a:rPr lang="en-US"/>
              <a:t>notes</a:t>
            </a:r>
            <a:r>
              <a:rPr lang="en-US" dirty="0"/>
              <a:t>: </a:t>
            </a:r>
            <a:r>
              <a:rPr lang="en-US"/>
              <a:t>A report can be made with the one-click Report tool</a:t>
            </a:r>
            <a:r>
              <a:rPr lang="en-US" dirty="0"/>
              <a:t>, </a:t>
            </a:r>
            <a:r>
              <a:rPr lang="en-US"/>
              <a:t>the Report Wizard</a:t>
            </a:r>
            <a:r>
              <a:rPr lang="en-US" dirty="0"/>
              <a:t>, </a:t>
            </a:r>
            <a:r>
              <a:rPr lang="en-US"/>
              <a:t>or from scratch in Design View. The wizard wins for most tasks because it groups</a:t>
            </a:r>
            <a:r>
              <a:rPr lang="en-US" dirty="0"/>
              <a:t>, </a:t>
            </a:r>
            <a:r>
              <a:rPr lang="en-US"/>
              <a:t>sorts </a:t>
            </a:r>
            <a:r>
              <a:rPr lang="en-US" dirty="0"/>
              <a:t>and </a:t>
            </a:r>
            <a:r>
              <a:rPr lang="en-US"/>
              <a:t>totals in a few steps. Build a report on tblCars grouped by Make</a:t>
            </a:r>
            <a:r>
              <a:rPr lang="en-US" dirty="0"/>
              <a:t>.</a:t>
            </a:r>
          </a:p>
          <a:p>
            <a:pPr marL="0" indent="0">
              <a:buNone/>
            </a:pPr>
            <a:r>
              <a:rPr lang="en-US" b="1"/>
              <a:t>Key </a:t>
            </a:r>
            <a:r>
              <a:rPr lang="en-US" b="1" dirty="0"/>
              <a:t>questions</a:t>
            </a:r>
          </a:p>
          <a:p>
            <a:pPr marL="228600" indent="-228600">
              <a:buChar char="•"/>
            </a:pPr>
            <a:r>
              <a:rPr lang="en-US" dirty="0"/>
              <a:t>What </a:t>
            </a:r>
            <a:r>
              <a:rPr lang="en-US"/>
              <a:t>are </a:t>
            </a:r>
            <a:r>
              <a:rPr lang="en-US" dirty="0"/>
              <a:t>the </a:t>
            </a:r>
            <a:r>
              <a:rPr lang="en-US"/>
              <a:t>three ways to build a report</a:t>
            </a:r>
            <a:r>
              <a:rPr lang="en-US" dirty="0"/>
              <a:t>?</a:t>
            </a:r>
          </a:p>
          <a:p>
            <a:pPr marL="228600" indent="-228600">
              <a:buChar char="•"/>
            </a:pPr>
            <a:r>
              <a:rPr lang="en-US" dirty="0"/>
              <a:t>Why </a:t>
            </a:r>
            <a:r>
              <a:rPr lang="en-US"/>
              <a:t>is the Report Wizard usually best</a:t>
            </a:r>
            <a:r>
              <a:rPr lang="en-US" dirty="0"/>
              <a:t>?</a:t>
            </a:r>
          </a:p>
          <a:p>
            <a:pPr marL="228600" indent="-228600">
              <a:buChar char="•"/>
            </a:pPr>
            <a:r>
              <a:rPr lang="en-US"/>
              <a:t>How do you group </a:t>
            </a:r>
            <a:r>
              <a:rPr lang="en-US" dirty="0"/>
              <a:t>a </a:t>
            </a:r>
            <a:r>
              <a:rPr lang="en-US"/>
              <a:t>report by Make?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Worked Example — A Grouped Cars Report</a:t>
            </a:r>
            <a:endParaRPr lang="en-US" b="1" dirty="0"/>
          </a:p>
          <a:p>
            <a:pPr marL="0" indent="0">
              <a:buNone/>
            </a:pPr>
            <a:r>
              <a:rPr lang="en-US" dirty="0"/>
              <a:t>Teaching </a:t>
            </a:r>
            <a:r>
              <a:rPr lang="en-US"/>
              <a:t>notes</a:t>
            </a:r>
            <a:r>
              <a:rPr lang="en-US" dirty="0"/>
              <a:t>: </a:t>
            </a:r>
            <a:r>
              <a:rPr lang="en-US"/>
              <a:t>Walk through the sections of a grouped report: </a:t>
            </a:r>
            <a:r>
              <a:rPr lang="en-US" dirty="0"/>
              <a:t>the </a:t>
            </a:r>
            <a:r>
              <a:rPr lang="en-US"/>
              <a:t>report header for </a:t>
            </a:r>
            <a:r>
              <a:rPr lang="en-US" dirty="0"/>
              <a:t>the </a:t>
            </a:r>
            <a:r>
              <a:rPr lang="en-US"/>
              <a:t>title</a:t>
            </a:r>
            <a:r>
              <a:rPr lang="en-US" dirty="0"/>
              <a:t>, </a:t>
            </a:r>
            <a:r>
              <a:rPr lang="en-US"/>
              <a:t>a group header for each Make, the detail band for every car, a group footer with a subtotal</a:t>
            </a:r>
            <a:r>
              <a:rPr lang="en-US" dirty="0"/>
              <a:t>, and </a:t>
            </a:r>
            <a:r>
              <a:rPr lang="en-US"/>
              <a:t>the report footer with a grand total</a:t>
            </a:r>
            <a:r>
              <a:rPr lang="en-US" dirty="0"/>
              <a:t>.</a:t>
            </a:r>
          </a:p>
          <a:p>
            <a:pPr marL="0" indent="0">
              <a:buNone/>
            </a:pPr>
            <a:r>
              <a:rPr lang="en-US" b="1"/>
              <a:t>Key </a:t>
            </a:r>
            <a:r>
              <a:rPr lang="en-US" b="1" dirty="0"/>
              <a:t>questions</a:t>
            </a:r>
          </a:p>
          <a:p>
            <a:pPr marL="228600" indent="-228600">
              <a:buChar char="•"/>
            </a:pPr>
            <a:r>
              <a:rPr lang="en-US"/>
              <a:t>Which section holds the report title</a:t>
            </a:r>
            <a:r>
              <a:rPr lang="en-US" dirty="0"/>
              <a:t>?</a:t>
            </a:r>
          </a:p>
          <a:p>
            <a:pPr marL="228600" indent="-228600">
              <a:buChar char="•"/>
            </a:pPr>
            <a:r>
              <a:rPr lang="en-US" dirty="0"/>
              <a:t>What </a:t>
            </a:r>
            <a:r>
              <a:rPr lang="en-US"/>
              <a:t>appears in the detail section</a:t>
            </a:r>
            <a:r>
              <a:rPr lang="en-US" dirty="0"/>
              <a:t>?</a:t>
            </a:r>
          </a:p>
          <a:p>
            <a:pPr marL="228600" indent="-228600">
              <a:buChar char="•"/>
            </a:pPr>
            <a:r>
              <a:rPr lang="en-US"/>
              <a:t>Where does the grand total sit?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Report Formatting &amp; Layout</a:t>
            </a:r>
          </a:p>
          <a:p>
            <a:pPr marL="0" indent="0">
              <a:buNone/>
            </a:pPr>
            <a:r>
              <a:rPr lang="en-US"/>
              <a:t>Teaching notes: Improve a report's readability: set fonts, sizes and alignment, adjust column widths, add a logo and page numbers, and use consistent colours so the printed report is clear and easy to read.</a:t>
            </a:r>
          </a:p>
          <a:p>
            <a:pPr marL="0" indent="0">
              <a:buNone/>
            </a:pPr>
            <a:r>
              <a:rPr lang="en-US" b="1"/>
              <a:t>Key questions</a:t>
            </a:r>
          </a:p>
          <a:p>
            <a:pPr marL="228600" indent="-228600">
              <a:buChar char="•"/>
            </a:pPr>
            <a:r>
              <a:rPr lang="en-US"/>
              <a:t>Which view lets you adjust a report's layout?</a:t>
            </a:r>
          </a:p>
          <a:p>
            <a:pPr marL="228600" indent="-228600">
              <a:buChar char="•"/>
            </a:pPr>
            <a:r>
              <a:rPr lang="en-US"/>
              <a:t>How do you make columns line up neatly?</a:t>
            </a:r>
          </a:p>
          <a:p>
            <a:pPr marL="228600" indent="-228600">
              <a:buChar char="•"/>
            </a:pPr>
            <a:r>
              <a:rPr lang="en-US"/>
              <a:t>What can you add to a page header or footer?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Calculations &amp; Totals in Reports</a:t>
            </a:r>
          </a:p>
          <a:p>
            <a:pPr marL="0" indent="0">
              <a:buNone/>
            </a:pPr>
            <a:r>
              <a:rPr lang="en-US"/>
              <a:t>Teaching notes: Reports can calculate: a group footer can subtotal each group and the report footer can hold a grand total. Use an expression such as =Sum([Price]) to add up a field and =Count(*) to count records. Pupils add a subtotal per Make and a grand total.</a:t>
            </a:r>
          </a:p>
          <a:p>
            <a:pPr marL="0" indent="0">
              <a:buNone/>
            </a:pPr>
            <a:r>
              <a:rPr lang="en-US" b="1"/>
              <a:t>Key questions</a:t>
            </a:r>
          </a:p>
          <a:p>
            <a:pPr marL="228600" indent="-228600">
              <a:buChar char="•"/>
            </a:pPr>
            <a:r>
              <a:rPr lang="en-US"/>
              <a:t>Which expression adds up a field?</a:t>
            </a:r>
          </a:p>
          <a:p>
            <a:pPr marL="228600" indent="-228600">
              <a:buChar char="•"/>
            </a:pPr>
            <a:r>
              <a:rPr lang="en-US"/>
              <a:t>Where does a group subtotal go?</a:t>
            </a:r>
          </a:p>
          <a:p>
            <a:pPr marL="228600" indent="-228600">
              <a:buChar char="•"/>
            </a:pPr>
            <a:r>
              <a:rPr lang="en-US"/>
              <a:t>Where does the grand total go?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Starter Steps — Build Your Cars Database</a:t>
            </a:r>
          </a:p>
          <a:p>
            <a:pPr marL="0" indent="0">
              <a:buNone/>
            </a:pPr>
            <a:r>
              <a:rPr lang="en-US"/>
              <a:t>Teaching notes: Use this slide with Years 10 and 11 as scaffolding for the build. Pupils follow each step in Access, save the object with the right name, then adapt it. Model creating and saving the database file before they start.</a:t>
            </a:r>
          </a:p>
          <a:p>
            <a:pPr marL="0" indent="0">
              <a:buNone/>
            </a:pPr>
            <a:r>
              <a:rPr lang="en-US" b="1"/>
              <a:t>How to use each step</a:t>
            </a:r>
          </a:p>
          <a:p>
            <a:pPr marL="228600" indent="-228600">
              <a:buChar char="•"/>
            </a:pPr>
            <a:r>
              <a:rPr lang="en-US"/>
              <a:t>Step 1 (Create the table): use Create then Table Design, add the fields and data types, set CarID as the primary key, and save as tblCars.</a:t>
            </a:r>
          </a:p>
          <a:p>
            <a:pPr marL="228600" indent="-228600">
              <a:buChar char="•"/>
            </a:pPr>
            <a:r>
              <a:rPr lang="en-US"/>
              <a:t>Step 2 (Query): use Create then Query Design, add tblCars, and type the criteria under the Price field to find the pricier cars.</a:t>
            </a:r>
          </a:p>
          <a:p>
            <a:pPr marL="228600" indent="-228600">
              <a:buChar char="•"/>
            </a:pPr>
            <a:r>
              <a:rPr lang="en-US"/>
              <a:t>Step 3 (Form and report): use the Form Wizard to build frmCars, then the Report Wizard on tblCars grouped by Make with a total.</a:t>
            </a:r>
          </a:p>
          <a:p>
            <a:pPr marL="0" indent="0">
              <a:buNone/>
            </a:pPr>
            <a:r>
              <a:rPr lang="en-US" b="1"/>
              <a:t>Common mistakes to watch for</a:t>
            </a:r>
          </a:p>
          <a:p>
            <a:pPr marL="228600" indent="-228600">
              <a:buChar char="•"/>
            </a:pPr>
            <a:r>
              <a:rPr lang="en-US"/>
              <a:t>Forgetting to set a primary key, or choosing the wrong data type for a field such as Price.</a:t>
            </a:r>
          </a:p>
          <a:p>
            <a:pPr marL="228600" indent="-228600">
              <a:buChar char="•"/>
            </a:pPr>
            <a:r>
              <a:rPr lang="en-US"/>
              <a:t>Typing criteria in the wrong query column, or not saving objects with clear names.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Coursework — Dodgy Dave's Motors Database</a:t>
            </a:r>
            <a:endParaRPr lang="en-US" b="1" dirty="0"/>
          </a:p>
          <a:p>
            <a:pPr marL="0" indent="0">
              <a:buNone/>
            </a:pPr>
            <a:r>
              <a:rPr lang="en-US" dirty="0"/>
              <a:t>Teaching </a:t>
            </a:r>
            <a:r>
              <a:rPr lang="en-US"/>
              <a:t>notes</a:t>
            </a:r>
            <a:r>
              <a:rPr lang="en-US" dirty="0"/>
              <a:t>: </a:t>
            </a:r>
            <a:r>
              <a:rPr lang="en-US"/>
              <a:t>Pupils plan their table first, then build carefully</a:t>
            </a:r>
            <a:r>
              <a:rPr lang="en-US" dirty="0"/>
              <a:t>. </a:t>
            </a:r>
            <a:r>
              <a:rPr lang="en-US"/>
              <a:t>Create tblCars, a data-entry form</a:t>
            </a:r>
            <a:r>
              <a:rPr lang="en-US" dirty="0"/>
              <a:t>, </a:t>
            </a:r>
            <a:r>
              <a:rPr lang="en-US"/>
              <a:t>a query for cars over £10,000 and a grouped report with totals. Stretch</a:t>
            </a:r>
            <a:r>
              <a:rPr lang="en-US" dirty="0"/>
              <a:t>: </a:t>
            </a:r>
            <a:r>
              <a:rPr lang="en-US"/>
              <a:t>add a validation rule on Year </a:t>
            </a:r>
            <a:r>
              <a:rPr lang="en-US" dirty="0"/>
              <a:t>and </a:t>
            </a:r>
            <a:r>
              <a:rPr lang="en-US"/>
              <a:t>a second query sorting newest to oldest</a:t>
            </a:r>
            <a:r>
              <a:rPr lang="en-US" dirty="0"/>
              <a:t>.</a:t>
            </a:r>
          </a:p>
          <a:p>
            <a:pPr marL="0" indent="0">
              <a:buNone/>
            </a:pPr>
            <a:r>
              <a:rPr lang="en-US" b="1"/>
              <a:t>Key </a:t>
            </a:r>
            <a:r>
              <a:rPr lang="en-US" b="1" dirty="0"/>
              <a:t>questions</a:t>
            </a:r>
          </a:p>
          <a:p>
            <a:pPr marL="228600" indent="-228600">
              <a:buChar char="•"/>
            </a:pPr>
            <a:r>
              <a:rPr lang="en-US"/>
              <a:t>Which fields does the Cars table need?</a:t>
            </a:r>
            <a:endParaRPr lang="en-US" dirty="0"/>
          </a:p>
          <a:p>
            <a:pPr marL="228600" indent="-228600">
              <a:buChar char="•"/>
            </a:pPr>
            <a:r>
              <a:rPr lang="en-US"/>
              <a:t>What criteria find cars over £10,000</a:t>
            </a:r>
            <a:r>
              <a:rPr lang="en-US" dirty="0"/>
              <a:t>?</a:t>
            </a:r>
          </a:p>
          <a:p>
            <a:pPr marL="228600" indent="-228600">
              <a:buChar char="•"/>
            </a:pPr>
            <a:r>
              <a:rPr lang="en-US"/>
              <a:t>What does </a:t>
            </a:r>
            <a:r>
              <a:rPr lang="en-US" dirty="0"/>
              <a:t>the stretch</a:t>
            </a:r>
            <a:r>
              <a:rPr lang="en-US"/>
              <a:t> task add?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Quick Quiz — Check Your Understanding</a:t>
            </a:r>
          </a:p>
          <a:p>
            <a:pPr marL="0" indent="0">
              <a:buNone/>
            </a:pPr>
            <a:r>
              <a:rPr lang="en-US"/>
              <a:t>Teaching notes: Run this as a short recall check for Years 10 and 11. Give about eight minutes, let pupils answer from memory, then reveal the mark scheme below and mark in pairs. Total: 14 marks.</a:t>
            </a:r>
          </a:p>
          <a:p>
            <a:pPr marL="0" indent="0">
              <a:buNone/>
            </a:pPr>
            <a:r>
              <a:rPr lang="en-US" b="1"/>
              <a:t>Mark scheme — Section A (recall, 1 mark each)</a:t>
            </a:r>
          </a:p>
          <a:p>
            <a:pPr marL="228600" indent="-228600">
              <a:buChar char="•"/>
            </a:pPr>
            <a:r>
              <a:rPr lang="en-US"/>
              <a:t>1. Currency.</a:t>
            </a:r>
          </a:p>
          <a:p>
            <a:pPr marL="228600" indent="-228600">
              <a:buChar char="•"/>
            </a:pPr>
            <a:r>
              <a:rPr lang="en-US"/>
              <a:t>2. It uniquely identifies each record.</a:t>
            </a:r>
          </a:p>
          <a:p>
            <a:pPr marL="228600" indent="-228600">
              <a:buChar char="•"/>
            </a:pPr>
            <a:r>
              <a:rPr lang="en-US"/>
              <a:t>3. A form.</a:t>
            </a:r>
          </a:p>
          <a:p>
            <a:pPr marL="0" indent="0">
              <a:buNone/>
            </a:pPr>
            <a:r>
              <a:rPr lang="en-US" b="1"/>
              <a:t>Mark scheme — Section B (short answer)</a:t>
            </a:r>
          </a:p>
          <a:p>
            <a:pPr marL="228600" indent="-228600">
              <a:buChar char="•"/>
            </a:pPr>
            <a:r>
              <a:rPr lang="en-US"/>
              <a:t>1. Any two of Short Text, Number, Currency or Date/Time (1 mark each).</a:t>
            </a:r>
          </a:p>
          <a:p>
            <a:pPr marL="228600" indent="-228600">
              <a:buChar char="•"/>
            </a:pPr>
            <a:r>
              <a:rPr lang="en-US"/>
              <a:t>2. It checks that entered data is sensible or within allowed limits, which reduces input errors (2 marks).</a:t>
            </a:r>
          </a:p>
          <a:p>
            <a:pPr marL="228600" indent="-228600">
              <a:buChar char="•"/>
            </a:pPr>
            <a:r>
              <a:rPr lang="en-US"/>
              <a:t>3. Report header, group header, detail, group footer, report footer (any three, 1 mark each).</a:t>
            </a:r>
          </a:p>
          <a:p>
            <a:pPr marL="228600" indent="-228600">
              <a:buChar char="•"/>
            </a:pPr>
            <a:r>
              <a:rPr lang="en-US"/>
              <a:t>4. It searches a table and returns only the records that match the criteria (2 marks).</a:t>
            </a:r>
          </a:p>
          <a:p>
            <a:pPr marL="0" indent="0">
              <a:buNone/>
            </a:pPr>
            <a:r>
              <a:rPr lang="en-US" b="1"/>
              <a:t>Mark scheme — Challenge (5 marks)</a:t>
            </a:r>
          </a:p>
          <a:p>
            <a:pPr marL="228600" indent="-228600">
              <a:buChar char="•"/>
            </a:pPr>
            <a:r>
              <a:rPr lang="en-US"/>
              <a:t>Criteria: greater than 10000 under the Price field (3 marks) — accept &gt;=10000 with a note. The grand total =Sum([Price]) sits in the report footer (2 marks).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pPr marL="0" indent="0">
              <a:buNone/>
            </a:pPr>
            <a:r>
              <a:rPr lang="en-US" b="1"/>
              <a:t>Review — 3-2-1: What You've Learned</a:t>
            </a:r>
            <a:endParaRPr lang="en-US" b="1" dirty="0"/>
          </a:p>
          <a:p>
            <a:pPr marL="0" indent="0">
              <a:buNone/>
            </a:pPr>
            <a:r>
              <a:rPr lang="en-US" dirty="0"/>
              <a:t>Teaching </a:t>
            </a:r>
            <a:r>
              <a:rPr lang="en-US"/>
              <a:t>notes</a:t>
            </a:r>
            <a:r>
              <a:rPr lang="en-US" dirty="0"/>
              <a:t>: </a:t>
            </a:r>
            <a:r>
              <a:rPr lang="en-US"/>
              <a:t>Close </a:t>
            </a:r>
            <a:r>
              <a:rPr lang="en-US" dirty="0"/>
              <a:t>the </a:t>
            </a:r>
            <a:r>
              <a:rPr lang="en-US"/>
              <a:t>unit</a:t>
            </a:r>
            <a:r>
              <a:rPr lang="en-US" dirty="0"/>
              <a:t>: </a:t>
            </a:r>
            <a:r>
              <a:rPr lang="en-US"/>
              <a:t>pupils name </a:t>
            </a:r>
            <a:r>
              <a:rPr lang="en-US" dirty="0"/>
              <a:t>three </a:t>
            </a:r>
            <a:r>
              <a:rPr lang="en-US"/>
              <a:t>database objects </a:t>
            </a:r>
            <a:r>
              <a:rPr lang="en-US" dirty="0"/>
              <a:t>they </a:t>
            </a:r>
            <a:r>
              <a:rPr lang="en-US"/>
              <a:t>can now build</a:t>
            </a:r>
            <a:r>
              <a:rPr lang="en-US" dirty="0"/>
              <a:t>, two </a:t>
            </a:r>
            <a:r>
              <a:rPr lang="en-US"/>
              <a:t>data types they would use in the Cars table</a:t>
            </a:r>
            <a:r>
              <a:rPr lang="en-US" dirty="0"/>
              <a:t>, and one </a:t>
            </a:r>
            <a:r>
              <a:rPr lang="en-US"/>
              <a:t>database </a:t>
            </a:r>
            <a:r>
              <a:rPr lang="en-US" dirty="0"/>
              <a:t>they </a:t>
            </a:r>
            <a:r>
              <a:rPr lang="en-US"/>
              <a:t>would like </a:t>
            </a:r>
            <a:r>
              <a:rPr lang="en-US" dirty="0"/>
              <a:t>to </a:t>
            </a:r>
            <a:r>
              <a:rPr lang="en-US"/>
              <a:t>build next</a:t>
            </a:r>
            <a:r>
              <a:rPr lang="en-US" dirty="0"/>
              <a:t>.</a:t>
            </a:r>
          </a:p>
          <a:p>
            <a:pPr marL="0" indent="0">
              <a:buNone/>
            </a:pPr>
            <a:r>
              <a:rPr lang="en-US" b="1"/>
              <a:t>Key </a:t>
            </a:r>
            <a:r>
              <a:rPr lang="en-US" b="1" dirty="0"/>
              <a:t>questions</a:t>
            </a:r>
          </a:p>
          <a:p>
            <a:pPr marL="228600" indent="-228600">
              <a:buChar char="•"/>
            </a:pPr>
            <a:r>
              <a:rPr lang="en-US"/>
              <a:t>Which </a:t>
            </a:r>
            <a:r>
              <a:rPr lang="en-US" dirty="0"/>
              <a:t>three </a:t>
            </a:r>
            <a:r>
              <a:rPr lang="en-US"/>
              <a:t>database objects can </a:t>
            </a:r>
            <a:r>
              <a:rPr lang="en-US" dirty="0"/>
              <a:t>you </a:t>
            </a:r>
            <a:r>
              <a:rPr lang="en-US"/>
              <a:t>build</a:t>
            </a:r>
            <a:r>
              <a:rPr lang="en-US" dirty="0"/>
              <a:t>?</a:t>
            </a:r>
          </a:p>
          <a:p>
            <a:pPr marL="228600" indent="-228600">
              <a:buChar char="•"/>
            </a:pPr>
            <a:r>
              <a:rPr lang="en-US" dirty="0"/>
              <a:t>Which </a:t>
            </a:r>
            <a:r>
              <a:rPr lang="en-US"/>
              <a:t>two data types suit the Cars table fields</a:t>
            </a:r>
            <a:r>
              <a:rPr lang="en-US" dirty="0"/>
              <a:t>?</a:t>
            </a:r>
          </a:p>
          <a:p>
            <a:pPr marL="228600" indent="-228600">
              <a:buChar char="•"/>
            </a:pPr>
            <a:r>
              <a:rPr lang="en-US" dirty="0"/>
              <a:t>What </a:t>
            </a:r>
            <a:r>
              <a:rPr lang="en-US"/>
              <a:t>will </a:t>
            </a:r>
            <a:r>
              <a:rPr lang="en-US" dirty="0"/>
              <a:t>you </a:t>
            </a:r>
            <a:r>
              <a:rPr lang="en-US"/>
              <a:t>build next</a:t>
            </a:r>
            <a:r>
              <a:rPr lang="en-US" dirty="0"/>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508839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slide5.xml"/><Relationship Id="rId4" Type="http://schemas.openxmlformats.org/officeDocument/2006/relationships/slide" Target="slide3.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10.xml"/><Relationship Id="rId8" Type="http://schemas.openxmlformats.org/officeDocument/2006/relationships/slide" Target="slide4.xml"/><Relationship Id="rId9" Type="http://schemas.openxmlformats.org/officeDocument/2006/relationships/slide" Target="slide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3.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slide" Target="slide2.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image" Target="../media/image3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slide" Target="slide2.xml"/><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3.png"/><Relationship Id="rId9"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slide" Target="slide2.xml"/><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3.png"/><Relationship Id="rId9"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2">
    <p:bg>
      <p:bgPr>
        <a:solidFill>
          <a:srgbClr val="10324B"/>
        </a:solidFill>
        <a:effectLst/>
      </p:bgPr>
    </p:bg>
    <p:spTree>
      <p:nvGrpSpPr>
        <p:cNvPr id="1" name=""/>
        <p:cNvGrpSpPr/>
        <p:nvPr/>
      </p:nvGrpSpPr>
      <p:grpSpPr>
        <a:xfrm>
          <a:off x="0" y="0"/>
          <a:ext cx="0" cy="0"/>
          <a:chOff x="0" y="0"/>
          <a:chExt cx="0" cy="0"/>
        </a:xfrm>
      </p:grpSpPr>
      <p:pic>
        <p:nvPicPr>
          <p:cNvPr id="2" name="Image 0" descr="Database table of records shown on screen"/>
          <p:cNvPicPr>
            <a:picLocks noChangeAspect="1"/>
          </p:cNvPicPr>
          <p:nvPr/>
        </p:nvPicPr>
        <p:blipFill>
          <a:blip r:embed="rId3"/>
          <a:srcRect l="810" r="809"/>
          <a:stretch>
            <a:fillRect/>
          </a:stretch>
        </p:blipFill>
        <p:spPr>
          <a:xfrm>
            <a:off x="1303020" y="2331720"/>
            <a:ext cx="4251960" cy="2834640"/>
          </a:xfrm>
          <a:prstGeom prst="rect">
            <a:avLst/>
          </a:prstGeom>
        </p:spPr>
      </p:pic>
      <p:sp>
        <p:nvSpPr>
          <p:cNvPr id="3" name="Shape 0"/>
          <p:cNvSpPr/>
          <p:nvPr/>
        </p:nvSpPr>
        <p:spPr>
          <a:xfrm>
            <a:off x="0" y="5074920"/>
            <a:ext cx="6858000" cy="32004"/>
          </a:xfrm>
          <a:prstGeom prst="rect">
            <a:avLst/>
          </a:prstGeom>
          <a:solidFill>
            <a:srgbClr val="159BD2"/>
          </a:solidFill>
          <a:ln/>
        </p:spPr>
        <p:txBody>
          <a:bodyPr/>
          <a:lstStyle/>
          <a:p>
            <a:endParaRPr lang="en-AE"/>
          </a:p>
        </p:txBody>
      </p:sp>
      <p:sp>
        <p:nvSpPr>
          <p:cNvPr id="4" name="Text 1"/>
          <p:cNvSpPr/>
          <p:nvPr/>
        </p:nvSpPr>
        <p:spPr>
          <a:xfrm>
            <a:off x="548640" y="91440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IGCSE ICT  </a:t>
            </a:r>
            <a:r>
              <a:rPr lang="en-US" sz="1200" b="1" kern="0" spc="200" dirty="0">
                <a:solidFill>
                  <a:srgbClr val="7FC7E6"/>
                </a:solidFill>
                <a:latin typeface="Calibri" pitchFamily="34" charset="0"/>
                <a:ea typeface="Calibri" pitchFamily="34" charset="-122"/>
                <a:cs typeface="Calibri" pitchFamily="34" charset="-120"/>
              </a:rPr>
              <a:t>·  </a:t>
            </a:r>
            <a:r>
              <a:rPr lang="en-US" sz="1200" b="1" kern="0" spc="200">
                <a:solidFill>
                  <a:srgbClr val="7FC7E6"/>
                </a:solidFill>
                <a:latin typeface="Calibri" pitchFamily="34" charset="0"/>
                <a:ea typeface="Calibri" pitchFamily="34" charset="-122"/>
                <a:cs typeface="Calibri" pitchFamily="34" charset="-120"/>
              </a:rPr>
              <a:t>DATABASES</a:t>
            </a:r>
            <a:endParaRPr lang="en-US" sz="1200" dirty="0"/>
          </a:p>
        </p:txBody>
      </p:sp>
      <p:sp>
        <p:nvSpPr>
          <p:cNvPr id="5" name="Text 2"/>
          <p:cNvSpPr/>
          <p:nvPr/>
        </p:nvSpPr>
        <p:spPr>
          <a:xfrm>
            <a:off x="457200" y="1298448"/>
            <a:ext cx="5943600" cy="731520"/>
          </a:xfrm>
          <a:prstGeom prst="rect">
            <a:avLst/>
          </a:prstGeom>
          <a:noFill/>
          <a:ln/>
        </p:spPr>
        <p:txBody>
          <a:bodyPr wrap="square" lIns="0" tIns="0" rIns="0" bIns="0" rtlCol="0" anchor="ctr"/>
          <a:lstStyle/>
          <a:p>
            <a:pPr marL="0" indent="0" algn="ctr">
              <a:buNone/>
            </a:pPr>
            <a:r>
              <a:rPr lang="en-US" sz="4000" b="1">
                <a:solidFill>
                  <a:srgbClr val="FFFFFF"/>
                </a:solidFill>
                <a:latin typeface="Georgia" pitchFamily="34" charset="0"/>
                <a:ea typeface="Georgia" pitchFamily="34" charset="-122"/>
                <a:cs typeface="Georgia" pitchFamily="34" charset="-120"/>
              </a:rPr>
              <a:t>Building Databases with Access</a:t>
            </a:r>
            <a:endParaRPr lang="en-US" sz="4000" dirty="0"/>
          </a:p>
        </p:txBody>
      </p:sp>
      <p:sp>
        <p:nvSpPr>
          <p:cNvPr id="6" name="Text 3"/>
          <p:cNvSpPr/>
          <p:nvPr/>
        </p:nvSpPr>
        <p:spPr>
          <a:xfrm>
            <a:off x="457200" y="5532120"/>
            <a:ext cx="5943600" cy="548640"/>
          </a:xfrm>
          <a:prstGeom prst="rect">
            <a:avLst/>
          </a:prstGeom>
          <a:noFill/>
          <a:ln/>
        </p:spPr>
        <p:txBody>
          <a:bodyPr wrap="square" lIns="0" tIns="0" rIns="0" bIns="0" rtlCol="0" anchor="ctr"/>
          <a:lstStyle/>
          <a:p>
            <a:pPr marL="0" indent="0" algn="ctr">
              <a:buNone/>
            </a:pPr>
            <a:r>
              <a:rPr lang="en-US" sz="2000" i="1">
                <a:solidFill>
                  <a:srgbClr val="CFE9F5"/>
                </a:solidFill>
                <a:latin typeface="Georgia" pitchFamily="34" charset="0"/>
                <a:ea typeface="Georgia" pitchFamily="34" charset="-122"/>
                <a:cs typeface="Georgia" pitchFamily="34" charset="-120"/>
              </a:rPr>
              <a:t>Relational Databases, Forms, Queries &amp; Reports</a:t>
            </a:r>
            <a:endParaRPr lang="en-US" sz="2000" dirty="0"/>
          </a:p>
        </p:txBody>
      </p:sp>
      <p:sp>
        <p:nvSpPr>
          <p:cNvPr id="7" name="Text 4"/>
          <p:cNvSpPr/>
          <p:nvPr/>
        </p:nvSpPr>
        <p:spPr>
          <a:xfrm>
            <a:off x="822960" y="6309360"/>
            <a:ext cx="5212080" cy="64008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A step-by-step guide to designing, building and querying databases, with hands-on, workable examples</a:t>
            </a:r>
            <a:r>
              <a:rPr lang="en-US" sz="1250" i="1" dirty="0">
                <a:solidFill>
                  <a:srgbClr val="D8ECF5"/>
                </a:solidFill>
                <a:latin typeface="Calibri" pitchFamily="34" charset="0"/>
                <a:ea typeface="Calibri" pitchFamily="34" charset="-122"/>
                <a:cs typeface="Calibri" pitchFamily="34" charset="-120"/>
              </a:rPr>
              <a:t>.</a:t>
            </a:r>
            <a:endParaRPr lang="en-US" sz="1250" dirty="0"/>
          </a:p>
        </p:txBody>
      </p:sp>
      <p:sp>
        <p:nvSpPr>
          <p:cNvPr id="8" name="Shape 5"/>
          <p:cNvSpPr/>
          <p:nvPr/>
        </p:nvSpPr>
        <p:spPr>
          <a:xfrm>
            <a:off x="1293876" y="6986016"/>
            <a:ext cx="978408" cy="978408"/>
          </a:xfrm>
          <a:prstGeom prst="ellipse">
            <a:avLst/>
          </a:prstGeom>
          <a:solidFill>
            <a:srgbClr val="FFFFFF"/>
          </a:solidFill>
          <a:ln/>
        </p:spPr>
        <p:txBody>
          <a:bodyPr/>
          <a:lstStyle/>
          <a:p>
            <a:endParaRPr lang="en-AE"/>
          </a:p>
        </p:txBody>
      </p:sp>
      <p:pic>
        <p:nvPicPr>
          <p:cNvPr id="9" name="Image 1" descr="/agent/turn10/workspace/assets/badges/25.png"/>
          <p:cNvPicPr>
            <a:picLocks noChangeAspect="1"/>
          </p:cNvPicPr>
          <p:nvPr/>
        </p:nvPicPr>
        <p:blipFill>
          <a:blip r:embed="rId4"/>
          <a:stretch>
            <a:fillRect/>
          </a:stretch>
        </p:blipFill>
        <p:spPr>
          <a:xfrm>
            <a:off x="1391638" y="7040880"/>
            <a:ext cx="782884" cy="868680"/>
          </a:xfrm>
          <a:prstGeom prst="rect">
            <a:avLst/>
          </a:prstGeom>
        </p:spPr>
      </p:pic>
      <p:sp>
        <p:nvSpPr>
          <p:cNvPr id="10" name="Text 6"/>
          <p:cNvSpPr/>
          <p:nvPr/>
        </p:nvSpPr>
        <p:spPr>
          <a:xfrm>
            <a:off x="1028700" y="795528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Structure</a:t>
            </a:r>
            <a:endParaRPr lang="en-US" sz="900" dirty="0"/>
          </a:p>
        </p:txBody>
      </p:sp>
      <p:sp>
        <p:nvSpPr>
          <p:cNvPr id="11" name="Shape 7"/>
          <p:cNvSpPr/>
          <p:nvPr/>
        </p:nvSpPr>
        <p:spPr>
          <a:xfrm>
            <a:off x="2939796" y="6986016"/>
            <a:ext cx="978408" cy="978408"/>
          </a:xfrm>
          <a:prstGeom prst="ellipse">
            <a:avLst/>
          </a:prstGeom>
          <a:solidFill>
            <a:srgbClr val="FFFFFF"/>
          </a:solidFill>
          <a:ln/>
        </p:spPr>
        <p:txBody>
          <a:bodyPr/>
          <a:lstStyle/>
          <a:p>
            <a:endParaRPr lang="en-AE"/>
          </a:p>
        </p:txBody>
      </p:sp>
      <p:pic>
        <p:nvPicPr>
          <p:cNvPr id="12" name="Image 2" descr="/agent/turn10/workspace/assets/badges/29.png"/>
          <p:cNvPicPr>
            <a:picLocks noChangeAspect="1"/>
          </p:cNvPicPr>
          <p:nvPr/>
        </p:nvPicPr>
        <p:blipFill>
          <a:blip r:embed="rId5"/>
          <a:stretch>
            <a:fillRect/>
          </a:stretch>
        </p:blipFill>
        <p:spPr>
          <a:xfrm>
            <a:off x="2994660" y="7147052"/>
            <a:ext cx="868680" cy="656336"/>
          </a:xfrm>
          <a:prstGeom prst="rect">
            <a:avLst/>
          </a:prstGeom>
        </p:spPr>
      </p:pic>
      <p:sp>
        <p:nvSpPr>
          <p:cNvPr id="13" name="Text 8"/>
          <p:cNvSpPr/>
          <p:nvPr/>
        </p:nvSpPr>
        <p:spPr>
          <a:xfrm>
            <a:off x="2674620" y="795528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Data</a:t>
            </a:r>
            <a:endParaRPr lang="en-US" sz="900" dirty="0"/>
          </a:p>
        </p:txBody>
      </p:sp>
      <p:sp>
        <p:nvSpPr>
          <p:cNvPr id="14" name="Shape 9"/>
          <p:cNvSpPr/>
          <p:nvPr/>
        </p:nvSpPr>
        <p:spPr>
          <a:xfrm>
            <a:off x="4585716" y="6986016"/>
            <a:ext cx="978408" cy="978408"/>
          </a:xfrm>
          <a:prstGeom prst="ellipse">
            <a:avLst/>
          </a:prstGeom>
          <a:solidFill>
            <a:srgbClr val="FFFFFF"/>
          </a:solidFill>
          <a:ln/>
        </p:spPr>
        <p:txBody>
          <a:bodyPr/>
          <a:lstStyle/>
          <a:p>
            <a:endParaRPr lang="en-AE"/>
          </a:p>
        </p:txBody>
      </p:sp>
      <p:pic>
        <p:nvPicPr>
          <p:cNvPr id="15" name="Image 3" descr="/agent/turn10/workspace/assets/badges/32.png"/>
          <p:cNvPicPr>
            <a:picLocks noChangeAspect="1"/>
          </p:cNvPicPr>
          <p:nvPr/>
        </p:nvPicPr>
        <p:blipFill>
          <a:blip r:embed="rId6"/>
          <a:stretch>
            <a:fillRect/>
          </a:stretch>
        </p:blipFill>
        <p:spPr>
          <a:xfrm>
            <a:off x="4640580" y="7043425"/>
            <a:ext cx="868680" cy="863590"/>
          </a:xfrm>
          <a:prstGeom prst="rect">
            <a:avLst/>
          </a:prstGeom>
        </p:spPr>
      </p:pic>
      <p:sp>
        <p:nvSpPr>
          <p:cNvPr id="16" name="Text 10"/>
          <p:cNvSpPr/>
          <p:nvPr/>
        </p:nvSpPr>
        <p:spPr>
          <a:xfrm>
            <a:off x="4320540" y="795528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Reports</a:t>
            </a:r>
            <a:endParaRPr lang="en-US" sz="900" dirty="0"/>
          </a:p>
        </p:txBody>
      </p:sp>
      <p:sp>
        <p:nvSpPr>
          <p:cNvPr id="18" name="Text 12">
            <a:hlinkClick r:id="rId7"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dirty="0">
                <a:solidFill>
                  <a:srgbClr val="7FC7E6"/>
                </a:solidFill>
                <a:latin typeface="Calibri" pitchFamily="34" charset="0"/>
                <a:ea typeface="Calibri" pitchFamily="34" charset="-122"/>
                <a:cs typeface="Calibri" pitchFamily="34" charset="-120"/>
                <a:hlinkClick r:id="rId7" action="ppaction://hlinksldjump" tooltip="Back to roadmap">
                  <a:extLst>
                    <a:ext uri="{A12FA001-AC4F-418D-AE19-62706E023703}">
                      <ahyp:hlinkClr xmlns:ahyp="http://schemas.microsoft.com/office/drawing/2018/hyperlinkcolor" val="tx"/>
                    </a:ext>
                  </a:extLst>
                </a:hlinkClick>
              </a:rPr>
              <a:t>◂ Roadmap</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46304"/>
          </a:xfrm>
          <a:prstGeom prst="rect">
            <a:avLst/>
          </a:prstGeom>
          <a:solidFill>
            <a:srgbClr val="159BD2"/>
          </a:solidFill>
          <a:ln/>
        </p:spPr>
        <p:txBody>
          <a:bodyPr/>
          <a:lstStyle/>
          <a:p>
            <a:endParaRPr lang="en-AE"/>
          </a:p>
        </p:txBody>
      </p:sp>
      <p:sp>
        <p:nvSpPr>
          <p:cNvPr id="3" name="Text 1"/>
          <p:cNvSpPr/>
          <p:nvPr/>
        </p:nvSpPr>
        <p:spPr>
          <a:xfrm>
            <a:off x="457200" y="420624"/>
            <a:ext cx="4023360" cy="274320"/>
          </a:xfrm>
          <a:prstGeom prst="rect">
            <a:avLst/>
          </a:prstGeom>
          <a:noFill/>
          <a:ln/>
        </p:spPr>
        <p:txBody>
          <a:bodyPr wrap="square" lIns="0" tIns="0" rIns="0" bIns="0" rtlCol="0" anchor="ctr"/>
          <a:lstStyle/>
          <a:p>
            <a:pPr marL="0" indent="0" algn="l">
              <a:buNone/>
            </a:pPr>
            <a:r>
              <a:rPr lang="en-US" sz="1100" b="1" kern="0" spc="200" dirty="0">
                <a:solidFill>
                  <a:srgbClr val="0F7BA8"/>
                </a:solidFill>
                <a:latin typeface="Calibri" pitchFamily="34" charset="0"/>
                <a:ea typeface="Calibri" pitchFamily="34" charset="-122"/>
                <a:cs typeface="Calibri" pitchFamily="34" charset="-120"/>
              </a:rPr>
              <a:t>YOUR LEARNING JOURNEY</a:t>
            </a:r>
            <a:endParaRPr lang="en-US" sz="1100" dirty="0"/>
          </a:p>
        </p:txBody>
      </p:sp>
      <p:sp>
        <p:nvSpPr>
          <p:cNvPr id="4" name="Text 2"/>
          <p:cNvSpPr/>
          <p:nvPr/>
        </p:nvSpPr>
        <p:spPr>
          <a:xfrm>
            <a:off x="457200" y="676656"/>
            <a:ext cx="4023360" cy="91440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Course</a:t>
            </a:r>
            <a:r>
              <a:rPr lang="en-US" sz="2500" b="1" dirty="0">
                <a:solidFill>
                  <a:srgbClr val="10324B"/>
                </a:solidFill>
                <a:latin typeface="Georgia" pitchFamily="34" charset="0"/>
                <a:ea typeface="Georgia" pitchFamily="34" charset="-122"/>
                <a:cs typeface="Georgia" pitchFamily="34" charset="-120"/>
              </a:rPr>
              <a:t> Roadmap</a:t>
            </a:r>
            <a:endParaRPr lang="en-US" sz="2500" dirty="0"/>
          </a:p>
        </p:txBody>
      </p:sp>
      <p:sp>
        <p:nvSpPr>
          <p:cNvPr id="5" name="Shape 3"/>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6" name="Text 4"/>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dirty="0">
                <a:solidFill>
                  <a:srgbClr val="BFE6F6"/>
                </a:solidFill>
                <a:latin typeface="Calibri" pitchFamily="34" charset="0"/>
                <a:ea typeface="Calibri" pitchFamily="34" charset="-122"/>
                <a:cs typeface="Calibri" pitchFamily="34" charset="-120"/>
              </a:rPr>
              <a:t>Teams Assignment</a:t>
            </a:r>
            <a:endParaRPr lang="en-US" sz="1100" dirty="0"/>
          </a:p>
        </p:txBody>
      </p:sp>
      <p:sp>
        <p:nvSpPr>
          <p:cNvPr id="7" name="Text 5"/>
          <p:cNvSpPr/>
          <p:nvPr/>
        </p:nvSpPr>
        <p:spPr>
          <a:xfrm>
            <a:off x="457200" y="1627632"/>
            <a:ext cx="5943600" cy="384048"/>
          </a:xfrm>
          <a:prstGeom prst="rect">
            <a:avLst/>
          </a:prstGeom>
          <a:noFill/>
          <a:ln/>
        </p:spPr>
        <p:txBody>
          <a:bodyPr wrap="square" lIns="0" tIns="0" rIns="0" bIns="0" rtlCol="0" anchor="ctr"/>
          <a:lstStyle/>
          <a:p>
            <a:pPr marL="0" indent="0">
              <a:lnSpc>
                <a:spcPct val="100000"/>
              </a:lnSpc>
              <a:buNone/>
            </a:pPr>
            <a:r>
              <a:rPr lang="en-US" sz="1150" i="1">
                <a:solidFill>
                  <a:srgbClr val="5A6B76"/>
                </a:solidFill>
                <a:latin typeface="Calibri" pitchFamily="34" charset="0"/>
                <a:ea typeface="Calibri" pitchFamily="34" charset="-122"/>
                <a:cs typeface="Calibri" pitchFamily="34" charset="-120"/>
              </a:rPr>
              <a:t>Build your skills module by module — and across the course you’ll build one real project: the Dodgy Dave’s Motors database</a:t>
            </a:r>
            <a:r>
              <a:rPr lang="en-US" sz="1150" i="1" dirty="0">
                <a:solidFill>
                  <a:srgbClr val="5A6B76"/>
                </a:solidFill>
                <a:latin typeface="Calibri" pitchFamily="34" charset="0"/>
                <a:ea typeface="Calibri" pitchFamily="34" charset="-122"/>
                <a:cs typeface="Calibri" pitchFamily="34" charset="-120"/>
              </a:rPr>
              <a:t>.</a:t>
            </a:r>
            <a:endParaRPr lang="en-US" sz="1150" dirty="0"/>
          </a:p>
        </p:txBody>
      </p:sp>
      <p:sp>
        <p:nvSpPr>
          <p:cNvPr id="100" name="Card1 BG"/>
          <p:cNvSpPr/>
          <p:nvPr/>
        </p:nvSpPr>
        <p:spPr>
          <a:xfrm>
            <a:off x="457200" y="204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01" name="Card1 Accent"/>
          <p:cNvSpPr/>
          <p:nvPr/>
        </p:nvSpPr>
        <p:spPr>
          <a:xfrm>
            <a:off x="457200" y="2040000"/>
            <a:ext cx="109728" cy="800000"/>
          </a:xfrm>
          <a:prstGeom prst="rect">
            <a:avLst/>
          </a:prstGeom>
          <a:solidFill>
            <a:srgbClr val="159BD2"/>
          </a:solidFill>
          <a:ln/>
        </p:spPr>
        <p:txBody>
          <a:bodyPr/>
          <a:lstStyle/>
          <a:p>
            <a:endParaRPr lang="en-AE"/>
          </a:p>
        </p:txBody>
      </p:sp>
      <p:sp>
        <p:nvSpPr>
          <p:cNvPr id="102" name="Card1 Circle"/>
          <p:cNvSpPr/>
          <p:nvPr/>
        </p:nvSpPr>
        <p:spPr>
          <a:xfrm>
            <a:off x="749808" y="2183968"/>
            <a:ext cx="512064" cy="512064"/>
          </a:xfrm>
          <a:prstGeom prst="ellipse">
            <a:avLst/>
          </a:prstGeom>
          <a:solidFill>
            <a:srgbClr val="10324B"/>
          </a:solidFill>
          <a:ln/>
        </p:spPr>
        <p:txBody>
          <a:bodyPr/>
          <a:lstStyle/>
          <a:p>
            <a:endParaRPr lang="en-AE"/>
          </a:p>
        </p:txBody>
      </p:sp>
      <p:sp>
        <p:nvSpPr>
          <p:cNvPr id="103" name="Card1 Num">
            <a:hlinkClick r:id="rId3" action="ppaction://hlinksldjump" tooltip="Jump to The World in 1901"/>
          </p:cNvPr>
          <p:cNvSpPr/>
          <p:nvPr/>
        </p:nvSpPr>
        <p:spPr>
          <a:xfrm>
            <a:off x="749808" y="218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3" action="ppaction://hlinksldjump" tooltip="Jump to The World in 1901">
                  <a:extLst>
                    <a:ext uri="{A12FA001-AC4F-418D-AE19-62706E023703}">
                      <ahyp:hlinkClr xmlns:ahyp="http://schemas.microsoft.com/office/drawing/2018/hyperlinkcolor" val="tx"/>
                    </a:ext>
                  </a:extLst>
                </a:hlinkClick>
              </a:rPr>
              <a:t>1</a:t>
            </a:r>
            <a:endParaRPr lang="en-US" sz="1600"/>
          </a:p>
        </p:txBody>
      </p:sp>
      <p:sp>
        <p:nvSpPr>
          <p:cNvPr id="104" name="Card1 Label"/>
          <p:cNvSpPr/>
          <p:nvPr/>
        </p:nvSpPr>
        <p:spPr>
          <a:xfrm>
            <a:off x="1417320" y="216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1</a:t>
            </a:r>
            <a:endParaRPr lang="en-US" sz="850"/>
          </a:p>
        </p:txBody>
      </p:sp>
      <p:sp>
        <p:nvSpPr>
          <p:cNvPr id="105" name="Card1 Title">
            <a:hlinkClick r:id="rId3" action="ppaction://hlinksldjump" tooltip="Jump to The World in 1901"/>
          </p:cNvPr>
          <p:cNvSpPr/>
          <p:nvPr/>
        </p:nvSpPr>
        <p:spPr>
          <a:xfrm>
            <a:off x="1417320" y="231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3" action="ppaction://hlinksldjump" tooltip="Jump to The World in 1901">
                  <a:extLst>
                    <a:ext uri="{A12FA001-AC4F-418D-AE19-62706E023703}">
                      <ahyp:hlinkClr xmlns:ahyp="http://schemas.microsoft.com/office/drawing/2018/hyperlinkcolor" val="tx"/>
                    </a:ext>
                  </a:extLst>
                </a:hlinkClick>
              </a:rPr>
              <a:t>Database Foundations</a:t>
            </a:r>
            <a:endParaRPr lang="en-US" sz="1500"/>
          </a:p>
        </p:txBody>
      </p:sp>
      <p:sp>
        <p:nvSpPr>
          <p:cNvPr id="106" name="Card1 Desc"/>
          <p:cNvSpPr/>
          <p:nvPr/>
        </p:nvSpPr>
        <p:spPr>
          <a:xfrm>
            <a:off x="1417320" y="256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Fields, records, files and tables explained.</a:t>
            </a:r>
            <a:endParaRPr lang="en-US" sz="1050"/>
          </a:p>
        </p:txBody>
      </p:sp>
      <p:sp>
        <p:nvSpPr>
          <p:cNvPr id="107" name="Card1 Jump">
            <a:hlinkClick r:id="rId3" action="ppaction://hlinksldjump" tooltip="Jump to The World in 1901"/>
          </p:cNvPr>
          <p:cNvSpPr/>
          <p:nvPr/>
        </p:nvSpPr>
        <p:spPr>
          <a:xfrm>
            <a:off x="5349240" y="233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3" action="ppaction://hlinksldjump" tooltip="Jump to The World in 1901">
                  <a:extLst>
                    <a:ext uri="{A12FA001-AC4F-418D-AE19-62706E023703}">
                      <ahyp:hlinkClr xmlns:ahyp="http://schemas.microsoft.com/office/drawing/2018/hyperlinkcolor" val="tx"/>
                    </a:ext>
                  </a:extLst>
                </a:hlinkClick>
              </a:rPr>
              <a:t>Jump ▸</a:t>
            </a:r>
            <a:endParaRPr lang="en-US" sz="1000"/>
          </a:p>
        </p:txBody>
      </p:sp>
      <p:sp>
        <p:nvSpPr>
          <p:cNvPr id="110" name="Card2 BG"/>
          <p:cNvSpPr/>
          <p:nvPr/>
        </p:nvSpPr>
        <p:spPr>
          <a:xfrm>
            <a:off x="457200" y="288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11" name="Card2 Accent"/>
          <p:cNvSpPr/>
          <p:nvPr/>
        </p:nvSpPr>
        <p:spPr>
          <a:xfrm>
            <a:off x="457200" y="2880000"/>
            <a:ext cx="109728" cy="800000"/>
          </a:xfrm>
          <a:prstGeom prst="rect">
            <a:avLst/>
          </a:prstGeom>
          <a:solidFill>
            <a:srgbClr val="1C4E70"/>
          </a:solidFill>
          <a:ln/>
        </p:spPr>
        <p:txBody>
          <a:bodyPr/>
          <a:lstStyle/>
          <a:p>
            <a:endParaRPr lang="en-AE"/>
          </a:p>
        </p:txBody>
      </p:sp>
      <p:sp>
        <p:nvSpPr>
          <p:cNvPr id="112" name="Card2 Circle"/>
          <p:cNvSpPr/>
          <p:nvPr/>
        </p:nvSpPr>
        <p:spPr>
          <a:xfrm>
            <a:off x="749808" y="3023968"/>
            <a:ext cx="512064" cy="512064"/>
          </a:xfrm>
          <a:prstGeom prst="ellipse">
            <a:avLst/>
          </a:prstGeom>
          <a:solidFill>
            <a:srgbClr val="10324B"/>
          </a:solidFill>
          <a:ln/>
        </p:spPr>
        <p:txBody>
          <a:bodyPr/>
          <a:lstStyle/>
          <a:p>
            <a:endParaRPr lang="en-AE"/>
          </a:p>
        </p:txBody>
      </p:sp>
      <p:sp>
        <p:nvSpPr>
          <p:cNvPr id="113" name="Card2 Num">
            <a:hlinkClick r:id="rId4" action="ppaction://hlinksldjump" tooltip="Jump to The Causes of War"/>
          </p:cNvPr>
          <p:cNvSpPr/>
          <p:nvPr/>
        </p:nvSpPr>
        <p:spPr>
          <a:xfrm>
            <a:off x="749808" y="302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4" action="ppaction://hlinksldjump" tooltip="Jump to The Causes of War">
                  <a:extLst>
                    <a:ext uri="{A12FA001-AC4F-418D-AE19-62706E023703}">
                      <ahyp:hlinkClr xmlns:ahyp="http://schemas.microsoft.com/office/drawing/2018/hyperlinkcolor" val="tx"/>
                    </a:ext>
                  </a:extLst>
                </a:hlinkClick>
              </a:rPr>
              <a:t>2</a:t>
            </a:r>
            <a:endParaRPr lang="en-US" sz="1600"/>
          </a:p>
        </p:txBody>
      </p:sp>
      <p:sp>
        <p:nvSpPr>
          <p:cNvPr id="114" name="Card2 Label"/>
          <p:cNvSpPr/>
          <p:nvPr/>
        </p:nvSpPr>
        <p:spPr>
          <a:xfrm>
            <a:off x="1417320" y="300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2</a:t>
            </a:r>
            <a:endParaRPr lang="en-US" sz="850"/>
          </a:p>
        </p:txBody>
      </p:sp>
      <p:sp>
        <p:nvSpPr>
          <p:cNvPr id="115" name="Card2 Title">
            <a:hlinkClick r:id="rId4" action="ppaction://hlinksldjump" tooltip="Jump to The Causes of War"/>
          </p:cNvPr>
          <p:cNvSpPr/>
          <p:nvPr/>
        </p:nvSpPr>
        <p:spPr>
          <a:xfrm>
            <a:off x="1417320" y="315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4" action="ppaction://hlinksldjump" tooltip="Jump to The Causes of War">
                  <a:extLst>
                    <a:ext uri="{A12FA001-AC4F-418D-AE19-62706E023703}">
                      <ahyp:hlinkClr xmlns:ahyp="http://schemas.microsoft.com/office/drawing/2018/hyperlinkcolor" val="tx"/>
                    </a:ext>
                  </a:extLst>
                </a:hlinkClick>
              </a:rPr>
              <a:t>Structure &amp; </a:t>
            </a:r>
            <a:r>
              <a:rPr lang="en-US" sz="1500" b="1" u="sng">
                <a:solidFill>
                  <a:srgbClr val="10324B"/>
                </a:solidFill>
                <a:latin typeface="Georgia" pitchFamily="34" charset="0"/>
                <a:ea typeface="Georgia" pitchFamily="34" charset="-122"/>
                <a:cs typeface="Georgia" pitchFamily="34" charset="-120"/>
                <a:hlinkClick r:id="rId4" action="ppaction://hlinksldjump" tooltip="Jump to The Causes of War">
                  <a:extLst>
                    <a:ext uri="{A12FA001-AC4F-418D-AE19-62706E023703}">
                      <ahyp:hlinkClr xmlns:ahyp="http://schemas.microsoft.com/office/drawing/2018/hyperlinkcolor" val="tx"/>
                    </a:ext>
                  </a:extLst>
                </a:hlinkClick>
              </a:rPr>
              <a:t>Key Fields</a:t>
            </a:r>
            <a:endParaRPr lang="en-US" sz="1500"/>
          </a:p>
        </p:txBody>
      </p:sp>
      <p:sp>
        <p:nvSpPr>
          <p:cNvPr id="116" name="Card2 Desc"/>
          <p:cNvSpPr/>
          <p:nvPr/>
        </p:nvSpPr>
        <p:spPr>
          <a:xfrm>
            <a:off x="1417320" y="340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Flat-file, relational databases and key fields.</a:t>
            </a:r>
            <a:endParaRPr lang="en-US" sz="1050"/>
          </a:p>
        </p:txBody>
      </p:sp>
      <p:sp>
        <p:nvSpPr>
          <p:cNvPr id="117" name="Card2 Jump">
            <a:hlinkClick r:id="rId4" action="ppaction://hlinksldjump" tooltip="Jump to The Causes of War"/>
          </p:cNvPr>
          <p:cNvSpPr/>
          <p:nvPr/>
        </p:nvSpPr>
        <p:spPr>
          <a:xfrm>
            <a:off x="5349240" y="317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4" action="ppaction://hlinksldjump" tooltip="Jump to The Causes of War">
                  <a:extLst>
                    <a:ext uri="{A12FA001-AC4F-418D-AE19-62706E023703}">
                      <ahyp:hlinkClr xmlns:ahyp="http://schemas.microsoft.com/office/drawing/2018/hyperlinkcolor" val="tx"/>
                    </a:ext>
                  </a:extLst>
                </a:hlinkClick>
              </a:rPr>
              <a:t>Jump ▸</a:t>
            </a:r>
            <a:endParaRPr lang="en-US" sz="1000"/>
          </a:p>
        </p:txBody>
      </p:sp>
      <p:sp>
        <p:nvSpPr>
          <p:cNvPr id="120" name="Card3 BG"/>
          <p:cNvSpPr/>
          <p:nvPr/>
        </p:nvSpPr>
        <p:spPr>
          <a:xfrm>
            <a:off x="457200" y="372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21" name="Card3 Accent"/>
          <p:cNvSpPr/>
          <p:nvPr/>
        </p:nvSpPr>
        <p:spPr>
          <a:xfrm>
            <a:off x="457200" y="3720000"/>
            <a:ext cx="109728" cy="800000"/>
          </a:xfrm>
          <a:prstGeom prst="rect">
            <a:avLst/>
          </a:prstGeom>
          <a:solidFill>
            <a:srgbClr val="1C4E70"/>
          </a:solidFill>
          <a:ln/>
        </p:spPr>
        <p:txBody>
          <a:bodyPr/>
          <a:lstStyle/>
          <a:p>
            <a:endParaRPr lang="en-AE"/>
          </a:p>
        </p:txBody>
      </p:sp>
      <p:sp>
        <p:nvSpPr>
          <p:cNvPr id="122" name="Card3 Circle"/>
          <p:cNvSpPr/>
          <p:nvPr/>
        </p:nvSpPr>
        <p:spPr>
          <a:xfrm>
            <a:off x="749808" y="3863968"/>
            <a:ext cx="512064" cy="512064"/>
          </a:xfrm>
          <a:prstGeom prst="ellipse">
            <a:avLst/>
          </a:prstGeom>
          <a:solidFill>
            <a:srgbClr val="10324B"/>
          </a:solidFill>
          <a:ln/>
        </p:spPr>
        <p:txBody>
          <a:bodyPr/>
          <a:lstStyle/>
          <a:p>
            <a:endParaRPr lang="en-AE"/>
          </a:p>
        </p:txBody>
      </p:sp>
      <p:sp>
        <p:nvSpPr>
          <p:cNvPr id="123" name="Card3 Num">
            <a:hlinkClick r:id="rId5" action="ppaction://hlinksldjump" tooltip="Jump to Superpower Rivalry, 1950-56"/>
          </p:cNvPr>
          <p:cNvSpPr/>
          <p:nvPr/>
        </p:nvSpPr>
        <p:spPr>
          <a:xfrm>
            <a:off x="749808" y="386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5" action="ppaction://hlinksldjump" tooltip="Jump to Superpower Rivalry, 1950-56">
                  <a:extLst>
                    <a:ext uri="{A12FA001-AC4F-418D-AE19-62706E023703}">
                      <ahyp:hlinkClr xmlns:ahyp="http://schemas.microsoft.com/office/drawing/2018/hyperlinkcolor" val="tx"/>
                    </a:ext>
                  </a:extLst>
                </a:hlinkClick>
              </a:rPr>
              <a:t>3</a:t>
            </a:r>
            <a:endParaRPr lang="en-US" sz="1600"/>
          </a:p>
        </p:txBody>
      </p:sp>
      <p:sp>
        <p:nvSpPr>
          <p:cNvPr id="124" name="Card3 Label"/>
          <p:cNvSpPr/>
          <p:nvPr/>
        </p:nvSpPr>
        <p:spPr>
          <a:xfrm>
            <a:off x="1417320" y="384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3</a:t>
            </a:r>
            <a:endParaRPr lang="en-US" sz="850"/>
          </a:p>
        </p:txBody>
      </p:sp>
      <p:sp>
        <p:nvSpPr>
          <p:cNvPr id="125" name="Card3 Title">
            <a:hlinkClick r:id="rId5" action="ppaction://hlinksldjump" tooltip="Jump to Superpower Rivalry, 1950-56"/>
          </p:cNvPr>
          <p:cNvSpPr/>
          <p:nvPr/>
        </p:nvSpPr>
        <p:spPr>
          <a:xfrm>
            <a:off x="1417320" y="399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5" action="ppaction://hlinksldjump" tooltip="Jump to Superpower Rivalry, 1950-56">
                  <a:extLst>
                    <a:ext uri="{A12FA001-AC4F-418D-AE19-62706E023703}">
                      <ahyp:hlinkClr xmlns:ahyp="http://schemas.microsoft.com/office/drawing/2018/hyperlinkcolor" val="tx"/>
                    </a:ext>
                  </a:extLst>
                </a:hlinkClick>
              </a:rPr>
              <a:t>Data Types &amp; </a:t>
            </a:r>
            <a:r>
              <a:rPr lang="en-US" sz="1500" b="1" u="sng">
                <a:solidFill>
                  <a:srgbClr val="10324B"/>
                </a:solidFill>
                <a:latin typeface="Georgia" pitchFamily="34" charset="0"/>
                <a:ea typeface="Georgia" pitchFamily="34" charset="-122"/>
                <a:cs typeface="Georgia" pitchFamily="34" charset="-120"/>
                <a:hlinkClick r:id="rId5" action="ppaction://hlinksldjump" tooltip="Jump to Superpower Rivalry, 1950-56">
                  <a:extLst>
                    <a:ext uri="{A12FA001-AC4F-418D-AE19-62706E023703}">
                      <ahyp:hlinkClr xmlns:ahyp="http://schemas.microsoft.com/office/drawing/2018/hyperlinkcolor" val="tx"/>
                    </a:ext>
                  </a:extLst>
                </a:hlinkClick>
              </a:rPr>
              <a:t>Tables</a:t>
            </a:r>
            <a:endParaRPr lang="en-US" sz="1500"/>
          </a:p>
        </p:txBody>
      </p:sp>
      <p:sp>
        <p:nvSpPr>
          <p:cNvPr id="126" name="Card3 Desc"/>
          <p:cNvSpPr/>
          <p:nvPr/>
        </p:nvSpPr>
        <p:spPr>
          <a:xfrm>
            <a:off x="1417320" y="424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Data types, importing a CSV and entering data.</a:t>
            </a:r>
            <a:endParaRPr lang="en-US" sz="1050"/>
          </a:p>
        </p:txBody>
      </p:sp>
      <p:sp>
        <p:nvSpPr>
          <p:cNvPr id="127" name="Card3 Jump">
            <a:hlinkClick r:id="rId5" action="ppaction://hlinksldjump" tooltip="Jump to Superpower Rivalry, 1950-56"/>
          </p:cNvPr>
          <p:cNvSpPr/>
          <p:nvPr/>
        </p:nvSpPr>
        <p:spPr>
          <a:xfrm>
            <a:off x="5349240" y="401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5" action="ppaction://hlinksldjump" tooltip="Jump to Superpower Rivalry, 1950-56">
                  <a:extLst>
                    <a:ext uri="{A12FA001-AC4F-418D-AE19-62706E023703}">
                      <ahyp:hlinkClr xmlns:ahyp="http://schemas.microsoft.com/office/drawing/2018/hyperlinkcolor" val="tx"/>
                    </a:ext>
                  </a:extLst>
                </a:hlinkClick>
              </a:rPr>
              <a:t>Jump ▸</a:t>
            </a:r>
            <a:endParaRPr lang="en-US" sz="1000"/>
          </a:p>
        </p:txBody>
      </p:sp>
      <p:sp>
        <p:nvSpPr>
          <p:cNvPr id="130" name="Card4 BG"/>
          <p:cNvSpPr/>
          <p:nvPr/>
        </p:nvSpPr>
        <p:spPr>
          <a:xfrm>
            <a:off x="457200" y="456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31" name="Card4 Accent"/>
          <p:cNvSpPr/>
          <p:nvPr/>
        </p:nvSpPr>
        <p:spPr>
          <a:xfrm>
            <a:off x="457200" y="4560000"/>
            <a:ext cx="109728" cy="800000"/>
          </a:xfrm>
          <a:prstGeom prst="rect">
            <a:avLst/>
          </a:prstGeom>
          <a:solidFill>
            <a:srgbClr val="0F7BA8"/>
          </a:solidFill>
          <a:ln/>
        </p:spPr>
        <p:txBody>
          <a:bodyPr/>
          <a:lstStyle/>
          <a:p>
            <a:endParaRPr lang="en-AE"/>
          </a:p>
        </p:txBody>
      </p:sp>
      <p:sp>
        <p:nvSpPr>
          <p:cNvPr id="132" name="Card4 Circle"/>
          <p:cNvSpPr/>
          <p:nvPr/>
        </p:nvSpPr>
        <p:spPr>
          <a:xfrm>
            <a:off x="749808" y="4703968"/>
            <a:ext cx="512064" cy="512064"/>
          </a:xfrm>
          <a:prstGeom prst="ellipse">
            <a:avLst/>
          </a:prstGeom>
          <a:solidFill>
            <a:srgbClr val="10324B"/>
          </a:solidFill>
          <a:ln/>
        </p:spPr>
        <p:txBody>
          <a:bodyPr/>
          <a:lstStyle/>
          <a:p>
            <a:endParaRPr lang="en-AE"/>
          </a:p>
        </p:txBody>
      </p:sp>
      <p:sp>
        <p:nvSpPr>
          <p:cNvPr id="133" name="Card4 Num">
            <a:hlinkClick r:id="rId6" action="ppaction://hlinksldjump" tooltip="Jump to Three Crises"/>
          </p:cNvPr>
          <p:cNvSpPr/>
          <p:nvPr/>
        </p:nvSpPr>
        <p:spPr>
          <a:xfrm>
            <a:off x="749808" y="470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6" action="ppaction://hlinksldjump" tooltip="Jump to Three Crises">
                  <a:extLst>
                    <a:ext uri="{A12FA001-AC4F-418D-AE19-62706E023703}">
                      <ahyp:hlinkClr xmlns:ahyp="http://schemas.microsoft.com/office/drawing/2018/hyperlinkcolor" val="tx"/>
                    </a:ext>
                  </a:extLst>
                </a:hlinkClick>
              </a:rPr>
              <a:t>4</a:t>
            </a:r>
            <a:endParaRPr lang="en-US" sz="1600"/>
          </a:p>
        </p:txBody>
      </p:sp>
      <p:sp>
        <p:nvSpPr>
          <p:cNvPr id="134" name="Card4 Label"/>
          <p:cNvSpPr/>
          <p:nvPr/>
        </p:nvSpPr>
        <p:spPr>
          <a:xfrm>
            <a:off x="1417320" y="468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4</a:t>
            </a:r>
            <a:endParaRPr lang="en-US" sz="850"/>
          </a:p>
        </p:txBody>
      </p:sp>
      <p:sp>
        <p:nvSpPr>
          <p:cNvPr id="135" name="Card4 Title">
            <a:hlinkClick r:id="rId6" action="ppaction://hlinksldjump" tooltip="Jump to Three Crises"/>
          </p:cNvPr>
          <p:cNvSpPr/>
          <p:nvPr/>
        </p:nvSpPr>
        <p:spPr>
          <a:xfrm>
            <a:off x="1417320" y="483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6" action="ppaction://hlinksldjump" tooltip="Jump to Three Crises">
                  <a:extLst>
                    <a:ext uri="{A12FA001-AC4F-418D-AE19-62706E023703}">
                      <ahyp:hlinkClr xmlns:ahyp="http://schemas.microsoft.com/office/drawing/2018/hyperlinkcolor" val="tx"/>
                    </a:ext>
                  </a:extLst>
                </a:hlinkClick>
              </a:rPr>
              <a:t>Data Entry Forms</a:t>
            </a:r>
            <a:endParaRPr lang="en-US" sz="1500"/>
          </a:p>
        </p:txBody>
      </p:sp>
      <p:sp>
        <p:nvSpPr>
          <p:cNvPr id="136" name="Card4 Desc"/>
          <p:cNvSpPr/>
          <p:nvPr/>
        </p:nvSpPr>
        <p:spPr>
          <a:xfrm>
            <a:off x="1417320" y="508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Building, editing and designing data forms.</a:t>
            </a:r>
            <a:endParaRPr lang="en-US" sz="1050"/>
          </a:p>
        </p:txBody>
      </p:sp>
      <p:sp>
        <p:nvSpPr>
          <p:cNvPr id="137" name="Card4 Jump">
            <a:hlinkClick r:id="rId6" action="ppaction://hlinksldjump" tooltip="Jump to Three Crises"/>
          </p:cNvPr>
          <p:cNvSpPr/>
          <p:nvPr/>
        </p:nvSpPr>
        <p:spPr>
          <a:xfrm>
            <a:off x="5349240" y="485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6" action="ppaction://hlinksldjump" tooltip="Jump to Three Crises">
                  <a:extLst>
                    <a:ext uri="{A12FA001-AC4F-418D-AE19-62706E023703}">
                      <ahyp:hlinkClr xmlns:ahyp="http://schemas.microsoft.com/office/drawing/2018/hyperlinkcolor" val="tx"/>
                    </a:ext>
                  </a:extLst>
                </a:hlinkClick>
              </a:rPr>
              <a:t>Jump ▸</a:t>
            </a:r>
            <a:endParaRPr lang="en-US" sz="1000"/>
          </a:p>
        </p:txBody>
      </p:sp>
      <p:sp>
        <p:nvSpPr>
          <p:cNvPr id="140" name="Card5 BG"/>
          <p:cNvSpPr/>
          <p:nvPr/>
        </p:nvSpPr>
        <p:spPr>
          <a:xfrm>
            <a:off x="457200" y="540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41" name="Card5 Accent"/>
          <p:cNvSpPr/>
          <p:nvPr/>
        </p:nvSpPr>
        <p:spPr>
          <a:xfrm>
            <a:off x="457200" y="5400000"/>
            <a:ext cx="109728" cy="800000"/>
          </a:xfrm>
          <a:prstGeom prst="rect">
            <a:avLst/>
          </a:prstGeom>
          <a:solidFill>
            <a:srgbClr val="1C4E70"/>
          </a:solidFill>
          <a:ln/>
        </p:spPr>
        <p:txBody>
          <a:bodyPr/>
          <a:lstStyle/>
          <a:p>
            <a:endParaRPr lang="en-AE"/>
          </a:p>
        </p:txBody>
      </p:sp>
      <p:sp>
        <p:nvSpPr>
          <p:cNvPr id="142" name="Card5 Circle"/>
          <p:cNvSpPr/>
          <p:nvPr/>
        </p:nvSpPr>
        <p:spPr>
          <a:xfrm>
            <a:off x="749808" y="5543968"/>
            <a:ext cx="512064" cy="512064"/>
          </a:xfrm>
          <a:prstGeom prst="ellipse">
            <a:avLst/>
          </a:prstGeom>
          <a:solidFill>
            <a:srgbClr val="10324B"/>
          </a:solidFill>
          <a:ln/>
        </p:spPr>
        <p:txBody>
          <a:bodyPr/>
          <a:lstStyle/>
          <a:p>
            <a:endParaRPr lang="en-AE"/>
          </a:p>
        </p:txBody>
      </p:sp>
      <p:sp>
        <p:nvSpPr>
          <p:cNvPr id="143" name="Card5 Num">
            <a:hlinkClick r:id="rId7" action="ppaction://hlinksldjump" tooltip="Jump to The Thaw &amp; Detente"/>
          </p:cNvPr>
          <p:cNvSpPr/>
          <p:nvPr/>
        </p:nvSpPr>
        <p:spPr>
          <a:xfrm>
            <a:off x="749808" y="554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7" action="ppaction://hlinksldjump" tooltip="Jump to The Thaw &amp; Detente">
                  <a:extLst>
                    <a:ext uri="{A12FA001-AC4F-418D-AE19-62706E023703}">
                      <ahyp:hlinkClr xmlns:ahyp="http://schemas.microsoft.com/office/drawing/2018/hyperlinkcolor" val="tx"/>
                    </a:ext>
                  </a:extLst>
                </a:hlinkClick>
              </a:rPr>
              <a:t>5</a:t>
            </a:r>
            <a:endParaRPr lang="en-US" sz="1600"/>
          </a:p>
        </p:txBody>
      </p:sp>
      <p:sp>
        <p:nvSpPr>
          <p:cNvPr id="144" name="Card5 Label"/>
          <p:cNvSpPr/>
          <p:nvPr/>
        </p:nvSpPr>
        <p:spPr>
          <a:xfrm>
            <a:off x="1417320" y="552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5</a:t>
            </a:r>
            <a:endParaRPr lang="en-US" sz="850"/>
          </a:p>
        </p:txBody>
      </p:sp>
      <p:sp>
        <p:nvSpPr>
          <p:cNvPr id="145" name="Card5 Title">
            <a:hlinkClick r:id="rId7" action="ppaction://hlinksldjump" tooltip="Jump to The Thaw &amp; Detente"/>
          </p:cNvPr>
          <p:cNvSpPr/>
          <p:nvPr/>
        </p:nvSpPr>
        <p:spPr>
          <a:xfrm>
            <a:off x="1417320" y="567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7" action="ppaction://hlinksldjump" tooltip="Jump to The Thaw &amp; Detente">
                  <a:extLst>
                    <a:ext uri="{A12FA001-AC4F-418D-AE19-62706E023703}">
                      <ahyp:hlinkClr xmlns:ahyp="http://schemas.microsoft.com/office/drawing/2018/hyperlinkcolor" val="tx"/>
                    </a:ext>
                  </a:extLst>
                </a:hlinkClick>
              </a:rPr>
              <a:t>Searches </a:t>
            </a:r>
            <a:r>
              <a:rPr lang="en-US" sz="1500" b="1" u="sng">
                <a:solidFill>
                  <a:srgbClr val="10324B"/>
                </a:solidFill>
                <a:latin typeface="Georgia" pitchFamily="34" charset="0"/>
                <a:ea typeface="Georgia" pitchFamily="34" charset="-122"/>
                <a:cs typeface="Georgia" pitchFamily="34" charset="-120"/>
                <a:hlinkClick r:id="rId7" action="ppaction://hlinksldjump" tooltip="Jump to The Thaw &amp; Detente">
                  <a:extLst>
                    <a:ext uri="{A12FA001-AC4F-418D-AE19-62706E023703}">
                      <ahyp:hlinkClr xmlns:ahyp="http://schemas.microsoft.com/office/drawing/2018/hyperlinkcolor" val="tx"/>
                    </a:ext>
                  </a:extLst>
                </a:hlinkClick>
              </a:rPr>
              <a:t>&amp; </a:t>
            </a:r>
            <a:r>
              <a:rPr lang="en-US" sz="1500" b="1" u="sng">
                <a:solidFill>
                  <a:srgbClr val="10324B"/>
                </a:solidFill>
                <a:latin typeface="Georgia" pitchFamily="34" charset="0"/>
                <a:ea typeface="Georgia" pitchFamily="34" charset="-122"/>
                <a:cs typeface="Georgia" pitchFamily="34" charset="-120"/>
                <a:hlinkClick r:id="rId7" action="ppaction://hlinksldjump" tooltip="Jump to The Thaw &amp; Detente">
                  <a:extLst>
                    <a:ext uri="{A12FA001-AC4F-418D-AE19-62706E023703}">
                      <ahyp:hlinkClr xmlns:ahyp="http://schemas.microsoft.com/office/drawing/2018/hyperlinkcolor" val="tx"/>
                    </a:ext>
                  </a:extLst>
                </a:hlinkClick>
              </a:rPr>
              <a:t>Queries</a:t>
            </a:r>
            <a:endParaRPr lang="en-US" sz="1500"/>
          </a:p>
        </p:txBody>
      </p:sp>
      <p:sp>
        <p:nvSpPr>
          <p:cNvPr id="146" name="Card5 Desc"/>
          <p:cNvSpPr/>
          <p:nvPr/>
        </p:nvSpPr>
        <p:spPr>
          <a:xfrm>
            <a:off x="1417320" y="592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Selecting records with queries and criteria.</a:t>
            </a:r>
            <a:endParaRPr lang="en-US" sz="1050"/>
          </a:p>
        </p:txBody>
      </p:sp>
      <p:sp>
        <p:nvSpPr>
          <p:cNvPr id="147" name="Card5 Jump">
            <a:hlinkClick r:id="rId7" action="ppaction://hlinksldjump" tooltip="Jump to The Thaw &amp; Detente"/>
          </p:cNvPr>
          <p:cNvSpPr/>
          <p:nvPr/>
        </p:nvSpPr>
        <p:spPr>
          <a:xfrm>
            <a:off x="5349240" y="569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7" action="ppaction://hlinksldjump" tooltip="Jump to The Thaw &amp; Detente">
                  <a:extLst>
                    <a:ext uri="{A12FA001-AC4F-418D-AE19-62706E023703}">
                      <ahyp:hlinkClr xmlns:ahyp="http://schemas.microsoft.com/office/drawing/2018/hyperlinkcolor" val="tx"/>
                    </a:ext>
                  </a:extLst>
                </a:hlinkClick>
              </a:rPr>
              <a:t>Jump ▸</a:t>
            </a:r>
            <a:endParaRPr lang="en-US" sz="1000"/>
          </a:p>
        </p:txBody>
      </p:sp>
      <p:sp>
        <p:nvSpPr>
          <p:cNvPr id="150" name="Card6 BG"/>
          <p:cNvSpPr/>
          <p:nvPr/>
        </p:nvSpPr>
        <p:spPr>
          <a:xfrm>
            <a:off x="457200" y="624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51" name="Card6 Accent"/>
          <p:cNvSpPr/>
          <p:nvPr/>
        </p:nvSpPr>
        <p:spPr>
          <a:xfrm>
            <a:off x="457200" y="6240000"/>
            <a:ext cx="109728" cy="800000"/>
          </a:xfrm>
          <a:prstGeom prst="rect">
            <a:avLst/>
          </a:prstGeom>
          <a:solidFill>
            <a:srgbClr val="1C4E70"/>
          </a:solidFill>
          <a:ln/>
        </p:spPr>
        <p:txBody>
          <a:bodyPr/>
          <a:lstStyle/>
          <a:p>
            <a:endParaRPr lang="en-AE"/>
          </a:p>
        </p:txBody>
      </p:sp>
      <p:sp>
        <p:nvSpPr>
          <p:cNvPr id="152" name="Card6 Circle"/>
          <p:cNvSpPr/>
          <p:nvPr/>
        </p:nvSpPr>
        <p:spPr>
          <a:xfrm>
            <a:off x="749808" y="6383968"/>
            <a:ext cx="512064" cy="512064"/>
          </a:xfrm>
          <a:prstGeom prst="ellipse">
            <a:avLst/>
          </a:prstGeom>
          <a:solidFill>
            <a:srgbClr val="10324B"/>
          </a:solidFill>
          <a:ln/>
        </p:spPr>
        <p:txBody>
          <a:bodyPr/>
          <a:lstStyle/>
          <a:p>
            <a:endParaRPr lang="en-AE"/>
          </a:p>
        </p:txBody>
      </p:sp>
      <p:sp>
        <p:nvSpPr>
          <p:cNvPr id="153" name="Card6 Num">
            <a:hlinkClick r:id="rId8" action="ppaction://hlinksldjump" tooltip="Jump to Timeline &amp; Key Terms"/>
          </p:cNvPr>
          <p:cNvSpPr/>
          <p:nvPr/>
        </p:nvSpPr>
        <p:spPr>
          <a:xfrm>
            <a:off x="749808" y="638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8" action="ppaction://hlinksldjump" tooltip="Jump to Timeline &amp; Key Terms">
                  <a:extLst>
                    <a:ext uri="{A12FA001-AC4F-418D-AE19-62706E023703}">
                      <ahyp:hlinkClr xmlns:ahyp="http://schemas.microsoft.com/office/drawing/2018/hyperlinkcolor" val="tx"/>
                    </a:ext>
                  </a:extLst>
                </a:hlinkClick>
              </a:rPr>
              <a:t>6</a:t>
            </a:r>
            <a:endParaRPr lang="en-US" sz="1600"/>
          </a:p>
        </p:txBody>
      </p:sp>
      <p:sp>
        <p:nvSpPr>
          <p:cNvPr id="154" name="Card6 Label"/>
          <p:cNvSpPr/>
          <p:nvPr/>
        </p:nvSpPr>
        <p:spPr>
          <a:xfrm>
            <a:off x="1417320" y="636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6</a:t>
            </a:r>
            <a:endParaRPr lang="en-US" sz="850"/>
          </a:p>
        </p:txBody>
      </p:sp>
      <p:sp>
        <p:nvSpPr>
          <p:cNvPr id="155" name="Card6 Title">
            <a:hlinkClick r:id="rId8" action="ppaction://hlinksldjump" tooltip="Jump to Timeline &amp; Key Terms"/>
          </p:cNvPr>
          <p:cNvSpPr/>
          <p:nvPr/>
        </p:nvSpPr>
        <p:spPr>
          <a:xfrm>
            <a:off x="1417320" y="651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8" action="ppaction://hlinksldjump" tooltip="Jump to Timeline &amp; Key Terms">
                  <a:extLst>
                    <a:ext uri="{A12FA001-AC4F-418D-AE19-62706E023703}">
                      <ahyp:hlinkClr xmlns:ahyp="http://schemas.microsoft.com/office/drawing/2018/hyperlinkcolor" val="tx"/>
                    </a:ext>
                  </a:extLst>
                </a:hlinkClick>
              </a:rPr>
              <a:t>Calculations &amp; Summaries</a:t>
            </a:r>
            <a:endParaRPr lang="en-US" sz="1500"/>
          </a:p>
        </p:txBody>
      </p:sp>
      <p:sp>
        <p:nvSpPr>
          <p:cNvPr id="156" name="Card6 Desc"/>
          <p:cNvSpPr/>
          <p:nvPr/>
        </p:nvSpPr>
        <p:spPr>
          <a:xfrm>
            <a:off x="1417320" y="676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Calculated fields, and sum, average and count.</a:t>
            </a:r>
            <a:endParaRPr lang="en-US" sz="1050"/>
          </a:p>
        </p:txBody>
      </p:sp>
      <p:sp>
        <p:nvSpPr>
          <p:cNvPr id="157" name="Card6 Jump">
            <a:hlinkClick r:id="rId8" action="ppaction://hlinksldjump" tooltip="Jump to Timeline &amp; Key Terms"/>
          </p:cNvPr>
          <p:cNvSpPr/>
          <p:nvPr/>
        </p:nvSpPr>
        <p:spPr>
          <a:xfrm>
            <a:off x="5349240" y="653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8" action="ppaction://hlinksldjump" tooltip="Jump to Timeline &amp; Key Terms">
                  <a:extLst>
                    <a:ext uri="{A12FA001-AC4F-418D-AE19-62706E023703}">
                      <ahyp:hlinkClr xmlns:ahyp="http://schemas.microsoft.com/office/drawing/2018/hyperlinkcolor" val="tx"/>
                    </a:ext>
                  </a:extLst>
                </a:hlinkClick>
              </a:rPr>
              <a:t>Jump ▸</a:t>
            </a:r>
            <a:endParaRPr lang="en-US" sz="1000"/>
          </a:p>
        </p:txBody>
      </p:sp>
      <p:sp>
        <p:nvSpPr>
          <p:cNvPr id="160" name="Card7 BG"/>
          <p:cNvSpPr/>
          <p:nvPr/>
        </p:nvSpPr>
        <p:spPr>
          <a:xfrm>
            <a:off x="457200" y="7080000"/>
            <a:ext cx="5943600" cy="800000"/>
          </a:xfrm>
          <a:prstGeom prst="roundRect">
            <a:avLst>
              <a:gd name="adj" fmla="val 6667"/>
            </a:avLst>
          </a:prstGeom>
          <a:solidFill>
            <a:srgbClr val="F4FBFE"/>
          </a:solidFill>
          <a:ln w="12700">
            <a:solidFill>
              <a:srgbClr val="D7EBF5"/>
            </a:solidFill>
            <a:prstDash val="solid"/>
          </a:ln>
        </p:spPr>
        <p:txBody>
          <a:bodyPr/>
          <a:lstStyle/>
          <a:p>
            <a:endParaRPr lang="en-AE"/>
          </a:p>
        </p:txBody>
      </p:sp>
      <p:sp>
        <p:nvSpPr>
          <p:cNvPr id="161" name="Card7 Accent"/>
          <p:cNvSpPr/>
          <p:nvPr/>
        </p:nvSpPr>
        <p:spPr>
          <a:xfrm>
            <a:off x="457200" y="7080000"/>
            <a:ext cx="109728" cy="800000"/>
          </a:xfrm>
          <a:prstGeom prst="rect">
            <a:avLst/>
          </a:prstGeom>
          <a:solidFill>
            <a:srgbClr val="1C4E70"/>
          </a:solidFill>
          <a:ln/>
        </p:spPr>
        <p:txBody>
          <a:bodyPr/>
          <a:lstStyle/>
          <a:p>
            <a:endParaRPr lang="en-AE"/>
          </a:p>
        </p:txBody>
      </p:sp>
      <p:sp>
        <p:nvSpPr>
          <p:cNvPr id="162" name="Card7 Circle"/>
          <p:cNvSpPr/>
          <p:nvPr/>
        </p:nvSpPr>
        <p:spPr>
          <a:xfrm>
            <a:off x="749808" y="7223968"/>
            <a:ext cx="512064" cy="512064"/>
          </a:xfrm>
          <a:prstGeom prst="ellipse">
            <a:avLst/>
          </a:prstGeom>
          <a:solidFill>
            <a:srgbClr val="10324B"/>
          </a:solidFill>
          <a:ln/>
        </p:spPr>
        <p:txBody>
          <a:bodyPr/>
          <a:lstStyle/>
          <a:p>
            <a:endParaRPr lang="en-AE"/>
          </a:p>
        </p:txBody>
      </p:sp>
      <p:sp>
        <p:nvSpPr>
          <p:cNvPr id="163" name="Card7 Num">
            <a:hlinkClick r:id="rId9" action="ppaction://hlinksldjump" tooltip="Jump to Revision &amp; Exam Practice"/>
          </p:cNvPr>
          <p:cNvSpPr/>
          <p:nvPr/>
        </p:nvSpPr>
        <p:spPr>
          <a:xfrm>
            <a:off x="749808" y="7223968"/>
            <a:ext cx="512064" cy="512064"/>
          </a:xfrm>
          <a:prstGeom prst="rect">
            <a:avLst/>
          </a:prstGeom>
          <a:noFill/>
          <a:ln/>
        </p:spPr>
        <p:txBody>
          <a:bodyPr wrap="square" lIns="0" tIns="0" rIns="0" bIns="0" rtlCol="0" anchor="ctr"/>
          <a:lstStyle/>
          <a:p>
            <a:pPr marL="0" indent="0" algn="ctr">
              <a:buNone/>
            </a:pPr>
            <a:r>
              <a:rPr lang="en-US" sz="1600" b="1" u="sng">
                <a:solidFill>
                  <a:srgbClr val="FFFFFF"/>
                </a:solidFill>
                <a:latin typeface="Georgia" pitchFamily="34" charset="0"/>
                <a:ea typeface="Georgia" pitchFamily="34" charset="-122"/>
                <a:cs typeface="Georgia" pitchFamily="34" charset="-120"/>
                <a:hlinkClick r:id="rId9" action="ppaction://hlinksldjump" tooltip="Jump to Revision &amp; Exam Practice">
                  <a:extLst>
                    <a:ext uri="{A12FA001-AC4F-418D-AE19-62706E023703}">
                      <ahyp:hlinkClr xmlns:ahyp="http://schemas.microsoft.com/office/drawing/2018/hyperlinkcolor" val="tx"/>
                    </a:ext>
                  </a:extLst>
                </a:hlinkClick>
              </a:rPr>
              <a:t>7</a:t>
            </a:r>
            <a:endParaRPr lang="en-US" sz="1600"/>
          </a:p>
        </p:txBody>
      </p:sp>
      <p:sp>
        <p:nvSpPr>
          <p:cNvPr id="164" name="Card7 Label"/>
          <p:cNvSpPr/>
          <p:nvPr/>
        </p:nvSpPr>
        <p:spPr>
          <a:xfrm>
            <a:off x="1417320" y="7201920"/>
            <a:ext cx="4206240" cy="201168"/>
          </a:xfrm>
          <a:prstGeom prst="rect">
            <a:avLst/>
          </a:prstGeom>
          <a:noFill/>
          <a:ln/>
        </p:spPr>
        <p:txBody>
          <a:bodyPr wrap="square" lIns="0" tIns="0" rIns="0" bIns="0" rtlCol="0" anchor="ctr"/>
          <a:lstStyle/>
          <a:p>
            <a:pPr marL="0" indent="0">
              <a:buNone/>
            </a:pPr>
            <a:r>
              <a:rPr lang="en-US" sz="850" b="1" kern="0" spc="200">
                <a:solidFill>
                  <a:srgbClr val="0F7BA8"/>
                </a:solidFill>
                <a:latin typeface="Calibri" pitchFamily="34" charset="0"/>
                <a:ea typeface="Calibri" pitchFamily="34" charset="-122"/>
                <a:cs typeface="Calibri" pitchFamily="34" charset="-120"/>
              </a:rPr>
              <a:t>LESSON 7</a:t>
            </a:r>
            <a:endParaRPr lang="en-US" sz="850"/>
          </a:p>
        </p:txBody>
      </p:sp>
      <p:sp>
        <p:nvSpPr>
          <p:cNvPr id="165" name="Card7 Title">
            <a:hlinkClick r:id="rId9" action="ppaction://hlinksldjump" tooltip="Jump to Revision &amp; Exam Practice"/>
          </p:cNvPr>
          <p:cNvSpPr/>
          <p:nvPr/>
        </p:nvSpPr>
        <p:spPr>
          <a:xfrm>
            <a:off x="1417320" y="7356352"/>
            <a:ext cx="4480560" cy="347472"/>
          </a:xfrm>
          <a:prstGeom prst="rect">
            <a:avLst/>
          </a:prstGeom>
          <a:noFill/>
          <a:ln/>
        </p:spPr>
        <p:txBody>
          <a:bodyPr wrap="square" lIns="0" tIns="0" rIns="0" bIns="0" rtlCol="0" anchor="ctr"/>
          <a:lstStyle/>
          <a:p>
            <a:pPr marL="0" indent="0">
              <a:buNone/>
            </a:pPr>
            <a:r>
              <a:rPr lang="en-US" sz="1500" b="1" u="sng">
                <a:solidFill>
                  <a:srgbClr val="10324B"/>
                </a:solidFill>
                <a:latin typeface="Georgia" pitchFamily="34" charset="0"/>
                <a:ea typeface="Georgia" pitchFamily="34" charset="-122"/>
                <a:cs typeface="Georgia" pitchFamily="34" charset="-120"/>
                <a:hlinkClick r:id="rId9" action="ppaction://hlinksldjump" tooltip="Jump to Revision &amp; Exam Practice">
                  <a:extLst>
                    <a:ext uri="{A12FA001-AC4F-418D-AE19-62706E023703}">
                      <ahyp:hlinkClr xmlns:ahyp="http://schemas.microsoft.com/office/drawing/2018/hyperlinkcolor" val="tx"/>
                    </a:ext>
                  </a:extLst>
                </a:hlinkClick>
              </a:rPr>
              <a:t>Reports</a:t>
            </a:r>
            <a:r>
              <a:rPr lang="en-US" sz="1500" b="1" u="sng">
                <a:solidFill>
                  <a:srgbClr val="10324B"/>
                </a:solidFill>
                <a:latin typeface="Georgia" pitchFamily="34" charset="0"/>
                <a:ea typeface="Georgia" pitchFamily="34" charset="-122"/>
                <a:cs typeface="Georgia" pitchFamily="34" charset="-120"/>
                <a:hlinkClick r:id="rId9" action="ppaction://hlinksldjump" tooltip="Jump to Revision &amp; Exam Practice">
                  <a:extLst>
                    <a:ext uri="{A12FA001-AC4F-418D-AE19-62706E023703}">
                      <ahyp:hlinkClr xmlns:ahyp="http://schemas.microsoft.com/office/drawing/2018/hyperlinkcolor" val="tx"/>
                    </a:ext>
                  </a:extLst>
                </a:hlinkClick>
              </a:rPr>
              <a:t> &amp; Review</a:t>
            </a:r>
            <a:endParaRPr lang="en-US" sz="1500"/>
          </a:p>
        </p:txBody>
      </p:sp>
      <p:sp>
        <p:nvSpPr>
          <p:cNvPr id="166" name="Card7 Desc"/>
          <p:cNvSpPr/>
          <p:nvPr/>
        </p:nvSpPr>
        <p:spPr>
          <a:xfrm>
            <a:off x="1417320" y="7600000"/>
            <a:ext cx="4846320" cy="274320"/>
          </a:xfrm>
          <a:prstGeom prst="rect">
            <a:avLst/>
          </a:prstGeom>
          <a:noFill/>
          <a:ln/>
        </p:spPr>
        <p:txBody>
          <a:bodyPr wrap="square" lIns="0" tIns="0" rIns="0" bIns="0" rtlCol="0" anchor="ctr"/>
          <a:lstStyle/>
          <a:p>
            <a:pPr marL="0" indent="0">
              <a:lnSpc>
                <a:spcPct val="95000"/>
              </a:lnSpc>
              <a:buNone/>
            </a:pPr>
            <a:r>
              <a:rPr lang="en-US" sz="1050">
                <a:solidFill>
                  <a:srgbClr val="21323D"/>
                </a:solidFill>
                <a:latin typeface="Calibri" pitchFamily="34" charset="0"/>
                <a:ea typeface="Calibri" pitchFamily="34" charset="-122"/>
                <a:cs typeface="Calibri" pitchFamily="34" charset="-120"/>
              </a:rPr>
              <a:t>Producing, formatting and sorting reports.</a:t>
            </a:r>
            <a:endParaRPr lang="en-US" sz="1050"/>
          </a:p>
        </p:txBody>
      </p:sp>
      <p:sp>
        <p:nvSpPr>
          <p:cNvPr id="167" name="Card7 Jump">
            <a:hlinkClick r:id="rId9" action="ppaction://hlinksldjump" tooltip="Jump to Revision &amp; Exam Practice"/>
          </p:cNvPr>
          <p:cNvSpPr/>
          <p:nvPr/>
        </p:nvSpPr>
        <p:spPr>
          <a:xfrm>
            <a:off x="5349240" y="7372608"/>
            <a:ext cx="914400" cy="292608"/>
          </a:xfrm>
          <a:prstGeom prst="rect">
            <a:avLst/>
          </a:prstGeom>
          <a:noFill/>
          <a:ln/>
        </p:spPr>
        <p:txBody>
          <a:bodyPr wrap="square" lIns="0" tIns="0" rIns="0" bIns="0" rtlCol="0" anchor="ctr"/>
          <a:lstStyle/>
          <a:p>
            <a:pPr marL="0" indent="0" algn="r">
              <a:buNone/>
            </a:pPr>
            <a:r>
              <a:rPr lang="en-US" sz="1000" b="1" u="sng">
                <a:solidFill>
                  <a:srgbClr val="0F7BA8"/>
                </a:solidFill>
                <a:latin typeface="Calibri" pitchFamily="34" charset="0"/>
                <a:ea typeface="Calibri" pitchFamily="34" charset="-122"/>
                <a:cs typeface="Calibri" pitchFamily="34" charset="-120"/>
                <a:hlinkClick r:id="rId9" action="ppaction://hlinksldjump" tooltip="Jump to Revision &amp; Exam Practice">
                  <a:extLst>
                    <a:ext uri="{A12FA001-AC4F-418D-AE19-62706E023703}">
                      <ahyp:hlinkClr xmlns:ahyp="http://schemas.microsoft.com/office/drawing/2018/hyperlinkcolor" val="tx"/>
                    </a:ext>
                  </a:extLst>
                </a:hlinkClick>
              </a:rPr>
              <a:t>Jump ▸</a:t>
            </a:r>
            <a:endParaRPr lang="en-US" sz="1000"/>
          </a:p>
        </p:txBody>
      </p:sp>
      <p:sp>
        <p:nvSpPr>
          <p:cNvPr id="48" name="Text 46"/>
          <p:cNvSpPr/>
          <p:nvPr/>
        </p:nvSpPr>
        <p:spPr>
          <a:xfrm>
            <a:off x="457200" y="8790000"/>
            <a:ext cx="5943600" cy="300000"/>
          </a:xfrm>
          <a:prstGeom prst="rect">
            <a:avLst/>
          </a:prstGeom>
          <a:noFill/>
          <a:ln/>
        </p:spPr>
        <p:txBody>
          <a:bodyPr wrap="square" lIns="0" tIns="0" rIns="0" bIns="0" rtlCol="0" anchor="ctr"/>
          <a:lstStyle/>
          <a:p>
            <a:pPr marL="0" indent="0" algn="ctr">
              <a:buNone/>
            </a:pPr>
            <a:r>
              <a:rPr lang="en-US" sz="1050" i="1" dirty="0">
                <a:solidFill>
                  <a:srgbClr val="5A6B76"/>
                </a:solidFill>
                <a:latin typeface="Calibri" pitchFamily="34" charset="0"/>
                <a:ea typeface="Calibri" pitchFamily="34" charset="-122"/>
                <a:cs typeface="Calibri" pitchFamily="34" charset="-120"/>
              </a:rPr>
              <a:t>Each </a:t>
            </a:r>
            <a:r>
              <a:rPr lang="en-US" sz="1050" i="1">
                <a:solidFill>
                  <a:srgbClr val="5A6B76"/>
                </a:solidFill>
                <a:latin typeface="Calibri" pitchFamily="34" charset="0"/>
                <a:ea typeface="Calibri" pitchFamily="34" charset="-122"/>
                <a:cs typeface="Calibri" pitchFamily="34" charset="-120"/>
              </a:rPr>
              <a:t>module adds one more piece to</a:t>
            </a:r>
            <a:r>
              <a:rPr lang="en-US" sz="1050" i="1" dirty="0">
                <a:solidFill>
                  <a:srgbClr val="5A6B76"/>
                </a:solidFill>
                <a:latin typeface="Calibri" pitchFamily="34" charset="0"/>
                <a:ea typeface="Calibri" pitchFamily="34" charset="-122"/>
                <a:cs typeface="Calibri" pitchFamily="34" charset="-120"/>
              </a:rPr>
              <a:t> </a:t>
            </a:r>
            <a:r>
              <a:rPr lang="en-US" sz="1050" i="1">
                <a:solidFill>
                  <a:srgbClr val="5A6B76"/>
                </a:solidFill>
                <a:latin typeface="Calibri" pitchFamily="34" charset="0"/>
                <a:ea typeface="Calibri" pitchFamily="34" charset="-122"/>
                <a:cs typeface="Calibri" pitchFamily="34" charset="-120"/>
              </a:rPr>
              <a:t>your Dodgy Dave’s database</a:t>
            </a:r>
            <a:r>
              <a:rPr lang="en-US" sz="1050" i="1" dirty="0">
                <a:solidFill>
                  <a:srgbClr val="5A6B76"/>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0324B"/>
        </a:solidFill>
        <a:effectLst/>
      </p:bgPr>
    </p:bg>
    <p:spTree>
      <p:nvGrpSpPr>
        <p:cNvPr id="1" name=""/>
        <p:cNvGrpSpPr/>
        <p:nvPr/>
      </p:nvGrpSpPr>
      <p:grpSpPr>
        <a:xfrm>
          <a:off x="0" y="0"/>
          <a:ext cx="0" cy="0"/>
          <a:chOff x="0" y="0"/>
          <a:chExt cx="0" cy="0"/>
        </a:xfrm>
      </p:grpSpPr>
      <p:sp>
        <p:nvSpPr>
          <p:cNvPr id="2" name="Shape 0"/>
          <p:cNvSpPr/>
          <p:nvPr/>
        </p:nvSpPr>
        <p:spPr>
          <a:xfrm>
            <a:off x="0" y="0"/>
            <a:ext cx="6858000" cy="9144000"/>
          </a:xfrm>
          <a:prstGeom prst="rect">
            <a:avLst/>
          </a:prstGeom>
          <a:solidFill>
            <a:srgbClr val="10324B"/>
          </a:solidFill>
          <a:ln/>
        </p:spPr>
        <p:txBody>
          <a:bodyPr/>
          <a:lstStyle/>
          <a:p>
            <a:endParaRPr lang="en-AE"/>
          </a:p>
        </p:txBody>
      </p:sp>
      <p:sp>
        <p:nvSpPr>
          <p:cNvPr id="3" name="Shape 1"/>
          <p:cNvSpPr/>
          <p:nvPr/>
        </p:nvSpPr>
        <p:spPr>
          <a:xfrm>
            <a:off x="0" y="3127248"/>
            <a:ext cx="6858000" cy="32004"/>
          </a:xfrm>
          <a:prstGeom prst="rect">
            <a:avLst/>
          </a:prstGeom>
          <a:solidFill>
            <a:srgbClr val="159BD2"/>
          </a:solidFill>
          <a:ln/>
        </p:spPr>
        <p:txBody>
          <a:bodyPr/>
          <a:lstStyle/>
          <a:p>
            <a:endParaRPr lang="en-AE"/>
          </a:p>
        </p:txBody>
      </p:sp>
      <p:sp>
        <p:nvSpPr>
          <p:cNvPr id="4" name="Text 2"/>
          <p:cNvSpPr/>
          <p:nvPr/>
        </p:nvSpPr>
        <p:spPr>
          <a:xfrm>
            <a:off x="548640" y="105156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MODULE 1 · THE BUILDING BLOCKS</a:t>
            </a:r>
            <a:endParaRPr lang="en-US" sz="1200"/>
          </a:p>
        </p:txBody>
      </p:sp>
      <p:sp>
        <p:nvSpPr>
          <p:cNvPr id="5" name="Text 3"/>
          <p:cNvSpPr/>
          <p:nvPr/>
        </p:nvSpPr>
        <p:spPr>
          <a:xfrm>
            <a:off x="457200" y="1463040"/>
            <a:ext cx="5943600" cy="914400"/>
          </a:xfrm>
          <a:prstGeom prst="rect">
            <a:avLst/>
          </a:prstGeom>
          <a:noFill/>
          <a:ln/>
        </p:spPr>
        <p:txBody>
          <a:bodyPr wrap="square" lIns="0" tIns="0" rIns="0" bIns="0" rtlCol="0" anchor="ctr"/>
          <a:lstStyle/>
          <a:p>
            <a:pPr marL="0" indent="0" algn="ctr">
              <a:buNone/>
            </a:pPr>
            <a:r>
              <a:rPr lang="en-US" sz="4600" b="1">
                <a:solidFill>
                  <a:srgbClr val="FFFFFF"/>
                </a:solidFill>
                <a:latin typeface="Georgia" pitchFamily="34" charset="0"/>
                <a:ea typeface="Georgia" pitchFamily="34" charset="-122"/>
                <a:cs typeface="Georgia" pitchFamily="34" charset="-120"/>
              </a:rPr>
              <a:t>Database Foundations</a:t>
            </a:r>
            <a:endParaRPr lang="en-US" sz="4600"/>
          </a:p>
        </p:txBody>
      </p:sp>
      <p:sp>
        <p:nvSpPr>
          <p:cNvPr id="6" name="Text 4"/>
          <p:cNvSpPr/>
          <p:nvPr/>
        </p:nvSpPr>
        <p:spPr>
          <a:xfrm>
            <a:off x="457200" y="2395728"/>
            <a:ext cx="5943600" cy="548640"/>
          </a:xfrm>
          <a:prstGeom prst="rect">
            <a:avLst/>
          </a:prstGeom>
          <a:noFill/>
          <a:ln/>
        </p:spPr>
        <p:txBody>
          <a:bodyPr wrap="square" lIns="0" tIns="0" rIns="0" bIns="0" rtlCol="0" anchor="ctr"/>
          <a:lstStyle/>
          <a:p>
            <a:pPr marL="0" indent="0" algn="ctr">
              <a:buNone/>
            </a:pPr>
            <a:r>
              <a:rPr lang="en-US" sz="2000" i="1">
                <a:solidFill>
                  <a:srgbClr val="CFE9F5"/>
                </a:solidFill>
                <a:latin typeface="Georgia" pitchFamily="34" charset="0"/>
                <a:ea typeface="Georgia" pitchFamily="34" charset="-122"/>
                <a:cs typeface="Georgia" pitchFamily="34" charset="-120"/>
              </a:rPr>
              <a:t>How every database is built</a:t>
            </a:r>
            <a:endParaRPr lang="en-US" sz="2000"/>
          </a:p>
        </p:txBody>
      </p:sp>
      <p:sp>
        <p:nvSpPr>
          <p:cNvPr id="7" name="Shape 5"/>
          <p:cNvSpPr/>
          <p:nvPr/>
        </p:nvSpPr>
        <p:spPr>
          <a:xfrm>
            <a:off x="74523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8" name="Image 0" descr="/agent/turn10/workspace/assets/badges/1.png"/>
          <p:cNvPicPr>
            <a:picLocks noChangeAspect="1"/>
          </p:cNvPicPr>
          <p:nvPr/>
        </p:nvPicPr>
        <p:blipFill>
          <a:blip r:embed="rId3"/>
          <a:stretch>
            <a:fillRect/>
          </a:stretch>
        </p:blipFill>
        <p:spPr>
          <a:xfrm>
            <a:off x="800100" y="3657600"/>
            <a:ext cx="1417320" cy="1417320"/>
          </a:xfrm>
          <a:prstGeom prst="rect">
            <a:avLst/>
          </a:prstGeom>
        </p:spPr>
      </p:pic>
      <p:sp>
        <p:nvSpPr>
          <p:cNvPr id="9" name="Text 6"/>
          <p:cNvSpPr/>
          <p:nvPr/>
        </p:nvSpPr>
        <p:spPr>
          <a:xfrm>
            <a:off x="57150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Fields</a:t>
            </a:r>
            <a:endParaRPr lang="en-US" sz="950"/>
          </a:p>
        </p:txBody>
      </p:sp>
      <p:sp>
        <p:nvSpPr>
          <p:cNvPr id="10" name="Shape 7"/>
          <p:cNvSpPr/>
          <p:nvPr/>
        </p:nvSpPr>
        <p:spPr>
          <a:xfrm>
            <a:off x="266547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11" name="Image 1" descr="/agent/turn10/workspace/assets/badges/29.png"/>
          <p:cNvPicPr>
            <a:picLocks noChangeAspect="1"/>
          </p:cNvPicPr>
          <p:nvPr/>
        </p:nvPicPr>
        <p:blipFill>
          <a:blip r:embed="rId4"/>
          <a:stretch>
            <a:fillRect/>
          </a:stretch>
        </p:blipFill>
        <p:spPr>
          <a:xfrm>
            <a:off x="2720340" y="3830828"/>
            <a:ext cx="1417320" cy="1070864"/>
          </a:xfrm>
          <a:prstGeom prst="rect">
            <a:avLst/>
          </a:prstGeom>
        </p:spPr>
      </p:pic>
      <p:sp>
        <p:nvSpPr>
          <p:cNvPr id="12" name="Text 8"/>
          <p:cNvSpPr/>
          <p:nvPr/>
        </p:nvSpPr>
        <p:spPr>
          <a:xfrm>
            <a:off x="249174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Records</a:t>
            </a:r>
            <a:endParaRPr lang="en-US" sz="950"/>
          </a:p>
        </p:txBody>
      </p:sp>
      <p:sp>
        <p:nvSpPr>
          <p:cNvPr id="13" name="Shape 9"/>
          <p:cNvSpPr/>
          <p:nvPr/>
        </p:nvSpPr>
        <p:spPr>
          <a:xfrm>
            <a:off x="458571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14" name="Image 2" descr="/agent/turn10/workspace/assets/badges/33.png"/>
          <p:cNvPicPr>
            <a:picLocks noChangeAspect="1"/>
          </p:cNvPicPr>
          <p:nvPr/>
        </p:nvPicPr>
        <p:blipFill>
          <a:blip r:embed="rId5"/>
          <a:stretch>
            <a:fillRect/>
          </a:stretch>
        </p:blipFill>
        <p:spPr>
          <a:xfrm>
            <a:off x="4640580" y="3658984"/>
            <a:ext cx="1417320" cy="1414552"/>
          </a:xfrm>
          <a:prstGeom prst="rect">
            <a:avLst/>
          </a:prstGeom>
        </p:spPr>
      </p:pic>
      <p:sp>
        <p:nvSpPr>
          <p:cNvPr id="15" name="Text 10"/>
          <p:cNvSpPr/>
          <p:nvPr/>
        </p:nvSpPr>
        <p:spPr>
          <a:xfrm>
            <a:off x="441198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Tables</a:t>
            </a:r>
            <a:endParaRPr lang="en-US" sz="950"/>
          </a:p>
        </p:txBody>
      </p:sp>
      <p:sp>
        <p:nvSpPr>
          <p:cNvPr id="16" name="Text 11"/>
          <p:cNvSpPr/>
          <p:nvPr/>
        </p:nvSpPr>
        <p:spPr>
          <a:xfrm>
            <a:off x="822960" y="6035040"/>
            <a:ext cx="5212080" cy="64008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We explore how fields, records and tables combine to store the data you use every day.</a:t>
            </a:r>
            <a:endParaRPr lang="en-US" sz="1250"/>
          </a:p>
        </p:txBody>
      </p:sp>
      <p:sp>
        <p:nvSpPr>
          <p:cNvPr id="17" name="Shape 12"/>
          <p:cNvSpPr/>
          <p:nvPr/>
        </p:nvSpPr>
        <p:spPr>
          <a:xfrm>
            <a:off x="1874520" y="6903720"/>
            <a:ext cx="3108960" cy="548640"/>
          </a:xfrm>
          <a:prstGeom prst="roundRect">
            <a:avLst>
              <a:gd name="adj" fmla="val 16667"/>
            </a:avLst>
          </a:prstGeom>
          <a:solidFill>
            <a:srgbClr val="159BD2"/>
          </a:solidFill>
          <a:ln/>
        </p:spPr>
        <p:txBody>
          <a:bodyPr/>
          <a:lstStyle/>
          <a:p>
            <a:endParaRPr lang="en-AE"/>
          </a:p>
        </p:txBody>
      </p:sp>
      <p:sp>
        <p:nvSpPr>
          <p:cNvPr id="18" name="Text 13"/>
          <p:cNvSpPr/>
          <p:nvPr/>
        </p:nvSpPr>
        <p:spPr>
          <a:xfrm>
            <a:off x="1874520" y="6903720"/>
            <a:ext cx="3108960" cy="54864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Try it: open a database and view a table</a:t>
            </a:r>
            <a:endParaRPr lang="en-US" sz="1300"/>
          </a:p>
        </p:txBody>
      </p:sp>
      <p:sp>
        <p:nvSpPr>
          <p:cNvPr id="22" name="Video Link"/>
          <p:cNvSpPr/>
          <p:nvPr/>
        </p:nvSpPr>
        <p:spPr>
          <a:xfrm>
            <a:off x="822960" y="7650000"/>
            <a:ext cx="5212080" cy="731520"/>
          </a:xfrm>
          <a:prstGeom prst="rect">
            <a:avLst/>
          </a:prstGeom>
          <a:noFill/>
          <a:ln/>
        </p:spPr>
        <p:txBody>
          <a:bodyPr wrap="square" lIns="0" tIns="0" rIns="0" bIns="0" rtlCol="0" anchor="ctr"/>
          <a:lstStyle/>
          <a:p>
            <a:pPr marL="0" indent="0" algn="ctr">
              <a:buNone/>
            </a:pPr>
            <a:r>
              <a:rPr lang="en-US" sz="1100" b="1" u="sng">
                <a:solidFill>
                  <a:srgbClr val="7FC7E6"/>
                </a:solidFill>
                <a:latin typeface="Calibri" pitchFamily="34" charset="0"/>
                <a:ea typeface="Calibri" pitchFamily="34" charset="-122"/>
                <a:cs typeface="Calibri" pitchFamily="34" charset="-120"/>
              </a:rPr>
              <a:t>Tip: a database is an organised collection of related data.</a:t>
            </a:r>
            <a:endParaRPr lang="en-US" sz="1200"/>
          </a:p>
        </p:txBody>
      </p:sp>
      <p:sp>
        <p:nvSpPr>
          <p:cNvPr id="20" name="Text 15">
            <a:hlinkClick r:id="rId6"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a:solidFill>
                  <a:srgbClr val="7FC7E6"/>
                </a:solidFill>
                <a:latin typeface="Calibri" pitchFamily="34" charset="0"/>
                <a:ea typeface="Calibri" pitchFamily="34" charset="-122"/>
                <a:cs typeface="Calibri" pitchFamily="34" charset="-120"/>
                <a:hlinkClick r:id="rId6" action="ppaction://hlinksldjump" tooltip="Back to roadmap">
                  <a:extLst>
                    <a:ext uri="{A12FA001-AC4F-418D-AE19-62706E023703}">
                      <ahyp:hlinkClr xmlns:ahyp="http://schemas.microsoft.com/office/drawing/2018/hyperlinkcolor" val="tx"/>
                    </a:ext>
                  </a:extLst>
                </a:hlinkClick>
              </a:rPr>
              <a:t>◂ Roadmap</a:t>
            </a:r>
            <a:endParaRPr lang="en-US"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e Paris Peace Conference">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1  ·  THE BUILDING BLOCKS</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DATABASES</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The Building Blocks of Data</a:t>
            </a:r>
            <a:endParaRPr lang="en-US" sz="2400"/>
          </a:p>
        </p:txBody>
      </p:sp>
      <p:sp>
        <p:nvSpPr>
          <p:cNvPr id="8" name="Intro"/>
          <p:cNvSpPr/>
          <p:nvPr/>
        </p:nvSpPr>
        <p:spPr>
          <a:xfrm>
            <a:off x="457200" y="1500000"/>
            <a:ext cx="5943600" cy="60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Every database is built from a few simple parts, each with its own job in storing data.</a:t>
            </a:r>
            <a:endParaRPr lang="en-US" sz="1200"/>
          </a:p>
        </p:txBody>
      </p:sp>
      <p:sp>
        <p:nvSpPr>
          <p:cNvPr id="10" name="Card A BG"/>
          <p:cNvSpPr/>
          <p:nvPr/>
        </p:nvSpPr>
        <p:spPr>
          <a:xfrm>
            <a:off x="4572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200000"/>
            <a:ext cx="80000" cy="2010000"/>
          </a:xfrm>
          <a:prstGeom prst="rect">
            <a:avLst/>
          </a:prstGeom>
          <a:solidFill>
            <a:srgbClr val="159BD2"/>
          </a:solidFill>
          <a:ln/>
        </p:spPr>
        <p:txBody>
          <a:bodyPr/>
          <a:lstStyle/>
          <a:p>
            <a:endParaRPr lang="en-AE"/>
          </a:p>
        </p:txBody>
      </p:sp>
      <p:sp>
        <p:nvSpPr>
          <p:cNvPr id="12" name="Card A Text"/>
          <p:cNvSpPr/>
          <p:nvPr/>
        </p:nvSpPr>
        <p:spPr>
          <a:xfrm>
            <a:off x="6772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The Field</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One detail</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A field holds one piece of data about an item, such as a car's make or price. It is a single column.</a:t>
            </a:r>
          </a:p>
        </p:txBody>
      </p:sp>
      <p:sp>
        <p:nvSpPr>
          <p:cNvPr id="20" name="Card B BG"/>
          <p:cNvSpPr/>
          <p:nvPr/>
        </p:nvSpPr>
        <p:spPr>
          <a:xfrm>
            <a:off x="35308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200000"/>
            <a:ext cx="80000" cy="2010000"/>
          </a:xfrm>
          <a:prstGeom prst="rect">
            <a:avLst/>
          </a:prstGeom>
          <a:solidFill>
            <a:srgbClr val="159BD2"/>
          </a:solidFill>
          <a:ln/>
        </p:spPr>
        <p:txBody>
          <a:bodyPr/>
          <a:lstStyle/>
          <a:p>
            <a:endParaRPr lang="en-AE"/>
          </a:p>
        </p:txBody>
      </p:sp>
      <p:sp>
        <p:nvSpPr>
          <p:cNvPr id="22" name="Card B Text"/>
          <p:cNvSpPr/>
          <p:nvPr/>
        </p:nvSpPr>
        <p:spPr>
          <a:xfrm>
            <a:off x="37508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The Record</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One item</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A record gathers all the fields about one item, such as a single car. It is a single row in the table.</a:t>
            </a:r>
          </a:p>
        </p:txBody>
      </p:sp>
      <p:sp>
        <p:nvSpPr>
          <p:cNvPr id="30" name="Card C BG"/>
          <p:cNvSpPr/>
          <p:nvPr/>
        </p:nvSpPr>
        <p:spPr>
          <a:xfrm>
            <a:off x="4572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4330000"/>
            <a:ext cx="80000" cy="2010000"/>
          </a:xfrm>
          <a:prstGeom prst="rect">
            <a:avLst/>
          </a:prstGeom>
          <a:solidFill>
            <a:srgbClr val="159BD2"/>
          </a:solidFill>
          <a:ln/>
        </p:spPr>
        <p:txBody>
          <a:bodyPr/>
          <a:lstStyle/>
          <a:p>
            <a:endParaRPr lang="en-AE"/>
          </a:p>
        </p:txBody>
      </p:sp>
      <p:sp>
        <p:nvSpPr>
          <p:cNvPr id="32" name="Card C Text"/>
          <p:cNvSpPr/>
          <p:nvPr/>
        </p:nvSpPr>
        <p:spPr>
          <a:xfrm>
            <a:off x="6772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The Table</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The collection</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A table is a collection of records of the same type, arranged as rows and columns of data.</a:t>
            </a:r>
          </a:p>
        </p:txBody>
      </p:sp>
      <p:sp>
        <p:nvSpPr>
          <p:cNvPr id="40" name="Card D BG"/>
          <p:cNvSpPr/>
          <p:nvPr/>
        </p:nvSpPr>
        <p:spPr>
          <a:xfrm>
            <a:off x="35308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4330000"/>
            <a:ext cx="80000" cy="2010000"/>
          </a:xfrm>
          <a:prstGeom prst="rect">
            <a:avLst/>
          </a:prstGeom>
          <a:solidFill>
            <a:srgbClr val="159BD2"/>
          </a:solidFill>
          <a:ln/>
        </p:spPr>
        <p:txBody>
          <a:bodyPr/>
          <a:lstStyle/>
          <a:p>
            <a:endParaRPr lang="en-AE"/>
          </a:p>
        </p:txBody>
      </p:sp>
      <p:sp>
        <p:nvSpPr>
          <p:cNvPr id="42" name="Card D Text"/>
          <p:cNvSpPr/>
          <p:nvPr/>
        </p:nvSpPr>
        <p:spPr>
          <a:xfrm>
            <a:off x="37508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Why Structure Data?</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Best practice</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Organising data into fields, records and tables makes it easy to search, sort, update and reuse.</a:t>
            </a:r>
          </a:p>
        </p:txBody>
      </p:sp>
      <p:sp>
        <p:nvSpPr>
          <p:cNvPr id="50" name="Fact Band"/>
          <p:cNvSpPr/>
          <p:nvPr/>
        </p:nvSpPr>
        <p:spPr>
          <a:xfrm>
            <a:off x="0" y="6650000"/>
            <a:ext cx="6858000" cy="1560000"/>
          </a:xfrm>
          <a:prstGeom prst="rect">
            <a:avLst/>
          </a:prstGeom>
          <a:solidFill>
            <a:srgbClr val="EAF5FB"/>
          </a:solidFill>
          <a:ln/>
        </p:spPr>
        <p:txBody>
          <a:bodyPr/>
          <a:lstStyle/>
          <a:p>
            <a:endParaRPr lang="en-AE"/>
          </a:p>
        </p:txBody>
      </p:sp>
      <p:sp>
        <p:nvSpPr>
          <p:cNvPr id="51" name="Fact Text"/>
          <p:cNvSpPr/>
          <p:nvPr/>
        </p:nvSpPr>
        <p:spPr>
          <a:xfrm>
            <a:off x="457200" y="6790000"/>
            <a:ext cx="3050000" cy="136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REMEMBER</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A field is one detail, a record is one item, and a table is the whole collection.</a:t>
            </a:r>
            <a:endParaRPr lang="en-US" sz="1150"/>
          </a:p>
        </p:txBody>
      </p:sp>
      <p:pic>
        <p:nvPicPr>
          <p:cNvPr id="70" name="Big Three Photo"/>
          <p:cNvPicPr>
            <a:picLocks noChangeAspect="1"/>
          </p:cNvPicPr>
          <p:nvPr/>
        </p:nvPicPr>
        <p:blipFill>
          <a:blip r:embed="rId4"/>
          <a:stretch>
            <a:fillRect/>
          </a:stretch>
        </p:blipFill>
        <p:spPr>
          <a:xfrm>
            <a:off x="4268216" y="6790000"/>
            <a:ext cx="1483567" cy="1150000"/>
          </a:xfrm>
          <a:prstGeom prst="rect">
            <a:avLst/>
          </a:prstGeom>
        </p:spPr>
      </p:pic>
      <p:sp>
        <p:nvSpPr>
          <p:cNvPr id="71" name="Photo Caption"/>
          <p:cNvSpPr/>
          <p:nvPr/>
        </p:nvSpPr>
        <p:spPr>
          <a:xfrm>
            <a:off x="3620000" y="7970000"/>
            <a:ext cx="2780000" cy="360000"/>
          </a:xfrm>
          <a:prstGeom prst="rect">
            <a:avLst/>
          </a:prstGeom>
          <a:noFill/>
          <a:ln/>
        </p:spPr>
        <p:txBody>
          <a:bodyPr wrap="square" lIns="0" tIns="0" rIns="0" bIns="0" rtlCol="0" anchor="t"/>
          <a:lstStyle/>
          <a:p>
            <a:pPr marL="0" indent="0" algn="ctr">
              <a:buNone/>
            </a:pPr>
            <a:r>
              <a:rPr lang="en-US" sz="800" i="1">
                <a:solidFill>
                  <a:srgbClr val="5A6B76"/>
                </a:solidFill>
                <a:latin typeface="Georgia" pitchFamily="34" charset="0"/>
                <a:ea typeface="Georgia" pitchFamily="34" charset="-122"/>
                <a:cs typeface="Georgia" pitchFamily="34" charset="-120"/>
              </a:rPr>
              <a:t>The same data can be searched and sorted in many different ways.</a:t>
            </a:r>
            <a:endParaRPr lang="en-US"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Was the Treaty Fair">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2  ·  THE BASIC STRUCTURE</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Explore</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Anatomy of a Database Table</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Every table shares the same shape. Learn where each part goes, then plan a table of your own.</a:t>
            </a:r>
            <a:endParaRPr lang="en-US" sz="1200"/>
          </a:p>
        </p:txBody>
      </p:sp>
      <p:sp>
        <p:nvSpPr>
          <p:cNvPr id="10" name="View A BG"/>
          <p:cNvSpPr/>
          <p:nvPr/>
        </p:nvSpPr>
        <p:spPr>
          <a:xfrm>
            <a:off x="457200" y="2180000"/>
            <a:ext cx="2870000" cy="2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View A Accent"/>
          <p:cNvSpPr/>
          <p:nvPr/>
        </p:nvSpPr>
        <p:spPr>
          <a:xfrm>
            <a:off x="457200" y="2180000"/>
            <a:ext cx="80000" cy="2500000"/>
          </a:xfrm>
          <a:prstGeom prst="rect">
            <a:avLst/>
          </a:prstGeom>
          <a:solidFill>
            <a:srgbClr val="B8862B"/>
          </a:solidFill>
          <a:ln/>
        </p:spPr>
        <p:txBody>
          <a:bodyPr/>
          <a:lstStyle/>
          <a:p>
            <a:endParaRPr lang="en-AE"/>
          </a:p>
        </p:txBody>
      </p:sp>
      <p:sp>
        <p:nvSpPr>
          <p:cNvPr id="12" name="View A Text"/>
          <p:cNvSpPr/>
          <p:nvPr/>
        </p:nvSpPr>
        <p:spPr>
          <a:xfrm>
            <a:off x="677200" y="2340000"/>
            <a:ext cx="2470000" cy="22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Rows &amp; Columns</a:t>
            </a:r>
          </a:p>
          <a:p>
            <a:pPr marL="0" indent="0">
              <a:spcBef>
                <a:spcPts val="200"/>
              </a:spcBef>
              <a:buNone/>
            </a:pPr>
            <a:r>
              <a:rPr lang="en-US" sz="1000" b="1" spc="40">
                <a:solidFill>
                  <a:srgbClr val="B8862B"/>
                </a:solidFill>
                <a:latin typeface="Calibri" pitchFamily="34" charset="0"/>
                <a:ea typeface="Calibri" pitchFamily="34" charset="-122"/>
                <a:cs typeface="Calibri" pitchFamily="34" charset="-120"/>
              </a:rPr>
              <a:t>THE GRID</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Each column is a field that holds one type of data.</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Each row is a record describing one single item.</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The cell where a row and column meet holds one value.</a:t>
            </a:r>
          </a:p>
          <a:p>
            <a:pPr marL="0" indent="0">
              <a:spcBef>
                <a:spcPts val="500"/>
              </a:spcBef>
              <a:buNone/>
            </a:pPr>
            <a:endParaRPr lang="en-US" sz="1050">
              <a:solidFill>
                <a:srgbClr val="21323D"/>
              </a:solidFill>
              <a:latin typeface="Calibri" pitchFamily="34" charset="0"/>
              <a:ea typeface="Calibri" pitchFamily="34" charset="-122"/>
              <a:cs typeface="Calibri" pitchFamily="34" charset="-120"/>
            </a:endParaRPr>
          </a:p>
        </p:txBody>
      </p:sp>
      <p:sp>
        <p:nvSpPr>
          <p:cNvPr id="20" name="View B BG"/>
          <p:cNvSpPr/>
          <p:nvPr/>
        </p:nvSpPr>
        <p:spPr>
          <a:xfrm>
            <a:off x="3530800" y="2180000"/>
            <a:ext cx="2870000" cy="2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View B Accent"/>
          <p:cNvSpPr/>
          <p:nvPr/>
        </p:nvSpPr>
        <p:spPr>
          <a:xfrm>
            <a:off x="3530800" y="2180000"/>
            <a:ext cx="80000" cy="2500000"/>
          </a:xfrm>
          <a:prstGeom prst="rect">
            <a:avLst/>
          </a:prstGeom>
          <a:solidFill>
            <a:srgbClr val="0F7BA8"/>
          </a:solidFill>
          <a:ln/>
        </p:spPr>
        <p:txBody>
          <a:bodyPr/>
          <a:lstStyle/>
          <a:p>
            <a:endParaRPr lang="en-AE"/>
          </a:p>
        </p:txBody>
      </p:sp>
      <p:sp>
        <p:nvSpPr>
          <p:cNvPr id="22" name="View B Text"/>
          <p:cNvSpPr/>
          <p:nvPr/>
        </p:nvSpPr>
        <p:spPr>
          <a:xfrm>
            <a:off x="3750800" y="2340000"/>
            <a:ext cx="2470000" cy="22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Field Names &amp; Types</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PLANNING A TABLE</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Each field is given a clear name, such as CarID, Make or Price.</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Each field is set to a data type that suits the data it stores.</a:t>
            </a:r>
          </a:p>
          <a:p>
            <a:pPr marL="0" indent="0">
              <a:spcBef>
                <a:spcPts val="500"/>
              </a:spcBef>
              <a:buNone/>
            </a:pPr>
            <a:endParaRPr lang="en-US" sz="1050">
              <a:solidFill>
                <a:srgbClr val="21323D"/>
              </a:solidFill>
              <a:latin typeface="Calibri" pitchFamily="34" charset="0"/>
              <a:ea typeface="Calibri" pitchFamily="34" charset="-122"/>
              <a:cs typeface="Calibri" pitchFamily="34" charset="-120"/>
            </a:endParaRPr>
          </a:p>
          <a:p>
            <a:pPr marL="0" indent="0">
              <a:spcBef>
                <a:spcPts val="500"/>
              </a:spcBef>
              <a:buNone/>
            </a:pPr>
            <a:endParaRPr lang="en-US" sz="1050">
              <a:solidFill>
                <a:srgbClr val="21323D"/>
              </a:solidFill>
              <a:latin typeface="Calibri" pitchFamily="34" charset="0"/>
              <a:ea typeface="Calibri" pitchFamily="34" charset="-122"/>
              <a:cs typeface="Calibri" pitchFamily="34" charset="-120"/>
            </a:endParaRPr>
          </a:p>
        </p:txBody>
      </p:sp>
      <p:sp>
        <p:nvSpPr>
          <p:cNvPr id="30" name="Task Card BG"/>
          <p:cNvSpPr/>
          <p:nvPr/>
        </p:nvSpPr>
        <p:spPr>
          <a:xfrm>
            <a:off x="457200" y="4800000"/>
            <a:ext cx="5943600" cy="160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31" name="Task Card Accent"/>
          <p:cNvSpPr/>
          <p:nvPr/>
        </p:nvSpPr>
        <p:spPr>
          <a:xfrm>
            <a:off x="457200" y="4800000"/>
            <a:ext cx="80000" cy="1600000"/>
          </a:xfrm>
          <a:prstGeom prst="rect">
            <a:avLst/>
          </a:prstGeom>
          <a:solidFill>
            <a:srgbClr val="159BD2"/>
          </a:solidFill>
          <a:ln/>
        </p:spPr>
        <p:txBody>
          <a:bodyPr/>
          <a:lstStyle/>
          <a:p>
            <a:endParaRPr lang="en-AE"/>
          </a:p>
        </p:txBody>
      </p:sp>
      <p:sp>
        <p:nvSpPr>
          <p:cNvPr id="32" name="Task Card Text"/>
          <p:cNvSpPr/>
          <p:nvPr/>
        </p:nvSpPr>
        <p:spPr>
          <a:xfrm>
            <a:off x="677200" y="4970000"/>
            <a:ext cx="5503600" cy="128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GOLDEN RULE</a:t>
            </a:r>
          </a:p>
          <a:p>
            <a:pPr marL="0" indent="0">
              <a:spcBef>
                <a:spcPts val="500"/>
              </a:spcBef>
              <a:buNone/>
            </a:pPr>
            <a:r>
              <a:rPr lang="en-US" sz="1150">
                <a:solidFill>
                  <a:srgbClr val="21323D"/>
                </a:solidFill>
                <a:latin typeface="Calibri" pitchFamily="34" charset="0"/>
                <a:ea typeface="Calibri" pitchFamily="34" charset="-122"/>
                <a:cs typeface="Calibri" pitchFamily="34" charset="-120"/>
              </a:rPr>
              <a:t>Give every record a unique key field, so no two records can ever be confused.</a:t>
            </a:r>
          </a:p>
        </p:txBody>
      </p:sp>
      <p:sp>
        <p:nvSpPr>
          <p:cNvPr id="50" name="Challenge Band"/>
          <p:cNvSpPr/>
          <p:nvPr/>
        </p:nvSpPr>
        <p:spPr>
          <a:xfrm>
            <a:off x="0" y="6650000"/>
            <a:ext cx="6858000" cy="1900000"/>
          </a:xfrm>
          <a:prstGeom prst="rect">
            <a:avLst/>
          </a:prstGeom>
          <a:solidFill>
            <a:srgbClr val="EAF5FB"/>
          </a:solidFill>
          <a:ln/>
        </p:spPr>
        <p:txBody>
          <a:bodyPr/>
          <a:lstStyle/>
          <a:p>
            <a:endParaRPr lang="en-AE"/>
          </a:p>
        </p:txBody>
      </p:sp>
      <p:sp>
        <p:nvSpPr>
          <p:cNvPr id="51" name="Challenge Text"/>
          <p:cNvSpPr/>
          <p:nvPr/>
        </p:nvSpPr>
        <p:spPr>
          <a:xfrm>
            <a:off x="2980000" y="6830000"/>
            <a:ext cx="3420000" cy="16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TRY IT</a:t>
            </a:r>
          </a:p>
          <a:p>
            <a:pPr marL="0" indent="0">
              <a:spcBef>
                <a:spcPts val="400"/>
              </a:spcBef>
              <a:buNone/>
            </a:pPr>
            <a:r>
              <a:rPr lang="en-US" sz="850" i="1">
                <a:solidFill>
                  <a:srgbClr val="5A6B76"/>
                </a:solidFill>
                <a:latin typeface="Calibri" pitchFamily="34" charset="0"/>
                <a:ea typeface="Calibri" pitchFamily="34" charset="-122"/>
                <a:cs typeface="Calibri" pitchFamily="34" charset="-120"/>
              </a:rPr>
              <a:t>Plan a Cars table: list the fields you would need, such as CarID, Make, Model, Year and Price.</a:t>
            </a:r>
          </a:p>
          <a:p>
            <a:pPr marL="0" indent="0">
              <a:spcBef>
                <a:spcPts val="200"/>
              </a:spcBef>
              <a:buNone/>
            </a:pPr>
            <a:endParaRPr lang="en-US" sz="850" i="1">
              <a:solidFill>
                <a:srgbClr val="5A6B76"/>
              </a:solidFill>
              <a:latin typeface="Calibri" pitchFamily="34" charset="0"/>
              <a:ea typeface="Calibri" pitchFamily="34" charset="-122"/>
              <a:cs typeface="Calibri" pitchFamily="34" charset="-120"/>
            </a:endParaRPr>
          </a:p>
          <a:p>
            <a:pPr marL="0" indent="0">
              <a:spcBef>
                <a:spcPts val="400"/>
              </a:spcBef>
              <a:buNone/>
            </a:pPr>
            <a:endParaRPr lang="en-US" sz="1150"/>
          </a:p>
        </p:txBody>
      </p:sp>
      <p:pic>
        <p:nvPicPr>
          <p:cNvPr id="52" name="Source Photo" descr="Illustration of a database table structure"/>
          <p:cNvPicPr>
            <a:picLocks noChangeAspect="1"/>
          </p:cNvPicPr>
          <p:nvPr/>
        </p:nvPicPr>
        <p:blipFill>
          <a:blip r:embed="rId4"/>
          <a:stretch>
            <a:fillRect/>
          </a:stretch>
        </p:blipFill>
        <p:spPr>
          <a:xfrm>
            <a:off x="457200" y="6873715"/>
            <a:ext cx="2360000" cy="1452570"/>
          </a:xfrm>
          <a:prstGeom prst="rect">
            <a:avLst/>
          </a:prstGeom>
          <a:ln w="12700">
            <a:solidFill>
              <a:srgbClr val="0F7BA8"/>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
          <p:cNvSpPr/>
          <p:nvPr/>
        </p:nvSpPr>
        <p:spPr>
          <a:xfrm>
            <a:off x="0" y="0"/>
            <a:ext cx="6858000" cy="146304"/>
          </a:xfrm>
          <a:prstGeom prst="rect">
            <a:avLst/>
          </a:prstGeom>
          <a:solidFill>
            <a:srgbClr val="159BD2"/>
          </a:solidFill>
          <a:ln/>
        </p:spPr>
        <p:txBody>
          <a:bodyPr/>
          <a:lstStyle/>
          <a:p>
            <a:endParaRPr lang="en-AE"/>
          </a:p>
        </p:txBody>
      </p:sp>
      <p:sp>
        <p:nvSpPr>
          <p:cNvPr id="3" name="tb"/>
          <p:cNvSpPr/>
          <p:nvPr/>
        </p:nvSpPr>
        <p:spPr>
          <a:xfrm>
            <a:off x="457200" y="420624"/>
            <a:ext cx="4300000" cy="274320"/>
          </a:xfrm>
          <a:prstGeom prst="rect">
            <a:avLst/>
          </a:prstGeom>
          <a:noFill/>
          <a:ln/>
        </p:spPr>
        <p:txBody>
          <a:bodyPr wrap="square" lIns="0" tIns="0" rIns="0" bIns="0" rtlCol="0" anchor="ctr"/>
          <a:lstStyle/>
          <a:p>
            <a:pPr marL="0" indent="0">
              <a:buNone/>
            </a:pPr>
            <a:r>
              <a:rPr lang="en-US" sz="1100" b="1" kern="0" spc="200">
                <a:solidFill>
                  <a:srgbClr val="0F7BA8"/>
                </a:solidFill>
                <a:latin typeface="Calibri" pitchFamily="34" charset="0"/>
                <a:ea typeface="Calibri" pitchFamily="34" charset="-122"/>
                <a:cs typeface="Calibri" pitchFamily="34" charset="-120"/>
              </a:rPr>
              <a:t>MODULE 2 · FIELDS &amp; DATA TYPES</a:t>
            </a:r>
          </a:p>
        </p:txBody>
      </p:sp>
      <p:sp>
        <p:nvSpPr>
          <p:cNvPr id="4" name="rr"/>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5" name="tb"/>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Data Basics</a:t>
            </a:r>
          </a:p>
        </p:txBody>
      </p:sp>
      <p:sp>
        <p:nvSpPr>
          <p:cNvPr id="6" name="tb"/>
          <p:cNvSpPr/>
          <p:nvPr/>
        </p:nvSpPr>
        <p:spPr>
          <a:xfrm>
            <a:off x="457200" y="676656"/>
            <a:ext cx="4000000" cy="760000"/>
          </a:xfrm>
          <a:prstGeom prst="rect">
            <a:avLst/>
          </a:prstGeom>
          <a:noFill/>
          <a:ln/>
        </p:spPr>
        <p:txBody>
          <a:bodyPr wrap="square" lIns="0" tIns="0" rIns="0" bIns="0" rtlCol="0" anchor="t"/>
          <a:lstStyle/>
          <a:p>
            <a:pPr marL="0" indent="0">
              <a:buNone/>
            </a:pPr>
            <a:r>
              <a:rPr lang="en-US" sz="2200" b="1">
                <a:solidFill>
                  <a:srgbClr val="10324B"/>
                </a:solidFill>
                <a:latin typeface="Georgia" pitchFamily="34" charset="0"/>
                <a:ea typeface="Georgia" pitchFamily="34" charset="-122"/>
                <a:cs typeface="Georgia" pitchFamily="34" charset="-120"/>
              </a:rPr>
              <a:t>Data Types: The Essentials</a:t>
            </a:r>
          </a:p>
        </p:txBody>
      </p:sp>
      <p:sp>
        <p:nvSpPr>
          <p:cNvPr id="7" name="tb"/>
          <p:cNvSpPr/>
          <p:nvPr/>
        </p:nvSpPr>
        <p:spPr>
          <a:xfrm>
            <a:off x="457200" y="1480000"/>
            <a:ext cx="5943600" cy="470000"/>
          </a:xfrm>
          <a:prstGeom prst="rect">
            <a:avLst/>
          </a:prstGeom>
          <a:noFill/>
          <a:ln/>
        </p:spPr>
        <p:txBody>
          <a:bodyPr wrap="square" lIns="0" tIns="0" rIns="0" bIns="0" rtlCol="0" anchor="t"/>
          <a:lstStyle/>
          <a:p>
            <a:pPr marL="0" indent="0">
              <a:lnSpc>
                <a:spcPct val="104000"/>
              </a:lnSpc>
              <a:buNone/>
            </a:pPr>
            <a:r>
              <a:rPr lang="en-US" sz="1100">
                <a:solidFill>
                  <a:srgbClr val="21323D"/>
                </a:solidFill>
                <a:latin typeface="Calibri" pitchFamily="34" charset="0"/>
                <a:ea typeface="Calibri" pitchFamily="34" charset="-122"/>
                <a:cs typeface="Calibri" pitchFamily="34" charset="-120"/>
              </a:rPr>
              <a:t>A data type tells the database what kind of value a field holds. Choosing the right one keeps data accurate.</a:t>
            </a:r>
          </a:p>
        </p:txBody>
      </p:sp>
      <p:sp>
        <p:nvSpPr>
          <p:cNvPr id="8" name="rr"/>
          <p:cNvSpPr/>
          <p:nvPr/>
        </p:nvSpPr>
        <p:spPr>
          <a:xfrm>
            <a:off x="457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9" name="r"/>
          <p:cNvSpPr/>
          <p:nvPr/>
        </p:nvSpPr>
        <p:spPr>
          <a:xfrm>
            <a:off x="457200" y="2000000"/>
            <a:ext cx="70000" cy="780000"/>
          </a:xfrm>
          <a:prstGeom prst="rect">
            <a:avLst/>
          </a:prstGeom>
          <a:solidFill>
            <a:srgbClr val="159BD2"/>
          </a:solidFill>
          <a:ln/>
        </p:spPr>
        <p:txBody>
          <a:bodyPr/>
          <a:lstStyle/>
          <a:p>
            <a:endParaRPr lang="en-AE"/>
          </a:p>
        </p:txBody>
      </p:sp>
      <p:sp>
        <p:nvSpPr>
          <p:cNvPr id="10" name="tb"/>
          <p:cNvSpPr/>
          <p:nvPr/>
        </p:nvSpPr>
        <p:spPr>
          <a:xfrm>
            <a:off x="637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TEXT</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Stores letters, symbols and short strings, such as a car's make or model. Also called Short Text.</a:t>
            </a:r>
          </a:p>
        </p:txBody>
      </p:sp>
      <p:sp>
        <p:nvSpPr>
          <p:cNvPr id="11" name="rr"/>
          <p:cNvSpPr/>
          <p:nvPr/>
        </p:nvSpPr>
        <p:spPr>
          <a:xfrm>
            <a:off x="3529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2" name="r"/>
          <p:cNvSpPr/>
          <p:nvPr/>
        </p:nvSpPr>
        <p:spPr>
          <a:xfrm>
            <a:off x="3529200" y="2000000"/>
            <a:ext cx="70000" cy="780000"/>
          </a:xfrm>
          <a:prstGeom prst="rect">
            <a:avLst/>
          </a:prstGeom>
          <a:solidFill>
            <a:srgbClr val="159BD2"/>
          </a:solidFill>
          <a:ln/>
        </p:spPr>
        <p:txBody>
          <a:bodyPr/>
          <a:lstStyle/>
          <a:p>
            <a:endParaRPr lang="en-AE"/>
          </a:p>
        </p:txBody>
      </p:sp>
      <p:sp>
        <p:nvSpPr>
          <p:cNvPr id="13" name="tb"/>
          <p:cNvSpPr/>
          <p:nvPr/>
        </p:nvSpPr>
        <p:spPr>
          <a:xfrm>
            <a:off x="3709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NUMBER</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Stores whole numbers or decimals you can calculate with, such as a car's mileage.</a:t>
            </a:r>
          </a:p>
        </p:txBody>
      </p:sp>
      <p:sp>
        <p:nvSpPr>
          <p:cNvPr id="14" name="rr"/>
          <p:cNvSpPr/>
          <p:nvPr/>
        </p:nvSpPr>
        <p:spPr>
          <a:xfrm>
            <a:off x="457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5" name="r"/>
          <p:cNvSpPr/>
          <p:nvPr/>
        </p:nvSpPr>
        <p:spPr>
          <a:xfrm>
            <a:off x="457200" y="2840000"/>
            <a:ext cx="70000" cy="780000"/>
          </a:xfrm>
          <a:prstGeom prst="rect">
            <a:avLst/>
          </a:prstGeom>
          <a:solidFill>
            <a:srgbClr val="159BD2"/>
          </a:solidFill>
          <a:ln/>
        </p:spPr>
        <p:txBody>
          <a:bodyPr/>
          <a:lstStyle/>
          <a:p>
            <a:endParaRPr lang="en-AE"/>
          </a:p>
        </p:txBody>
      </p:sp>
      <p:sp>
        <p:nvSpPr>
          <p:cNvPr id="16" name="tb"/>
          <p:cNvSpPr/>
          <p:nvPr/>
        </p:nvSpPr>
        <p:spPr>
          <a:xfrm>
            <a:off x="637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CURRENCY</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Stores money values with a symbol and two decimal places, such as a car's price.</a:t>
            </a:r>
          </a:p>
        </p:txBody>
      </p:sp>
      <p:sp>
        <p:nvSpPr>
          <p:cNvPr id="17" name="rr"/>
          <p:cNvSpPr/>
          <p:nvPr/>
        </p:nvSpPr>
        <p:spPr>
          <a:xfrm>
            <a:off x="3529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8" name="r"/>
          <p:cNvSpPr/>
          <p:nvPr/>
        </p:nvSpPr>
        <p:spPr>
          <a:xfrm>
            <a:off x="3529200" y="2840000"/>
            <a:ext cx="70000" cy="780000"/>
          </a:xfrm>
          <a:prstGeom prst="rect">
            <a:avLst/>
          </a:prstGeom>
          <a:solidFill>
            <a:srgbClr val="159BD2"/>
          </a:solidFill>
          <a:ln/>
        </p:spPr>
        <p:txBody>
          <a:bodyPr/>
          <a:lstStyle/>
          <a:p>
            <a:endParaRPr lang="en-AE"/>
          </a:p>
        </p:txBody>
      </p:sp>
      <p:sp>
        <p:nvSpPr>
          <p:cNvPr id="19" name="tb"/>
          <p:cNvSpPr/>
          <p:nvPr/>
        </p:nvSpPr>
        <p:spPr>
          <a:xfrm>
            <a:off x="3709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DATE/TIME</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Stores calendar dates and times, such as the date a car was first registered.</a:t>
            </a:r>
          </a:p>
        </p:txBody>
      </p:sp>
      <p:sp>
        <p:nvSpPr>
          <p:cNvPr id="20" name="rr"/>
          <p:cNvSpPr/>
          <p:nvPr/>
        </p:nvSpPr>
        <p:spPr>
          <a:xfrm>
            <a:off x="457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1" name="r"/>
          <p:cNvSpPr/>
          <p:nvPr/>
        </p:nvSpPr>
        <p:spPr>
          <a:xfrm>
            <a:off x="457200" y="3680000"/>
            <a:ext cx="70000" cy="780000"/>
          </a:xfrm>
          <a:prstGeom prst="rect">
            <a:avLst/>
          </a:prstGeom>
          <a:solidFill>
            <a:srgbClr val="159BD2"/>
          </a:solidFill>
          <a:ln/>
        </p:spPr>
        <p:txBody>
          <a:bodyPr/>
          <a:lstStyle/>
          <a:p>
            <a:endParaRPr lang="en-AE"/>
          </a:p>
        </p:txBody>
      </p:sp>
      <p:sp>
        <p:nvSpPr>
          <p:cNvPr id="22" name="tb"/>
          <p:cNvSpPr/>
          <p:nvPr/>
        </p:nvSpPr>
        <p:spPr>
          <a:xfrm>
            <a:off x="637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YES/NO</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Stores one of two values, such as whether a car has been sold. Also called Boolean.</a:t>
            </a:r>
          </a:p>
        </p:txBody>
      </p:sp>
      <p:sp>
        <p:nvSpPr>
          <p:cNvPr id="23" name="rr"/>
          <p:cNvSpPr/>
          <p:nvPr/>
        </p:nvSpPr>
        <p:spPr>
          <a:xfrm>
            <a:off x="3529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4" name="r"/>
          <p:cNvSpPr/>
          <p:nvPr/>
        </p:nvSpPr>
        <p:spPr>
          <a:xfrm>
            <a:off x="3529200" y="3680000"/>
            <a:ext cx="70000" cy="780000"/>
          </a:xfrm>
          <a:prstGeom prst="rect">
            <a:avLst/>
          </a:prstGeom>
          <a:solidFill>
            <a:srgbClr val="159BD2"/>
          </a:solidFill>
          <a:ln/>
        </p:spPr>
        <p:txBody>
          <a:bodyPr/>
          <a:lstStyle/>
          <a:p>
            <a:endParaRPr lang="en-AE"/>
          </a:p>
        </p:txBody>
      </p:sp>
      <p:sp>
        <p:nvSpPr>
          <p:cNvPr id="25" name="tb"/>
          <p:cNvSpPr/>
          <p:nvPr/>
        </p:nvSpPr>
        <p:spPr>
          <a:xfrm>
            <a:off x="3709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AUTONUMBER</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A unique number the database adds automatically, ideal for a key field such as CarID.</a:t>
            </a:r>
          </a:p>
        </p:txBody>
      </p:sp>
      <p:sp>
        <p:nvSpPr>
          <p:cNvPr id="26" name="rr"/>
          <p:cNvSpPr/>
          <p:nvPr/>
        </p:nvSpPr>
        <p:spPr>
          <a:xfrm>
            <a:off x="457200" y="4640000"/>
            <a:ext cx="5943600" cy="2360000"/>
          </a:xfrm>
          <a:prstGeom prst="roundRect">
            <a:avLst>
              <a:gd name="adj" fmla="val 4000"/>
            </a:avLst>
          </a:prstGeom>
          <a:solidFill>
            <a:srgbClr val="F3F6F8"/>
          </a:solidFill>
          <a:ln w="12700">
            <a:solidFill>
              <a:srgbClr val="D7EBF5"/>
            </a:solidFill>
            <a:prstDash val="solid"/>
          </a:ln>
        </p:spPr>
        <p:txBody>
          <a:bodyPr/>
          <a:lstStyle/>
          <a:p>
            <a:endParaRPr lang="en-AE"/>
          </a:p>
        </p:txBody>
      </p:sp>
      <p:sp>
        <p:nvSpPr>
          <p:cNvPr id="27" name="r"/>
          <p:cNvSpPr/>
          <p:nvPr/>
        </p:nvSpPr>
        <p:spPr>
          <a:xfrm>
            <a:off x="457200" y="4640000"/>
            <a:ext cx="100584" cy="2360000"/>
          </a:xfrm>
          <a:prstGeom prst="rect">
            <a:avLst/>
          </a:prstGeom>
          <a:solidFill>
            <a:srgbClr val="159BD2"/>
          </a:solidFill>
          <a:ln/>
        </p:spPr>
        <p:txBody>
          <a:bodyPr/>
          <a:lstStyle/>
          <a:p>
            <a:endParaRPr lang="en-AE"/>
          </a:p>
        </p:txBody>
      </p:sp>
      <p:sp>
        <p:nvSpPr>
          <p:cNvPr id="28" name="tb"/>
          <p:cNvSpPr/>
          <p:nvPr/>
        </p:nvSpPr>
        <p:spPr>
          <a:xfrm>
            <a:off x="700000" y="4790000"/>
            <a:ext cx="5450000" cy="250000"/>
          </a:xfrm>
          <a:prstGeom prst="rect">
            <a:avLst/>
          </a:prstGeom>
          <a:noFill/>
          <a:ln/>
        </p:spPr>
        <p:txBody>
          <a:bodyPr wrap="square" lIns="0" tIns="0" rIns="0" bIns="0" rtlCol="0" anchor="ctr"/>
          <a:lstStyle/>
          <a:p>
            <a:pPr marL="0" indent="0">
              <a:buNone/>
            </a:pPr>
            <a:r>
              <a:rPr lang="en-US" sz="1000" b="1" kern="0" spc="150">
                <a:solidFill>
                  <a:srgbClr val="0F7BA8"/>
                </a:solidFill>
                <a:latin typeface="Calibri" pitchFamily="34" charset="0"/>
                <a:ea typeface="Calibri" pitchFamily="34" charset="-122"/>
                <a:cs typeface="Calibri" pitchFamily="34" charset="-120"/>
              </a:rPr>
              <a:t>YOUR TASK · CARS TABLE</a:t>
            </a:r>
          </a:p>
        </p:txBody>
      </p:sp>
      <p:sp>
        <p:nvSpPr>
          <p:cNvPr id="29" name="tb"/>
          <p:cNvSpPr/>
          <p:nvPr/>
        </p:nvSpPr>
        <p:spPr>
          <a:xfrm>
            <a:off x="700000" y="511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1 CREATE FIELDS</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Add fields for CarID, Make, Model, Year and Price in a new table.</a:t>
            </a:r>
          </a:p>
        </p:txBody>
      </p:sp>
      <p:sp>
        <p:nvSpPr>
          <p:cNvPr id="30" name="tb"/>
          <p:cNvSpPr/>
          <p:nvPr/>
        </p:nvSpPr>
        <p:spPr>
          <a:xfrm>
            <a:off x="700000" y="569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2 SET DATA TYPES</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Set each field to a suitable data type, with CarID as AutoNumber.</a:t>
            </a:r>
          </a:p>
        </p:txBody>
      </p:sp>
      <p:sp>
        <p:nvSpPr>
          <p:cNvPr id="31" name="tb"/>
          <p:cNvSpPr/>
          <p:nvPr/>
        </p:nvSpPr>
        <p:spPr>
          <a:xfrm>
            <a:off x="700000" y="627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3 SAVE THE TABLE</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Save the table as tblCars — the heart of your Dodgy Dave's database.</a:t>
            </a:r>
          </a:p>
        </p:txBody>
      </p:sp>
      <p:sp>
        <p:nvSpPr>
          <p:cNvPr id="902" name="Source Band"/>
          <p:cNvSpPr/>
          <p:nvPr/>
        </p:nvSpPr>
        <p:spPr>
          <a:xfrm>
            <a:off x="0" y="7050000"/>
            <a:ext cx="6858000" cy="1900000"/>
          </a:xfrm>
          <a:prstGeom prst="rect">
            <a:avLst/>
          </a:prstGeom>
          <a:solidFill>
            <a:srgbClr val="EAF5FB"/>
          </a:solidFill>
          <a:ln/>
        </p:spPr>
        <p:txBody>
          <a:bodyPr/>
          <a:lstStyle/>
          <a:p>
            <a:endParaRPr lang="en-AE"/>
          </a:p>
        </p:txBody>
      </p:sp>
      <p:pic>
        <p:nvPicPr>
          <p:cNvPr id="900" name="Photo"/>
          <p:cNvPicPr>
            <a:picLocks noChangeAspect="1"/>
          </p:cNvPicPr>
          <p:nvPr/>
        </p:nvPicPr>
        <p:blipFill>
          <a:blip r:embed="rId3"/>
          <a:stretch>
            <a:fillRect/>
          </a:stretch>
        </p:blipFill>
        <p:spPr>
          <a:xfrm>
            <a:off x="457200" y="7220000"/>
            <a:ext cx="2360000" cy="1560000"/>
          </a:xfrm>
          <a:prstGeom prst="rect">
            <a:avLst/>
          </a:prstGeom>
          <a:ln w="12700">
            <a:solidFill>
              <a:srgbClr val="0F7BA8"/>
            </a:solidFill>
          </a:ln>
        </p:spPr>
      </p:pic>
      <p:sp>
        <p:nvSpPr>
          <p:cNvPr id="901" name="Photo Caption"/>
          <p:cNvSpPr/>
          <p:nvPr/>
        </p:nvSpPr>
        <p:spPr>
          <a:xfrm>
            <a:off x="2980000" y="7220000"/>
            <a:ext cx="3420000" cy="162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TIP</a:t>
            </a:r>
          </a:p>
          <a:p>
            <a:pPr marL="0" indent="0">
              <a:spcBef>
                <a:spcPts val="400"/>
              </a:spcBef>
              <a:buNone/>
            </a:pPr>
            <a:r>
              <a:rPr lang="en-US" sz="850" i="1">
                <a:solidFill>
                  <a:srgbClr val="5A6B76"/>
                </a:solidFill>
                <a:latin typeface="Calibri" pitchFamily="34" charset="0"/>
                <a:ea typeface="Calibri" pitchFamily="34" charset="-122"/>
                <a:cs typeface="Calibri" pitchFamily="34" charset="-120"/>
              </a:rPr>
              <a:t>The wrong data type can stop you sorting or calculating with a field later.</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Always check each field's data type before entering data.</a:t>
            </a:r>
          </a:p>
          <a:p>
            <a:pPr marL="0" indent="0">
              <a:spcBef>
                <a:spcPts val="400"/>
              </a:spcBef>
              <a:buNone/>
            </a:pPr>
            <a:r>
              <a:rPr lang="en-US" sz="1000">
                <a:solidFill>
                  <a:srgbClr val="10324B"/>
                </a:solidFill>
                <a:latin typeface="Calibri" pitchFamily="34" charset="0"/>
                <a:ea typeface="Calibri" pitchFamily="34" charset="-122"/>
                <a:cs typeface="Calibri" pitchFamily="34" charset="-120"/>
              </a:rPr>
              <a:t>Change a field's type in Design View if you get it wrong.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e Terms Forced on Germany">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2 · KEY FIELDS</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Keys &amp; Links</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Key Fields &amp; Relationships</a:t>
            </a:r>
            <a:endParaRPr lang="en-US" sz="2400"/>
          </a:p>
        </p:txBody>
      </p:sp>
      <p:sp>
        <p:nvSpPr>
          <p:cNvPr id="8" name="Intro"/>
          <p:cNvSpPr/>
          <p:nvPr/>
        </p:nvSpPr>
        <p:spPr>
          <a:xfrm>
            <a:off x="457200" y="1500000"/>
            <a:ext cx="5943600" cy="60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A key field gives every record a unique identity and lets separate tables be linked together.</a:t>
            </a:r>
            <a:endParaRPr lang="en-US" sz="1200"/>
          </a:p>
        </p:txBody>
      </p:sp>
      <p:sp>
        <p:nvSpPr>
          <p:cNvPr id="10" name="Card A BG"/>
          <p:cNvSpPr/>
          <p:nvPr/>
        </p:nvSpPr>
        <p:spPr>
          <a:xfrm>
            <a:off x="4572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200000"/>
            <a:ext cx="80000" cy="2010000"/>
          </a:xfrm>
          <a:prstGeom prst="rect">
            <a:avLst/>
          </a:prstGeom>
          <a:solidFill>
            <a:srgbClr val="159BD2"/>
          </a:solidFill>
          <a:ln/>
        </p:spPr>
        <p:txBody>
          <a:bodyPr/>
          <a:lstStyle/>
          <a:p>
            <a:endParaRPr lang="en-AE"/>
          </a:p>
        </p:txBody>
      </p:sp>
      <p:sp>
        <p:nvSpPr>
          <p:cNvPr id="12" name="Card A Text"/>
          <p:cNvSpPr/>
          <p:nvPr/>
        </p:nvSpPr>
        <p:spPr>
          <a:xfrm>
            <a:off x="6772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Primary Key</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Unique identifier</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A field whose value is unique for every record, such as CarID. No two records can share it.</a:t>
            </a:r>
          </a:p>
        </p:txBody>
      </p:sp>
      <p:sp>
        <p:nvSpPr>
          <p:cNvPr id="20" name="Card B BG"/>
          <p:cNvSpPr/>
          <p:nvPr/>
        </p:nvSpPr>
        <p:spPr>
          <a:xfrm>
            <a:off x="35308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200000"/>
            <a:ext cx="80000" cy="2010000"/>
          </a:xfrm>
          <a:prstGeom prst="rect">
            <a:avLst/>
          </a:prstGeom>
          <a:solidFill>
            <a:srgbClr val="159BD2"/>
          </a:solidFill>
          <a:ln/>
        </p:spPr>
        <p:txBody>
          <a:bodyPr/>
          <a:lstStyle/>
          <a:p>
            <a:endParaRPr lang="en-AE"/>
          </a:p>
        </p:txBody>
      </p:sp>
      <p:sp>
        <p:nvSpPr>
          <p:cNvPr id="22" name="Card B Text"/>
          <p:cNvSpPr/>
          <p:nvPr/>
        </p:nvSpPr>
        <p:spPr>
          <a:xfrm>
            <a:off x="37508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Foreign Key</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The link</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A field in one table that matches the primary key of another, linking the two tables together.</a:t>
            </a:r>
          </a:p>
        </p:txBody>
      </p:sp>
      <p:sp>
        <p:nvSpPr>
          <p:cNvPr id="30" name="Card C BG"/>
          <p:cNvSpPr/>
          <p:nvPr/>
        </p:nvSpPr>
        <p:spPr>
          <a:xfrm>
            <a:off x="4572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4330000"/>
            <a:ext cx="80000" cy="2010000"/>
          </a:xfrm>
          <a:prstGeom prst="rect">
            <a:avLst/>
          </a:prstGeom>
          <a:solidFill>
            <a:srgbClr val="159BD2"/>
          </a:solidFill>
          <a:ln/>
        </p:spPr>
        <p:txBody>
          <a:bodyPr/>
          <a:lstStyle/>
          <a:p>
            <a:endParaRPr lang="en-AE"/>
          </a:p>
        </p:txBody>
      </p:sp>
      <p:sp>
        <p:nvSpPr>
          <p:cNvPr id="32" name="Card C Text"/>
          <p:cNvSpPr/>
          <p:nvPr/>
        </p:nvSpPr>
        <p:spPr>
          <a:xfrm>
            <a:off x="6772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Flat-file</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One single table</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Stores everything in one large table. Simple, but data is often repeated and harder to keep consistent.</a:t>
            </a:r>
          </a:p>
        </p:txBody>
      </p:sp>
      <p:sp>
        <p:nvSpPr>
          <p:cNvPr id="40" name="Card D BG"/>
          <p:cNvSpPr/>
          <p:nvPr/>
        </p:nvSpPr>
        <p:spPr>
          <a:xfrm>
            <a:off x="35308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4330000"/>
            <a:ext cx="80000" cy="2010000"/>
          </a:xfrm>
          <a:prstGeom prst="rect">
            <a:avLst/>
          </a:prstGeom>
          <a:solidFill>
            <a:srgbClr val="159BD2"/>
          </a:solidFill>
          <a:ln/>
        </p:spPr>
        <p:txBody>
          <a:bodyPr/>
          <a:lstStyle/>
          <a:p>
            <a:endParaRPr lang="en-AE"/>
          </a:p>
        </p:txBody>
      </p:sp>
      <p:sp>
        <p:nvSpPr>
          <p:cNvPr id="42" name="Card D Text"/>
          <p:cNvSpPr/>
          <p:nvPr/>
        </p:nvSpPr>
        <p:spPr>
          <a:xfrm>
            <a:off x="37508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Relational</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Linked tables</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Splits data across linked tables joined by keys, reducing repetition and mistakes.</a:t>
            </a:r>
          </a:p>
        </p:txBody>
      </p:sp>
      <p:sp>
        <p:nvSpPr>
          <p:cNvPr id="50" name="Fact Band"/>
          <p:cNvSpPr/>
          <p:nvPr/>
        </p:nvSpPr>
        <p:spPr>
          <a:xfrm>
            <a:off x="0" y="6650000"/>
            <a:ext cx="6858000" cy="1560000"/>
          </a:xfrm>
          <a:prstGeom prst="rect">
            <a:avLst/>
          </a:prstGeom>
          <a:solidFill>
            <a:srgbClr val="EAF5FB"/>
          </a:solidFill>
          <a:ln/>
        </p:spPr>
        <p:txBody>
          <a:bodyPr/>
          <a:lstStyle/>
          <a:p>
            <a:endParaRPr lang="en-AE"/>
          </a:p>
        </p:txBody>
      </p:sp>
      <p:sp>
        <p:nvSpPr>
          <p:cNvPr id="51" name="Fact Text"/>
          <p:cNvSpPr/>
          <p:nvPr/>
        </p:nvSpPr>
        <p:spPr>
          <a:xfrm>
            <a:off x="457200" y="6790000"/>
            <a:ext cx="3050000" cy="136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WHY IT MATTERS</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A relational design avoids repeating data, saves space and keeps every record consistent.</a:t>
            </a:r>
            <a:endParaRPr lang="en-US" sz="1150"/>
          </a:p>
        </p:txBody>
      </p:sp>
      <p:pic>
        <p:nvPicPr>
          <p:cNvPr id="70" name="Potsdam Photo"/>
          <p:cNvPicPr>
            <a:picLocks noChangeAspect="1"/>
          </p:cNvPicPr>
          <p:nvPr/>
        </p:nvPicPr>
        <p:blipFill>
          <a:blip r:embed="rId4"/>
          <a:srcRect t="14000" b="17055"/>
          <a:stretch>
            <a:fillRect/>
          </a:stretch>
        </p:blipFill>
        <p:spPr>
          <a:xfrm>
            <a:off x="3620000" y="6790000"/>
            <a:ext cx="2780000" cy="1150000"/>
          </a:xfrm>
          <a:prstGeom prst="rect">
            <a:avLst/>
          </a:prstGeom>
        </p:spPr>
      </p:pic>
      <p:sp>
        <p:nvSpPr>
          <p:cNvPr id="71" name="Photo Caption"/>
          <p:cNvSpPr/>
          <p:nvPr/>
        </p:nvSpPr>
        <p:spPr>
          <a:xfrm>
            <a:off x="3620000" y="7970000"/>
            <a:ext cx="2780000" cy="360000"/>
          </a:xfrm>
          <a:prstGeom prst="rect">
            <a:avLst/>
          </a:prstGeom>
          <a:noFill/>
          <a:ln/>
        </p:spPr>
        <p:txBody>
          <a:bodyPr wrap="square" lIns="0" tIns="0" rIns="0" bIns="0" rtlCol="0" anchor="t"/>
          <a:lstStyle/>
          <a:p>
            <a:pPr marL="0" indent="0" algn="ctr">
              <a:buNone/>
            </a:pPr>
            <a:r>
              <a:rPr lang="en-US" sz="800" i="1">
                <a:solidFill>
                  <a:srgbClr val="5A6B76"/>
                </a:solidFill>
                <a:latin typeface="Georgia" pitchFamily="34" charset="0"/>
                <a:ea typeface="Georgia" pitchFamily="34" charset="-122"/>
                <a:cs typeface="Georgia" pitchFamily="34" charset="-120"/>
              </a:rPr>
              <a:t>REMEMBER: A primary key must be unique and can never be left empty.</a:t>
            </a:r>
            <a:endParaRPr lang="en-US"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Life in the Trenches">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90000"/>
            <a:ext cx="1645920" cy="26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2 · FIELD PROPERTIES</a:t>
            </a:r>
            <a:endParaRPr lang="en-US" sz="1100"/>
          </a:p>
        </p:txBody>
      </p:sp>
      <p:sp>
        <p:nvSpPr>
          <p:cNvPr id="5" name="Pill"/>
          <p:cNvSpPr/>
          <p:nvPr/>
        </p:nvSpPr>
        <p:spPr>
          <a:xfrm>
            <a:off x="4617720" y="552000"/>
            <a:ext cx="178308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Set &amp; Check</a:t>
            </a:r>
            <a:endParaRPr lang="en-US" sz="1100"/>
          </a:p>
        </p:txBody>
      </p:sp>
      <p:sp>
        <p:nvSpPr>
          <p:cNvPr id="6" name="Title"/>
          <p:cNvSpPr/>
          <p:nvPr/>
        </p:nvSpPr>
        <p:spPr>
          <a:xfrm>
            <a:off x="457200" y="920000"/>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Field Properties &amp; Validation</a:t>
            </a:r>
            <a:endParaRPr lang="en-US" sz="2500"/>
          </a:p>
        </p:txBody>
      </p:sp>
      <p:sp>
        <p:nvSpPr>
          <p:cNvPr id="7" name="Intro"/>
          <p:cNvSpPr/>
          <p:nvPr/>
        </p:nvSpPr>
        <p:spPr>
          <a:xfrm>
            <a:off x="457200" y="1500000"/>
            <a:ext cx="5943600" cy="45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Field properties control how data is stored and checked, keeping every entry accurate and tidy.</a:t>
            </a:r>
            <a:endParaRPr lang="en-US" sz="1150"/>
          </a:p>
        </p:txBody>
      </p:sp>
      <p:sp>
        <p:nvSpPr>
          <p:cNvPr id="10" name="Card A"/>
          <p:cNvSpPr/>
          <p:nvPr/>
        </p:nvSpPr>
        <p:spPr>
          <a:xfrm>
            <a:off x="4572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010000"/>
            <a:ext cx="80000" cy="1450000"/>
          </a:xfrm>
          <a:prstGeom prst="rect">
            <a:avLst/>
          </a:prstGeom>
          <a:solidFill>
            <a:srgbClr val="159BD2"/>
          </a:solidFill>
          <a:ln/>
        </p:spPr>
        <p:txBody>
          <a:bodyPr/>
          <a:lstStyle/>
          <a:p>
            <a:endParaRPr lang="en-AE"/>
          </a:p>
        </p:txBody>
      </p:sp>
      <p:sp>
        <p:nvSpPr>
          <p:cNvPr id="12" name="Card A Text"/>
          <p:cNvSpPr/>
          <p:nvPr/>
        </p:nvSpPr>
        <p:spPr>
          <a:xfrm>
            <a:off x="6572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Field Size</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How much fits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Limits how many characters a text field can hold, saving space and stopping over-long entries.</a:t>
            </a:r>
          </a:p>
        </p:txBody>
      </p:sp>
      <p:sp>
        <p:nvSpPr>
          <p:cNvPr id="20" name="Card B"/>
          <p:cNvSpPr/>
          <p:nvPr/>
        </p:nvSpPr>
        <p:spPr>
          <a:xfrm>
            <a:off x="35308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010000"/>
            <a:ext cx="80000" cy="1450000"/>
          </a:xfrm>
          <a:prstGeom prst="rect">
            <a:avLst/>
          </a:prstGeom>
          <a:solidFill>
            <a:srgbClr val="159BD2"/>
          </a:solidFill>
          <a:ln/>
        </p:spPr>
        <p:txBody>
          <a:bodyPr/>
          <a:lstStyle/>
          <a:p>
            <a:endParaRPr lang="en-AE"/>
          </a:p>
        </p:txBody>
      </p:sp>
      <p:sp>
        <p:nvSpPr>
          <p:cNvPr id="22" name="Card B Text"/>
          <p:cNvSpPr/>
          <p:nvPr/>
        </p:nvSpPr>
        <p:spPr>
          <a:xfrm>
            <a:off x="37308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Format</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How it looks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Controls how a value is displayed, such as a date as dd/mm/yyyy or currency with a symbol.</a:t>
            </a:r>
          </a:p>
        </p:txBody>
      </p:sp>
      <p:sp>
        <p:nvSpPr>
          <p:cNvPr id="30" name="Card C"/>
          <p:cNvSpPr/>
          <p:nvPr/>
        </p:nvSpPr>
        <p:spPr>
          <a:xfrm>
            <a:off x="4572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3600000"/>
            <a:ext cx="80000" cy="1450000"/>
          </a:xfrm>
          <a:prstGeom prst="rect">
            <a:avLst/>
          </a:prstGeom>
          <a:solidFill>
            <a:srgbClr val="159BD2"/>
          </a:solidFill>
          <a:ln/>
        </p:spPr>
        <p:txBody>
          <a:bodyPr/>
          <a:lstStyle/>
          <a:p>
            <a:endParaRPr lang="en-AE"/>
          </a:p>
        </p:txBody>
      </p:sp>
      <p:sp>
        <p:nvSpPr>
          <p:cNvPr id="32" name="Card C Text"/>
          <p:cNvSpPr/>
          <p:nvPr/>
        </p:nvSpPr>
        <p:spPr>
          <a:xfrm>
            <a:off x="6572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Default Value</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A head start</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Fills a field automatically with a common value, saving typing when most records match.</a:t>
            </a:r>
          </a:p>
        </p:txBody>
      </p:sp>
      <p:sp>
        <p:nvSpPr>
          <p:cNvPr id="40" name="Card D"/>
          <p:cNvSpPr/>
          <p:nvPr/>
        </p:nvSpPr>
        <p:spPr>
          <a:xfrm>
            <a:off x="35308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3600000"/>
            <a:ext cx="80000" cy="1450000"/>
          </a:xfrm>
          <a:prstGeom prst="rect">
            <a:avLst/>
          </a:prstGeom>
          <a:solidFill>
            <a:srgbClr val="159BD2"/>
          </a:solidFill>
          <a:ln/>
        </p:spPr>
        <p:txBody>
          <a:bodyPr/>
          <a:lstStyle/>
          <a:p>
            <a:endParaRPr lang="en-AE"/>
          </a:p>
        </p:txBody>
      </p:sp>
      <p:sp>
        <p:nvSpPr>
          <p:cNvPr id="42" name="Card D Text"/>
          <p:cNvSpPr/>
          <p:nvPr/>
        </p:nvSpPr>
        <p:spPr>
          <a:xfrm>
            <a:off x="37308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Required</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No blanks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Forces a field to be filled in, so important data can never be left empty.</a:t>
            </a:r>
          </a:p>
        </p:txBody>
      </p:sp>
      <p:sp>
        <p:nvSpPr>
          <p:cNvPr id="70" name="Card E"/>
          <p:cNvSpPr/>
          <p:nvPr/>
        </p:nvSpPr>
        <p:spPr>
          <a:xfrm>
            <a:off x="4572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71" name="Card E Accent"/>
          <p:cNvSpPr/>
          <p:nvPr/>
        </p:nvSpPr>
        <p:spPr>
          <a:xfrm>
            <a:off x="457200" y="5190000"/>
            <a:ext cx="80000" cy="1450000"/>
          </a:xfrm>
          <a:prstGeom prst="rect">
            <a:avLst/>
          </a:prstGeom>
          <a:solidFill>
            <a:srgbClr val="159BD2"/>
          </a:solidFill>
          <a:ln/>
        </p:spPr>
        <p:txBody>
          <a:bodyPr/>
          <a:lstStyle/>
          <a:p>
            <a:endParaRPr lang="en-AE"/>
          </a:p>
        </p:txBody>
      </p:sp>
      <p:sp>
        <p:nvSpPr>
          <p:cNvPr id="72" name="Card E Text"/>
          <p:cNvSpPr/>
          <p:nvPr/>
        </p:nvSpPr>
        <p:spPr>
          <a:xfrm>
            <a:off x="6572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Validation Rule</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Sensible values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Checks that an entry meets a rule, such as a price greater than zero, before it is accepted.</a:t>
            </a:r>
          </a:p>
        </p:txBody>
      </p:sp>
      <p:sp>
        <p:nvSpPr>
          <p:cNvPr id="80" name="Card F"/>
          <p:cNvSpPr/>
          <p:nvPr/>
        </p:nvSpPr>
        <p:spPr>
          <a:xfrm>
            <a:off x="35308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81" name="Card F Accent"/>
          <p:cNvSpPr/>
          <p:nvPr/>
        </p:nvSpPr>
        <p:spPr>
          <a:xfrm>
            <a:off x="3530800" y="5190000"/>
            <a:ext cx="80000" cy="1450000"/>
          </a:xfrm>
          <a:prstGeom prst="rect">
            <a:avLst/>
          </a:prstGeom>
          <a:solidFill>
            <a:srgbClr val="159BD2"/>
          </a:solidFill>
          <a:ln/>
        </p:spPr>
        <p:txBody>
          <a:bodyPr/>
          <a:lstStyle/>
          <a:p>
            <a:endParaRPr lang="en-AE"/>
          </a:p>
        </p:txBody>
      </p:sp>
      <p:sp>
        <p:nvSpPr>
          <p:cNvPr id="82" name="Card F Text"/>
          <p:cNvSpPr/>
          <p:nvPr/>
        </p:nvSpPr>
        <p:spPr>
          <a:xfrm>
            <a:off x="37308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Input Mask</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A fixed pattern</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Forces data into a set pattern, such as a date or a registration plate, as it is typed.</a:t>
            </a:r>
          </a:p>
        </p:txBody>
      </p:sp>
      <p:sp>
        <p:nvSpPr>
          <p:cNvPr id="50" name="Task Band"/>
          <p:cNvSpPr/>
          <p:nvPr/>
        </p:nvSpPr>
        <p:spPr>
          <a:xfrm>
            <a:off x="457200" y="6800000"/>
            <a:ext cx="5943600" cy="1500000"/>
          </a:xfrm>
          <a:prstGeom prst="roundRect">
            <a:avLst>
              <a:gd name="adj" fmla="val 5000"/>
            </a:avLst>
          </a:prstGeom>
          <a:solidFill>
            <a:srgbClr val="10324B"/>
          </a:solidFill>
          <a:ln/>
        </p:spPr>
        <p:txBody>
          <a:bodyPr/>
          <a:lstStyle/>
          <a:p>
            <a:endParaRPr lang="en-AE"/>
          </a:p>
        </p:txBody>
      </p:sp>
      <p:sp>
        <p:nvSpPr>
          <p:cNvPr id="51" name="Task Text"/>
          <p:cNvSpPr/>
          <p:nvPr/>
        </p:nvSpPr>
        <p:spPr>
          <a:xfrm>
            <a:off x="700000" y="6980000"/>
            <a:ext cx="5450000" cy="1160000"/>
          </a:xfrm>
          <a:prstGeom prst="rect">
            <a:avLst/>
          </a:prstGeom>
          <a:noFill/>
          <a:ln/>
        </p:spPr>
        <p:txBody>
          <a:bodyPr wrap="square" lIns="0" tIns="0" rIns="0" bIns="0" rtlCol="0" anchor="t"/>
          <a:lstStyle/>
          <a:p>
            <a:pPr marL="0" indent="0">
              <a:buNone/>
            </a:pPr>
            <a:r>
              <a:rPr lang="en-US" sz="1000" b="1" kern="0" spc="150">
                <a:solidFill>
                  <a:srgbClr val="7FC7E6"/>
                </a:solidFill>
                <a:latin typeface="Calibri" pitchFamily="34" charset="0"/>
                <a:ea typeface="Calibri" pitchFamily="34" charset="-122"/>
                <a:cs typeface="Calibri" pitchFamily="34" charset="-120"/>
              </a:rPr>
              <a:t>TIP</a:t>
            </a:r>
          </a:p>
          <a:p>
            <a:pPr marL="0" indent="0">
              <a:spcBef>
                <a:spcPts val="500"/>
              </a:spcBef>
              <a:buNone/>
            </a:pPr>
            <a:r>
              <a:rPr lang="en-US" sz="1150">
                <a:solidFill>
                  <a:srgbClr val="FFFFFF"/>
                </a:solidFill>
                <a:latin typeface="Calibri" pitchFamily="34" charset="0"/>
                <a:ea typeface="Calibri" pitchFamily="34" charset="-122"/>
                <a:cs typeface="Calibri" pitchFamily="34" charset="-120"/>
              </a:rPr>
              <a:t>Validation stops silly mistakes, but it cannot catch data that is wrong yet still sensible.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46304"/>
          </a:xfrm>
          <a:prstGeom prst="rect">
            <a:avLst/>
          </a:prstGeom>
          <a:solidFill>
            <a:srgbClr val="159BD2"/>
          </a:solidFill>
          <a:ln/>
        </p:spPr>
        <p:txBody>
          <a:bodyPr/>
          <a:lstStyle/>
          <a:p>
            <a:endParaRPr lang="en-AE"/>
          </a:p>
        </p:txBody>
      </p:sp>
      <p:sp>
        <p:nvSpPr>
          <p:cNvPr id="3" name="Text 1"/>
          <p:cNvSpPr/>
          <p:nvPr/>
        </p:nvSpPr>
        <p:spPr>
          <a:xfrm>
            <a:off x="457200" y="420624"/>
            <a:ext cx="402336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2 · ACCURATE DATA ENTRY</a:t>
            </a:r>
            <a:endParaRPr lang="en-US" sz="1100"/>
          </a:p>
        </p:txBody>
      </p:sp>
      <p:sp>
        <p:nvSpPr>
          <p:cNvPr id="4" name="Text 2"/>
          <p:cNvSpPr/>
          <p:nvPr/>
        </p:nvSpPr>
        <p:spPr>
          <a:xfrm>
            <a:off x="457200" y="676656"/>
            <a:ext cx="4023360" cy="91440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Validation &amp; Verification</a:t>
            </a:r>
            <a:endParaRPr lang="en-US" sz="2500"/>
          </a:p>
          <a:p>
            <a:pPr marL="0" indent="0" algn="l">
              <a:spcBef>
                <a:spcPts val="600"/>
              </a:spcBef>
              <a:buNone/>
            </a:pPr>
            <a:r>
              <a:rPr lang="en-US" sz="1100">
                <a:solidFill>
                  <a:srgbClr val="5A6B76"/>
                </a:solidFill>
                <a:latin typeface="Calibri" pitchFamily="34" charset="0"/>
                <a:ea typeface="Calibri" pitchFamily="34" charset="-122"/>
                <a:cs typeface="Calibri" pitchFamily="34" charset="-120"/>
              </a:rPr>
              <a:t>Validation rules automatically check that data is sensible, while verification confirms it has been entered accurately.</a:t>
            </a:r>
            <a:endParaRPr lang="en-US" sz="1100"/>
          </a:p>
        </p:txBody>
      </p:sp>
      <p:sp>
        <p:nvSpPr>
          <p:cNvPr id="5" name="Shape 3"/>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6" name="Text 4"/>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Teams Assignment</a:t>
            </a:r>
            <a:endParaRPr lang="en-US" sz="1100"/>
          </a:p>
        </p:txBody>
      </p:sp>
      <p:sp>
        <p:nvSpPr>
          <p:cNvPr id="7" name="Shape 5"/>
          <p:cNvSpPr/>
          <p:nvPr/>
        </p:nvSpPr>
        <p:spPr>
          <a:xfrm>
            <a:off x="457200" y="1783080"/>
            <a:ext cx="3063240" cy="5349240"/>
          </a:xfrm>
          <a:prstGeom prst="roundRect">
            <a:avLst>
              <a:gd name="adj" fmla="val 2090"/>
            </a:avLst>
          </a:prstGeom>
          <a:solidFill>
            <a:srgbClr val="F4FBFE"/>
          </a:solidFill>
          <a:ln w="12700">
            <a:solidFill>
              <a:srgbClr val="D7EBF5"/>
            </a:solidFill>
            <a:prstDash val="solid"/>
          </a:ln>
        </p:spPr>
        <p:txBody>
          <a:bodyPr/>
          <a:lstStyle/>
          <a:p>
            <a:endParaRPr lang="en-AE"/>
          </a:p>
        </p:txBody>
      </p:sp>
      <p:sp>
        <p:nvSpPr>
          <p:cNvPr id="8" name="Text 6"/>
          <p:cNvSpPr/>
          <p:nvPr/>
        </p:nvSpPr>
        <p:spPr>
          <a:xfrm>
            <a:off x="658368" y="1993392"/>
            <a:ext cx="2743200" cy="365760"/>
          </a:xfrm>
          <a:prstGeom prst="rect">
            <a:avLst/>
          </a:prstGeom>
          <a:noFill/>
          <a:ln/>
        </p:spPr>
        <p:txBody>
          <a:bodyPr wrap="square" lIns="0" tIns="0" rIns="0" bIns="0" rtlCol="0" anchor="ctr"/>
          <a:lstStyle/>
          <a:p>
            <a:pPr marL="0" indent="0">
              <a:buNone/>
            </a:pPr>
            <a:r>
              <a:rPr lang="en-US" sz="1500" b="1">
                <a:solidFill>
                  <a:srgbClr val="0F7BA8"/>
                </a:solidFill>
                <a:latin typeface="Georgia" pitchFamily="34" charset="0"/>
                <a:ea typeface="Georgia" pitchFamily="34" charset="-122"/>
                <a:cs typeface="Georgia" pitchFamily="34" charset="-120"/>
              </a:rPr>
              <a:t>Validation: Rules that Check Data</a:t>
            </a:r>
            <a:endParaRPr lang="en-US" sz="1500"/>
          </a:p>
        </p:txBody>
      </p:sp>
      <p:sp>
        <p:nvSpPr>
          <p:cNvPr id="9" name="Text 7"/>
          <p:cNvSpPr/>
          <p:nvPr/>
        </p:nvSpPr>
        <p:spPr>
          <a:xfrm>
            <a:off x="658368" y="2400000"/>
            <a:ext cx="2697480" cy="3600000"/>
          </a:xfrm>
          <a:prstGeom prst="rect">
            <a:avLst/>
          </a:prstGeom>
          <a:noFill/>
          <a:ln/>
        </p:spPr>
        <p:txBody>
          <a:bodyPr wrap="square" lIns="0" tIns="0" rIns="0" bIns="0" rtlCol="0" anchor="ctr"/>
          <a:lstStyle/>
          <a:p>
            <a:pPr marL="342900" indent="-342900">
              <a:lnSpc>
                <a:spcPct val="102000"/>
              </a:lnSpc>
              <a:spcAft>
                <a:spcPts val="1100"/>
              </a:spcAft>
              <a:buSzPct val="100000"/>
              <a:buChar char="•"/>
            </a:pPr>
            <a:r>
              <a:rPr lang="en-US" sz="1200">
                <a:solidFill>
                  <a:srgbClr val="21323D"/>
                </a:solidFill>
                <a:latin typeface="Calibri" pitchFamily="34" charset="0"/>
                <a:ea typeface="Calibri" pitchFamily="34" charset="-122"/>
                <a:cs typeface="Calibri" pitchFamily="34" charset="-120"/>
              </a:rPr>
              <a:t>Checks data is sensible before it is stored</a:t>
            </a:r>
            <a:endParaRPr lang="en-US" sz="1200"/>
          </a:p>
          <a:p>
            <a:pPr marL="342900" indent="-342900">
              <a:lnSpc>
                <a:spcPct val="102000"/>
              </a:lnSpc>
              <a:spcAft>
                <a:spcPts val="1100"/>
              </a:spcAft>
              <a:buSzPct val="100000"/>
              <a:buChar char="•"/>
            </a:pPr>
            <a:r>
              <a:rPr lang="en-US" sz="1200">
                <a:solidFill>
                  <a:srgbClr val="21323D"/>
                </a:solidFill>
                <a:latin typeface="Calibri" pitchFamily="34" charset="0"/>
                <a:ea typeface="Calibri" pitchFamily="34" charset="-122"/>
                <a:cs typeface="Calibri" pitchFamily="34" charset="-120"/>
              </a:rPr>
              <a:t>Range, type, length and format checks are common</a:t>
            </a:r>
            <a:endParaRPr lang="en-US" sz="1200"/>
          </a:p>
          <a:p>
            <a:pPr marL="342900" indent="-342900">
              <a:lnSpc>
                <a:spcPct val="102000"/>
              </a:lnSpc>
              <a:spcAft>
                <a:spcPts val="1100"/>
              </a:spcAft>
              <a:buSzPct val="100000"/>
              <a:buChar char="•"/>
            </a:pPr>
            <a:r>
              <a:rPr lang="en-US" sz="1200">
                <a:solidFill>
                  <a:srgbClr val="21323D"/>
                </a:solidFill>
                <a:latin typeface="Calibri" pitchFamily="34" charset="0"/>
                <a:ea typeface="Calibri" pitchFamily="34" charset="-122"/>
                <a:cs typeface="Calibri" pitchFamily="34" charset="-120"/>
              </a:rPr>
              <a:t>A presence check stops a field being left empty</a:t>
            </a:r>
            <a:endParaRPr lang="en-US" sz="1200"/>
          </a:p>
          <a:p>
            <a:pPr marL="342900" indent="-342900">
              <a:lnSpc>
                <a:spcPct val="102000"/>
              </a:lnSpc>
              <a:spcAft>
                <a:spcPts val="1100"/>
              </a:spcAft>
              <a:buSzPct val="100000"/>
              <a:buChar char="•"/>
            </a:pPr>
            <a:r>
              <a:rPr lang="en-US" sz="1200">
                <a:solidFill>
                  <a:srgbClr val="21323D"/>
                </a:solidFill>
                <a:latin typeface="Calibri" pitchFamily="34" charset="0"/>
                <a:ea typeface="Calibri" pitchFamily="34" charset="-122"/>
                <a:cs typeface="Calibri" pitchFamily="34" charset="-120"/>
              </a:rPr>
              <a:t>Set in the field properties when you design a table</a:t>
            </a:r>
            <a:endParaRPr lang="en-US" sz="1200"/>
          </a:p>
        </p:txBody>
      </p:sp>
      <p:sp>
        <p:nvSpPr>
          <p:cNvPr id="41" name="Vocab Heading"/>
          <p:cNvSpPr/>
          <p:nvPr/>
        </p:nvSpPr>
        <p:spPr>
          <a:xfrm>
            <a:off x="658368" y="6120000"/>
            <a:ext cx="2697480" cy="274320"/>
          </a:xfrm>
          <a:prstGeom prst="rect">
            <a:avLst/>
          </a:prstGeom>
          <a:noFill/>
          <a:ln/>
        </p:spPr>
        <p:txBody>
          <a:bodyPr wrap="square" lIns="0" tIns="0" rIns="0" bIns="0" rtlCol="0" anchor="ctr"/>
          <a:lstStyle/>
          <a:p>
            <a:pPr marL="0" indent="0">
              <a:buNone/>
            </a:pPr>
            <a:r>
              <a:rPr lang="en-US" sz="1300" b="1">
                <a:solidFill>
                  <a:srgbClr val="0F7BA8"/>
                </a:solidFill>
                <a:latin typeface="Georgia" pitchFamily="34" charset="0"/>
                <a:ea typeface="Georgia" pitchFamily="34" charset="-122"/>
                <a:cs typeface="Georgia" pitchFamily="34" charset="-120"/>
              </a:rPr>
              <a:t>Key vocabulary</a:t>
            </a:r>
            <a:endParaRPr lang="en-US" sz="1300"/>
          </a:p>
        </p:txBody>
      </p:sp>
      <p:sp>
        <p:nvSpPr>
          <p:cNvPr id="42" name="Vocab Words"/>
          <p:cNvSpPr/>
          <p:nvPr/>
        </p:nvSpPr>
        <p:spPr>
          <a:xfrm>
            <a:off x="658368" y="6420000"/>
            <a:ext cx="2697480" cy="612000"/>
          </a:xfrm>
          <a:prstGeom prst="rect">
            <a:avLst/>
          </a:prstGeom>
          <a:noFill/>
          <a:ln/>
        </p:spPr>
        <p:txBody>
          <a:bodyPr wrap="square" lIns="0" tIns="0" rIns="0" bIns="0" rtlCol="0" anchor="t"/>
          <a:lstStyle/>
          <a:p>
            <a:pPr marL="0" indent="0">
              <a:lnSpc>
                <a:spcPct val="108000"/>
              </a:lnSpc>
              <a:spcAft>
                <a:spcPts val="400"/>
              </a:spcAft>
              <a:buNone/>
            </a:pPr>
            <a:r>
              <a:rPr lang="en-US" sz="1050" b="1">
                <a:solidFill>
                  <a:srgbClr val="21323D"/>
                </a:solidFill>
                <a:latin typeface="Calibri" pitchFamily="34" charset="0"/>
                <a:ea typeface="Calibri" pitchFamily="34" charset="-122"/>
                <a:cs typeface="Calibri" pitchFamily="34" charset="-120"/>
              </a:rPr>
              <a:t>Validation: </a:t>
            </a:r>
            <a:r>
              <a:rPr lang="en-US" sz="1050">
                <a:solidFill>
                  <a:srgbClr val="21323D"/>
                </a:solidFill>
                <a:latin typeface="Calibri" pitchFamily="34" charset="0"/>
                <a:ea typeface="Calibri" pitchFamily="34" charset="-122"/>
                <a:cs typeface="Calibri" pitchFamily="34" charset="-120"/>
              </a:rPr>
              <a:t>an automatic check that data is reasonable.</a:t>
            </a:r>
            <a:endParaRPr lang="en-US" sz="1050"/>
          </a:p>
          <a:p>
            <a:pPr marL="0" indent="0">
              <a:lnSpc>
                <a:spcPct val="108000"/>
              </a:lnSpc>
              <a:buNone/>
            </a:pPr>
            <a:r>
              <a:rPr lang="en-US" sz="1050" b="1">
                <a:solidFill>
                  <a:srgbClr val="21323D"/>
                </a:solidFill>
                <a:latin typeface="Calibri" pitchFamily="34" charset="0"/>
                <a:ea typeface="Calibri" pitchFamily="34" charset="-122"/>
                <a:cs typeface="Calibri" pitchFamily="34" charset="-120"/>
              </a:rPr>
              <a:t>Verification: </a:t>
            </a:r>
            <a:r>
              <a:rPr lang="en-US" sz="1050">
                <a:solidFill>
                  <a:srgbClr val="21323D"/>
                </a:solidFill>
                <a:latin typeface="Calibri" pitchFamily="34" charset="0"/>
                <a:ea typeface="Calibri" pitchFamily="34" charset="-122"/>
                <a:cs typeface="Calibri" pitchFamily="34" charset="-120"/>
              </a:rPr>
              <a:t>confirming data was typed in correctly.</a:t>
            </a:r>
            <a:endParaRPr lang="en-US" sz="1050"/>
          </a:p>
        </p:txBody>
      </p:sp>
      <p:sp>
        <p:nvSpPr>
          <p:cNvPr id="10" name="Shape 8"/>
          <p:cNvSpPr/>
          <p:nvPr/>
        </p:nvSpPr>
        <p:spPr>
          <a:xfrm>
            <a:off x="3657600" y="1783080"/>
            <a:ext cx="2743200" cy="5349240"/>
          </a:xfrm>
          <a:prstGeom prst="roundRect">
            <a:avLst>
              <a:gd name="adj" fmla="val 2333"/>
            </a:avLst>
          </a:prstGeom>
          <a:solidFill>
            <a:srgbClr val="F4FBFE"/>
          </a:solidFill>
          <a:ln w="12700">
            <a:solidFill>
              <a:srgbClr val="D7EBF5"/>
            </a:solidFill>
            <a:prstDash val="solid"/>
          </a:ln>
        </p:spPr>
        <p:txBody>
          <a:bodyPr/>
          <a:lstStyle/>
          <a:p>
            <a:endParaRPr lang="en-AE"/>
          </a:p>
        </p:txBody>
      </p:sp>
      <p:sp>
        <p:nvSpPr>
          <p:cNvPr id="11" name="Text 9"/>
          <p:cNvSpPr/>
          <p:nvPr/>
        </p:nvSpPr>
        <p:spPr>
          <a:xfrm>
            <a:off x="3858768" y="1993392"/>
            <a:ext cx="2377440" cy="365760"/>
          </a:xfrm>
          <a:prstGeom prst="rect">
            <a:avLst/>
          </a:prstGeom>
          <a:noFill/>
          <a:ln/>
        </p:spPr>
        <p:txBody>
          <a:bodyPr wrap="square" lIns="0" tIns="0" rIns="0" bIns="0" rtlCol="0" anchor="ctr"/>
          <a:lstStyle/>
          <a:p>
            <a:pPr marL="0" indent="0">
              <a:buNone/>
            </a:pPr>
            <a:r>
              <a:rPr lang="en-US" sz="1500" b="1">
                <a:solidFill>
                  <a:srgbClr val="B8862B"/>
                </a:solidFill>
                <a:latin typeface="Georgia" pitchFamily="34" charset="0"/>
                <a:ea typeface="Georgia" pitchFamily="34" charset="-122"/>
                <a:cs typeface="Georgia" pitchFamily="34" charset="-120"/>
              </a:rPr>
              <a:t>Verification: Confirming Accuracy</a:t>
            </a:r>
            <a:endParaRPr lang="en-US" sz="1500"/>
          </a:p>
        </p:txBody>
      </p:sp>
      <p:sp>
        <p:nvSpPr>
          <p:cNvPr id="12" name="Shape 10"/>
          <p:cNvSpPr/>
          <p:nvPr/>
        </p:nvSpPr>
        <p:spPr>
          <a:xfrm>
            <a:off x="3877056" y="2596896"/>
            <a:ext cx="274320" cy="274320"/>
          </a:xfrm>
          <a:prstGeom prst="ellipse">
            <a:avLst/>
          </a:prstGeom>
          <a:solidFill>
            <a:srgbClr val="159BD2"/>
          </a:solidFill>
          <a:ln/>
        </p:spPr>
        <p:txBody>
          <a:bodyPr/>
          <a:lstStyle/>
          <a:p>
            <a:endParaRPr lang="en-AE"/>
          </a:p>
        </p:txBody>
      </p:sp>
      <p:sp>
        <p:nvSpPr>
          <p:cNvPr id="13" name="Text 11"/>
          <p:cNvSpPr/>
          <p:nvPr/>
        </p:nvSpPr>
        <p:spPr>
          <a:xfrm>
            <a:off x="3877056" y="2596896"/>
            <a:ext cx="27432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14" name="Text 12"/>
          <p:cNvSpPr/>
          <p:nvPr/>
        </p:nvSpPr>
        <p:spPr>
          <a:xfrm>
            <a:off x="4261104" y="2523744"/>
            <a:ext cx="2066544" cy="713232"/>
          </a:xfrm>
          <a:prstGeom prst="rect">
            <a:avLst/>
          </a:prstGeom>
          <a:noFill/>
          <a:ln/>
        </p:spPr>
        <p:txBody>
          <a:bodyPr wrap="square" lIns="0" tIns="0" rIns="0" bIns="0" rtlCol="0" anchor="ctr"/>
          <a:lstStyle/>
          <a:p>
            <a:pPr marL="0" indent="0">
              <a:lnSpc>
                <a:spcPct val="98000"/>
              </a:lnSpc>
              <a:buNone/>
            </a:pPr>
            <a:r>
              <a:rPr lang="en-US" sz="1050">
                <a:solidFill>
                  <a:srgbClr val="21323D"/>
                </a:solidFill>
                <a:latin typeface="Calibri" pitchFamily="34" charset="0"/>
                <a:ea typeface="Calibri" pitchFamily="34" charset="-122"/>
                <a:cs typeface="Calibri" pitchFamily="34" charset="-120"/>
              </a:rPr>
              <a:t>Double entry types the same data twice to compare</a:t>
            </a:r>
            <a:endParaRPr lang="en-US" sz="1050"/>
          </a:p>
        </p:txBody>
      </p:sp>
      <p:sp>
        <p:nvSpPr>
          <p:cNvPr id="15" name="Shape 13"/>
          <p:cNvSpPr/>
          <p:nvPr/>
        </p:nvSpPr>
        <p:spPr>
          <a:xfrm>
            <a:off x="3877056" y="3383280"/>
            <a:ext cx="274320" cy="274320"/>
          </a:xfrm>
          <a:prstGeom prst="ellipse">
            <a:avLst/>
          </a:prstGeom>
          <a:solidFill>
            <a:srgbClr val="159BD2"/>
          </a:solidFill>
          <a:ln/>
        </p:spPr>
        <p:txBody>
          <a:bodyPr/>
          <a:lstStyle/>
          <a:p>
            <a:endParaRPr lang="en-AE"/>
          </a:p>
        </p:txBody>
      </p:sp>
      <p:sp>
        <p:nvSpPr>
          <p:cNvPr id="16" name="Text 14"/>
          <p:cNvSpPr/>
          <p:nvPr/>
        </p:nvSpPr>
        <p:spPr>
          <a:xfrm>
            <a:off x="3877056" y="3383280"/>
            <a:ext cx="27432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17" name="Text 15"/>
          <p:cNvSpPr/>
          <p:nvPr/>
        </p:nvSpPr>
        <p:spPr>
          <a:xfrm>
            <a:off x="4261104" y="3310128"/>
            <a:ext cx="2066544" cy="713232"/>
          </a:xfrm>
          <a:prstGeom prst="rect">
            <a:avLst/>
          </a:prstGeom>
          <a:noFill/>
          <a:ln/>
        </p:spPr>
        <p:txBody>
          <a:bodyPr wrap="square" lIns="0" tIns="0" rIns="0" bIns="0" rtlCol="0" anchor="ctr"/>
          <a:lstStyle/>
          <a:p>
            <a:pPr marL="0" indent="0">
              <a:lnSpc>
                <a:spcPct val="98000"/>
              </a:lnSpc>
              <a:buNone/>
            </a:pPr>
            <a:r>
              <a:rPr lang="en-US" sz="1050">
                <a:solidFill>
                  <a:srgbClr val="21323D"/>
                </a:solidFill>
                <a:latin typeface="Calibri" pitchFamily="34" charset="0"/>
                <a:ea typeface="Calibri" pitchFamily="34" charset="-122"/>
                <a:cs typeface="Calibri" pitchFamily="34" charset="-120"/>
              </a:rPr>
              <a:t>Visual checks proofread against the original source</a:t>
            </a:r>
            <a:endParaRPr lang="en-US" sz="1050"/>
          </a:p>
        </p:txBody>
      </p:sp>
      <p:sp>
        <p:nvSpPr>
          <p:cNvPr id="18" name="Shape 16"/>
          <p:cNvSpPr/>
          <p:nvPr/>
        </p:nvSpPr>
        <p:spPr>
          <a:xfrm>
            <a:off x="3877056" y="4169664"/>
            <a:ext cx="274320" cy="274320"/>
          </a:xfrm>
          <a:prstGeom prst="ellipse">
            <a:avLst/>
          </a:prstGeom>
          <a:solidFill>
            <a:srgbClr val="159BD2"/>
          </a:solidFill>
          <a:ln/>
        </p:spPr>
        <p:txBody>
          <a:bodyPr/>
          <a:lstStyle/>
          <a:p>
            <a:endParaRPr lang="en-AE"/>
          </a:p>
        </p:txBody>
      </p:sp>
      <p:sp>
        <p:nvSpPr>
          <p:cNvPr id="19" name="Text 17"/>
          <p:cNvSpPr/>
          <p:nvPr/>
        </p:nvSpPr>
        <p:spPr>
          <a:xfrm>
            <a:off x="3877056" y="4169664"/>
            <a:ext cx="27432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20" name="Text 18"/>
          <p:cNvSpPr/>
          <p:nvPr/>
        </p:nvSpPr>
        <p:spPr>
          <a:xfrm>
            <a:off x="4261104" y="4096512"/>
            <a:ext cx="2066544" cy="713232"/>
          </a:xfrm>
          <a:prstGeom prst="rect">
            <a:avLst/>
          </a:prstGeom>
          <a:noFill/>
          <a:ln/>
        </p:spPr>
        <p:txBody>
          <a:bodyPr wrap="square" lIns="0" tIns="0" rIns="0" bIns="0" rtlCol="0" anchor="ctr"/>
          <a:lstStyle/>
          <a:p>
            <a:pPr marL="0" indent="0">
              <a:lnSpc>
                <a:spcPct val="98000"/>
              </a:lnSpc>
              <a:buNone/>
            </a:pPr>
            <a:r>
              <a:rPr lang="en-US" sz="1050">
                <a:solidFill>
                  <a:srgbClr val="21323D"/>
                </a:solidFill>
                <a:latin typeface="Calibri" pitchFamily="34" charset="0"/>
                <a:ea typeface="Calibri" pitchFamily="34" charset="-122"/>
                <a:cs typeface="Calibri" pitchFamily="34" charset="-120"/>
              </a:rPr>
              <a:t>Catches typing mistakes validation cannot spot</a:t>
            </a:r>
            <a:endParaRPr lang="en-US" sz="1050"/>
          </a:p>
        </p:txBody>
      </p:sp>
      <p:sp>
        <p:nvSpPr>
          <p:cNvPr id="21" name="Shape 19"/>
          <p:cNvSpPr/>
          <p:nvPr/>
        </p:nvSpPr>
        <p:spPr>
          <a:xfrm>
            <a:off x="3877056" y="4956048"/>
            <a:ext cx="274320" cy="274320"/>
          </a:xfrm>
          <a:prstGeom prst="ellipse">
            <a:avLst/>
          </a:prstGeom>
          <a:solidFill>
            <a:srgbClr val="159BD2"/>
          </a:solidFill>
          <a:ln/>
        </p:spPr>
        <p:txBody>
          <a:bodyPr/>
          <a:lstStyle/>
          <a:p>
            <a:endParaRPr lang="en-AE"/>
          </a:p>
        </p:txBody>
      </p:sp>
      <p:sp>
        <p:nvSpPr>
          <p:cNvPr id="22" name="Text 20"/>
          <p:cNvSpPr/>
          <p:nvPr/>
        </p:nvSpPr>
        <p:spPr>
          <a:xfrm>
            <a:off x="3877056" y="4956048"/>
            <a:ext cx="274320" cy="2743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23" name="Text 21"/>
          <p:cNvSpPr/>
          <p:nvPr/>
        </p:nvSpPr>
        <p:spPr>
          <a:xfrm>
            <a:off x="4261104" y="4882896"/>
            <a:ext cx="2066544" cy="713232"/>
          </a:xfrm>
          <a:prstGeom prst="rect">
            <a:avLst/>
          </a:prstGeom>
          <a:noFill/>
          <a:ln/>
        </p:spPr>
        <p:txBody>
          <a:bodyPr wrap="square" lIns="0" tIns="0" rIns="0" bIns="0" rtlCol="0" anchor="ctr"/>
          <a:lstStyle/>
          <a:p>
            <a:pPr marL="0" indent="0">
              <a:lnSpc>
                <a:spcPct val="98000"/>
              </a:lnSpc>
              <a:buNone/>
            </a:pPr>
            <a:r>
              <a:rPr lang="en-US" sz="1050">
                <a:solidFill>
                  <a:srgbClr val="21323D"/>
                </a:solidFill>
                <a:latin typeface="Calibri" pitchFamily="34" charset="0"/>
                <a:ea typeface="Calibri" pitchFamily="34" charset="-122"/>
                <a:cs typeface="Calibri" pitchFamily="34" charset="-120"/>
              </a:rPr>
              <a:t>Used with validation for reliable, trustworthy data</a:t>
            </a:r>
            <a:endParaRPr lang="en-US" sz="1050"/>
          </a:p>
        </p:txBody>
      </p:sp>
      <p:sp>
        <p:nvSpPr>
          <p:cNvPr id="24" name="Text 22"/>
          <p:cNvSpPr/>
          <p:nvPr/>
        </p:nvSpPr>
        <p:spPr>
          <a:xfrm>
            <a:off x="3858768" y="5815584"/>
            <a:ext cx="2395728" cy="1005840"/>
          </a:xfrm>
          <a:prstGeom prst="rect">
            <a:avLst/>
          </a:prstGeom>
          <a:noFill/>
          <a:ln/>
        </p:spPr>
        <p:txBody>
          <a:bodyPr wrap="square" lIns="0" tIns="0" rIns="0" bIns="0" rtlCol="0" anchor="ctr"/>
          <a:lstStyle/>
          <a:p>
            <a:pPr marL="0" indent="0">
              <a:lnSpc>
                <a:spcPct val="102000"/>
              </a:lnSpc>
              <a:buNone/>
            </a:pPr>
            <a:r>
              <a:rPr lang="en-US" sz="1000" i="1">
                <a:solidFill>
                  <a:srgbClr val="5A6B76"/>
                </a:solidFill>
                <a:latin typeface="Calibri" pitchFamily="34" charset="0"/>
                <a:ea typeface="Calibri" pitchFamily="34" charset="-122"/>
                <a:cs typeface="Calibri" pitchFamily="34" charset="-120"/>
              </a:rPr>
              <a:t>Together validation and verification keep your Dodgy Dave's records accurate and trustworthy.</a:t>
            </a:r>
            <a:endParaRPr lang="en-US" sz="1000"/>
          </a:p>
        </p:txBody>
      </p:sp>
      <p:sp>
        <p:nvSpPr>
          <p:cNvPr id="25" name="Shape 23"/>
          <p:cNvSpPr/>
          <p:nvPr/>
        </p:nvSpPr>
        <p:spPr>
          <a:xfrm>
            <a:off x="0" y="7699248"/>
            <a:ext cx="6858000" cy="1444752"/>
          </a:xfrm>
          <a:prstGeom prst="rect">
            <a:avLst/>
          </a:prstGeom>
          <a:solidFill>
            <a:srgbClr val="EAF5FB"/>
          </a:solidFill>
          <a:ln/>
        </p:spPr>
        <p:txBody>
          <a:bodyPr/>
          <a:lstStyle/>
          <a:p>
            <a:endParaRPr lang="en-AE"/>
          </a:p>
        </p:txBody>
      </p:sp>
      <p:sp>
        <p:nvSpPr>
          <p:cNvPr id="26" name="Text 24"/>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7" name="Image 0" descr="Objectives"/>
          <p:cNvPicPr>
            <a:picLocks noChangeAspect="1"/>
          </p:cNvPicPr>
          <p:nvPr/>
        </p:nvPicPr>
        <p:blipFill>
          <a:blip r:embed="rId3"/>
          <a:stretch>
            <a:fillRect/>
          </a:stretch>
        </p:blipFill>
        <p:spPr>
          <a:xfrm>
            <a:off x="356616" y="8065008"/>
            <a:ext cx="658368" cy="658368"/>
          </a:xfrm>
          <a:prstGeom prst="rect">
            <a:avLst/>
          </a:prstGeom>
        </p:spPr>
      </p:pic>
      <p:sp>
        <p:nvSpPr>
          <p:cNvPr id="28" name="Text 25"/>
          <p:cNvSpPr/>
          <p:nvPr/>
        </p:nvSpPr>
        <p:spPr>
          <a:xfrm>
            <a:off x="1463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Objectives</a:t>
            </a:r>
            <a:endParaRPr lang="en-US" sz="640"/>
          </a:p>
        </p:txBody>
      </p:sp>
      <p:pic>
        <p:nvPicPr>
          <p:cNvPr id="29" name="Image 1" descr="Success Criteria"/>
          <p:cNvPicPr>
            <a:picLocks noChangeAspect="1"/>
          </p:cNvPicPr>
          <p:nvPr/>
        </p:nvPicPr>
        <p:blipFill>
          <a:blip r:embed="rId4"/>
          <a:stretch>
            <a:fillRect/>
          </a:stretch>
        </p:blipFill>
        <p:spPr>
          <a:xfrm>
            <a:off x="1271016" y="8065008"/>
            <a:ext cx="658368" cy="658368"/>
          </a:xfrm>
          <a:prstGeom prst="rect">
            <a:avLst/>
          </a:prstGeom>
        </p:spPr>
      </p:pic>
      <p:sp>
        <p:nvSpPr>
          <p:cNvPr id="30" name="Text 26"/>
          <p:cNvSpPr/>
          <p:nvPr/>
        </p:nvSpPr>
        <p:spPr>
          <a:xfrm>
            <a:off x="10607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Success Criteria</a:t>
            </a:r>
            <a:endParaRPr lang="en-US" sz="640"/>
          </a:p>
        </p:txBody>
      </p:sp>
      <p:pic>
        <p:nvPicPr>
          <p:cNvPr id="31" name="Image 2" descr="Vocabulary"/>
          <p:cNvPicPr>
            <a:picLocks noChangeAspect="1"/>
          </p:cNvPicPr>
          <p:nvPr/>
        </p:nvPicPr>
        <p:blipFill>
          <a:blip r:embed="rId5"/>
          <a:stretch>
            <a:fillRect/>
          </a:stretch>
        </p:blipFill>
        <p:spPr>
          <a:xfrm>
            <a:off x="2185416" y="8065008"/>
            <a:ext cx="658368" cy="658368"/>
          </a:xfrm>
          <a:prstGeom prst="rect">
            <a:avLst/>
          </a:prstGeom>
        </p:spPr>
      </p:pic>
      <p:sp>
        <p:nvSpPr>
          <p:cNvPr id="32" name="Text 27"/>
          <p:cNvSpPr/>
          <p:nvPr/>
        </p:nvSpPr>
        <p:spPr>
          <a:xfrm>
            <a:off x="19751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Vocabulary</a:t>
            </a:r>
            <a:endParaRPr lang="en-US" sz="640"/>
          </a:p>
        </p:txBody>
      </p:sp>
      <p:pic>
        <p:nvPicPr>
          <p:cNvPr id="33" name="Image 3" descr="National Identity"/>
          <p:cNvPicPr>
            <a:picLocks noChangeAspect="1"/>
          </p:cNvPicPr>
          <p:nvPr/>
        </p:nvPicPr>
        <p:blipFill>
          <a:blip r:embed="rId6"/>
          <a:stretch>
            <a:fillRect/>
          </a:stretch>
        </p:blipFill>
        <p:spPr>
          <a:xfrm>
            <a:off x="3099816" y="8065008"/>
            <a:ext cx="658368" cy="658368"/>
          </a:xfrm>
          <a:prstGeom prst="rect">
            <a:avLst/>
          </a:prstGeom>
        </p:spPr>
      </p:pic>
      <p:sp>
        <p:nvSpPr>
          <p:cNvPr id="34" name="Text 28"/>
          <p:cNvSpPr/>
          <p:nvPr/>
        </p:nvSpPr>
        <p:spPr>
          <a:xfrm>
            <a:off x="28895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National Identity</a:t>
            </a:r>
            <a:endParaRPr lang="en-US" sz="640"/>
          </a:p>
        </p:txBody>
      </p:sp>
      <p:pic>
        <p:nvPicPr>
          <p:cNvPr id="35" name="Image 4" descr="Meta-thinking"/>
          <p:cNvPicPr>
            <a:picLocks noChangeAspect="1"/>
          </p:cNvPicPr>
          <p:nvPr/>
        </p:nvPicPr>
        <p:blipFill>
          <a:blip r:embed="rId7"/>
          <a:stretch>
            <a:fillRect/>
          </a:stretch>
        </p:blipFill>
        <p:spPr>
          <a:xfrm>
            <a:off x="3983896" y="8065008"/>
            <a:ext cx="719007" cy="658368"/>
          </a:xfrm>
          <a:prstGeom prst="rect">
            <a:avLst/>
          </a:prstGeom>
        </p:spPr>
      </p:pic>
      <p:sp>
        <p:nvSpPr>
          <p:cNvPr id="36" name="Text 29"/>
          <p:cNvSpPr/>
          <p:nvPr/>
        </p:nvSpPr>
        <p:spPr>
          <a:xfrm>
            <a:off x="38039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6E7A86"/>
                </a:solidFill>
                <a:latin typeface="Calibri" pitchFamily="34" charset="0"/>
                <a:ea typeface="Calibri" pitchFamily="34" charset="-122"/>
                <a:cs typeface="Calibri" pitchFamily="34" charset="-120"/>
              </a:rPr>
              <a:t>Meta-thinking</a:t>
            </a:r>
            <a:endParaRPr lang="en-US" sz="640"/>
          </a:p>
        </p:txBody>
      </p:sp>
      <p:pic>
        <p:nvPicPr>
          <p:cNvPr id="37" name="Image 5" descr="Linking"/>
          <p:cNvPicPr>
            <a:picLocks noChangeAspect="1"/>
          </p:cNvPicPr>
          <p:nvPr/>
        </p:nvPicPr>
        <p:blipFill>
          <a:blip r:embed="rId8"/>
          <a:stretch>
            <a:fillRect/>
          </a:stretch>
        </p:blipFill>
        <p:spPr>
          <a:xfrm>
            <a:off x="4822115" y="8065008"/>
            <a:ext cx="871369" cy="658368"/>
          </a:xfrm>
          <a:prstGeom prst="rect">
            <a:avLst/>
          </a:prstGeom>
        </p:spPr>
      </p:pic>
      <p:sp>
        <p:nvSpPr>
          <p:cNvPr id="38" name="Text 30"/>
          <p:cNvSpPr/>
          <p:nvPr/>
        </p:nvSpPr>
        <p:spPr>
          <a:xfrm>
            <a:off x="47183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6E7A86"/>
                </a:solidFill>
                <a:latin typeface="Calibri" pitchFamily="34" charset="0"/>
                <a:ea typeface="Calibri" pitchFamily="34" charset="-122"/>
                <a:cs typeface="Calibri" pitchFamily="34" charset="-120"/>
              </a:rPr>
              <a:t>Linking</a:t>
            </a:r>
            <a:endParaRPr lang="en-US" sz="640"/>
          </a:p>
        </p:txBody>
      </p:sp>
      <p:pic>
        <p:nvPicPr>
          <p:cNvPr id="39" name="Image 6" descr="AI Concepts"/>
          <p:cNvPicPr>
            <a:picLocks noChangeAspect="1"/>
          </p:cNvPicPr>
          <p:nvPr/>
        </p:nvPicPr>
        <p:blipFill>
          <a:blip r:embed="rId9"/>
          <a:stretch>
            <a:fillRect/>
          </a:stretch>
        </p:blipFill>
        <p:spPr>
          <a:xfrm>
            <a:off x="5842372" y="8065008"/>
            <a:ext cx="659656" cy="658368"/>
          </a:xfrm>
          <a:prstGeom prst="rect">
            <a:avLst/>
          </a:prstGeom>
        </p:spPr>
      </p:pic>
      <p:sp>
        <p:nvSpPr>
          <p:cNvPr id="40" name="Text 31"/>
          <p:cNvSpPr/>
          <p:nvPr/>
        </p:nvSpPr>
        <p:spPr>
          <a:xfrm>
            <a:off x="5632704" y="8750808"/>
            <a:ext cx="1078992" cy="384048"/>
          </a:xfrm>
          <a:prstGeom prst="rect">
            <a:avLst/>
          </a:prstGeom>
          <a:noFill/>
          <a:ln/>
        </p:spPr>
        <p:txBody>
          <a:bodyPr wrap="square" lIns="0" tIns="0" rIns="0" bIns="0" rtlCol="0" anchor="t"/>
          <a:lstStyle/>
          <a:p>
            <a:pPr marL="0" indent="0" algn="ctr">
              <a:lnSpc>
                <a:spcPct val="88000"/>
              </a:lnSpc>
              <a:buNone/>
            </a:pPr>
            <a:r>
              <a:rPr lang="en-US" sz="640" b="1">
                <a:solidFill>
                  <a:srgbClr val="1C4E70"/>
                </a:solidFill>
                <a:latin typeface="Calibri" pitchFamily="34" charset="0"/>
                <a:ea typeface="Calibri" pitchFamily="34" charset="-122"/>
                <a:cs typeface="Calibri" pitchFamily="34" charset="-120"/>
              </a:rPr>
              <a:t>AI Concepts</a:t>
            </a:r>
            <a:endParaRPr lang="en-US" sz="64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3">
    <p:bg>
      <p:bgPr>
        <a:solidFill>
          <a:srgbClr val="10324B"/>
        </a:solidFill>
        <a:effectLst/>
      </p:bgPr>
    </p:bg>
    <p:spTree>
      <p:nvGrpSpPr>
        <p:cNvPr id="1" name=""/>
        <p:cNvGrpSpPr/>
        <p:nvPr/>
      </p:nvGrpSpPr>
      <p:grpSpPr>
        <a:xfrm>
          <a:off x="0" y="0"/>
          <a:ext cx="0" cy="0"/>
          <a:chOff x="0" y="0"/>
          <a:chExt cx="0" cy="0"/>
        </a:xfrm>
      </p:grpSpPr>
      <p:sp>
        <p:nvSpPr>
          <p:cNvPr id="2" name="Shape 0"/>
          <p:cNvSpPr/>
          <p:nvPr/>
        </p:nvSpPr>
        <p:spPr>
          <a:xfrm>
            <a:off x="0" y="3063240"/>
            <a:ext cx="6858000" cy="32004"/>
          </a:xfrm>
          <a:prstGeom prst="rect">
            <a:avLst/>
          </a:prstGeom>
          <a:solidFill>
            <a:srgbClr val="159BD2"/>
          </a:solidFill>
          <a:ln/>
        </p:spPr>
        <p:txBody>
          <a:bodyPr/>
          <a:lstStyle/>
          <a:p>
            <a:endParaRPr lang="en-AE"/>
          </a:p>
        </p:txBody>
      </p:sp>
      <p:sp>
        <p:nvSpPr>
          <p:cNvPr id="3" name="Text 1"/>
          <p:cNvSpPr/>
          <p:nvPr/>
        </p:nvSpPr>
        <p:spPr>
          <a:xfrm>
            <a:off x="548640" y="100584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MODULE 3 · STRUCTURING DATA</a:t>
            </a:r>
            <a:endParaRPr lang="en-US" sz="1200" dirty="0"/>
          </a:p>
        </p:txBody>
      </p:sp>
      <p:sp>
        <p:nvSpPr>
          <p:cNvPr id="4" name="Text 2"/>
          <p:cNvSpPr/>
          <p:nvPr/>
        </p:nvSpPr>
        <p:spPr>
          <a:xfrm>
            <a:off x="457200" y="1371600"/>
            <a:ext cx="5943600" cy="1371600"/>
          </a:xfrm>
          <a:prstGeom prst="rect">
            <a:avLst/>
          </a:prstGeom>
          <a:noFill/>
          <a:ln/>
        </p:spPr>
        <p:txBody>
          <a:bodyPr wrap="square" lIns="0" tIns="0" rIns="0" bIns="0" rtlCol="0" anchor="ctr"/>
          <a:lstStyle/>
          <a:p>
            <a:pPr marL="0" indent="0" algn="ctr">
              <a:lnSpc>
                <a:spcPct val="95000"/>
              </a:lnSpc>
              <a:buNone/>
            </a:pPr>
            <a:r>
              <a:rPr lang="en-US" sz="3800" b="1">
                <a:solidFill>
                  <a:srgbClr val="FFFFFF"/>
                </a:solidFill>
                <a:latin typeface="Georgia" pitchFamily="34" charset="0"/>
                <a:ea typeface="Georgia" pitchFamily="34" charset="-122"/>
                <a:cs typeface="Georgia" pitchFamily="34" charset="-120"/>
              </a:rPr>
              <a:t>Building</a:t>
            </a:r>
            <a:endParaRPr lang="en-US" sz="3800" dirty="0"/>
          </a:p>
          <a:p>
            <a:pPr marL="0" indent="0" algn="ctr">
              <a:lnSpc>
                <a:spcPct val="95000"/>
              </a:lnSpc>
              <a:buNone/>
            </a:pPr>
            <a:r>
              <a:rPr lang="en-US" sz="3800" b="1">
                <a:solidFill>
                  <a:srgbClr val="FFFFFF"/>
                </a:solidFill>
                <a:latin typeface="Georgia" pitchFamily="34" charset="0"/>
                <a:ea typeface="Georgia" pitchFamily="34" charset="-122"/>
                <a:cs typeface="Georgia" pitchFamily="34" charset="-120"/>
              </a:rPr>
              <a:t>Tables</a:t>
            </a:r>
            <a:endParaRPr lang="en-US" sz="3800" dirty="0"/>
          </a:p>
        </p:txBody>
      </p:sp>
      <p:sp>
        <p:nvSpPr>
          <p:cNvPr id="5" name="Text 3"/>
          <p:cNvSpPr/>
          <p:nvPr/>
        </p:nvSpPr>
        <p:spPr>
          <a:xfrm>
            <a:off x="822960" y="3291840"/>
            <a:ext cx="5212080" cy="457200"/>
          </a:xfrm>
          <a:prstGeom prst="rect">
            <a:avLst/>
          </a:prstGeom>
          <a:noFill/>
          <a:ln/>
        </p:spPr>
        <p:txBody>
          <a:bodyPr wrap="square" lIns="0" tIns="0" rIns="0" bIns="0" rtlCol="0" anchor="ctr"/>
          <a:lstStyle/>
          <a:p>
            <a:pPr marL="0" indent="0" algn="ctr">
              <a:buNone/>
            </a:pPr>
            <a:r>
              <a:rPr lang="en-US" sz="1600" i="1">
                <a:solidFill>
                  <a:srgbClr val="CFE9F5"/>
                </a:solidFill>
                <a:latin typeface="Georgia" pitchFamily="34" charset="0"/>
                <a:ea typeface="Georgia" pitchFamily="34" charset="-122"/>
                <a:cs typeface="Georgia" pitchFamily="34" charset="-120"/>
              </a:rPr>
              <a:t>Organising information in fields and records</a:t>
            </a:r>
            <a:endParaRPr lang="en-US" sz="1600" dirty="0"/>
          </a:p>
        </p:txBody>
      </p:sp>
      <p:sp>
        <p:nvSpPr>
          <p:cNvPr id="6" name="Text 4"/>
          <p:cNvSpPr/>
          <p:nvPr/>
        </p:nvSpPr>
        <p:spPr>
          <a:xfrm>
            <a:off x="822960" y="3794760"/>
            <a:ext cx="5212080" cy="54864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From a single flat table to a structured design with keys, data types and indexes</a:t>
            </a:r>
            <a:r>
              <a:rPr lang="en-US" sz="1250" i="1" dirty="0">
                <a:solidFill>
                  <a:srgbClr val="D8ECF5"/>
                </a:solidFill>
                <a:latin typeface="Calibri" pitchFamily="34" charset="0"/>
                <a:ea typeface="Calibri" pitchFamily="34" charset="-122"/>
                <a:cs typeface="Calibri" pitchFamily="34" charset="-120"/>
              </a:rPr>
              <a:t>.</a:t>
            </a:r>
            <a:endParaRPr lang="en-US" sz="1250" dirty="0"/>
          </a:p>
        </p:txBody>
      </p:sp>
      <p:sp>
        <p:nvSpPr>
          <p:cNvPr id="7" name="Shape 5"/>
          <p:cNvSpPr/>
          <p:nvPr/>
        </p:nvSpPr>
        <p:spPr>
          <a:xfrm>
            <a:off x="200000" y="4709160"/>
            <a:ext cx="1000000" cy="1100000"/>
          </a:xfrm>
          <a:prstGeom prst="roundRect">
            <a:avLst>
              <a:gd name="adj" fmla="val 4286"/>
            </a:avLst>
          </a:prstGeom>
          <a:solidFill>
            <a:srgbClr val="FFFFFF"/>
          </a:solidFill>
          <a:ln/>
        </p:spPr>
        <p:txBody>
          <a:bodyPr/>
          <a:lstStyle/>
          <a:p>
            <a:endParaRPr lang="en-AE"/>
          </a:p>
        </p:txBody>
      </p:sp>
      <p:pic>
        <p:nvPicPr>
          <p:cNvPr id="8" name="Image 0" descr="Data table icon"/>
          <p:cNvPicPr>
            <a:picLocks noChangeAspect="1"/>
          </p:cNvPicPr>
          <p:nvPr/>
        </p:nvPicPr>
        <p:blipFill>
          <a:blip r:embed="rId3"/>
          <a:stretch>
            <a:fillRect/>
          </a:stretch>
        </p:blipFill>
        <p:spPr>
          <a:xfrm>
            <a:off x="311754" y="4956514"/>
            <a:ext cx="776492" cy="605291"/>
          </a:xfrm>
          <a:prstGeom prst="rect">
            <a:avLst/>
          </a:prstGeom>
        </p:spPr>
      </p:pic>
      <p:sp>
        <p:nvSpPr>
          <p:cNvPr id="9" name="Text 6"/>
          <p:cNvSpPr/>
          <p:nvPr/>
        </p:nvSpPr>
        <p:spPr>
          <a:xfrm>
            <a:off x="1542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Table</a:t>
            </a:r>
            <a:endParaRPr lang="en-US" sz="900" dirty="0"/>
          </a:p>
        </p:txBody>
      </p:sp>
      <p:sp>
        <p:nvSpPr>
          <p:cNvPr id="10" name="Shape 7"/>
          <p:cNvSpPr/>
          <p:nvPr/>
        </p:nvSpPr>
        <p:spPr>
          <a:xfrm>
            <a:off x="1291600" y="4709160"/>
            <a:ext cx="1000000" cy="1100000"/>
          </a:xfrm>
          <a:prstGeom prst="roundRect">
            <a:avLst>
              <a:gd name="adj" fmla="val 4286"/>
            </a:avLst>
          </a:prstGeom>
          <a:solidFill>
            <a:srgbClr val="FFFFFF"/>
          </a:solidFill>
          <a:ln/>
        </p:spPr>
        <p:txBody>
          <a:bodyPr/>
          <a:lstStyle/>
          <a:p>
            <a:endParaRPr lang="en-AE"/>
          </a:p>
        </p:txBody>
      </p:sp>
      <p:pic>
        <p:nvPicPr>
          <p:cNvPr id="11" name="Image 1" descr="Table record icon"/>
          <p:cNvPicPr>
            <a:picLocks noChangeAspect="1"/>
          </p:cNvPicPr>
          <p:nvPr/>
        </p:nvPicPr>
        <p:blipFill>
          <a:blip r:embed="rId4"/>
          <a:stretch>
            <a:fillRect/>
          </a:stretch>
        </p:blipFill>
        <p:spPr>
          <a:xfrm>
            <a:off x="1351600" y="4827676"/>
            <a:ext cx="880000" cy="862967"/>
          </a:xfrm>
          <a:prstGeom prst="rect">
            <a:avLst/>
          </a:prstGeom>
        </p:spPr>
      </p:pic>
      <p:sp>
        <p:nvSpPr>
          <p:cNvPr id="12" name="Text 8"/>
          <p:cNvSpPr/>
          <p:nvPr/>
        </p:nvSpPr>
        <p:spPr>
          <a:xfrm>
            <a:off x="12458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Field</a:t>
            </a:r>
            <a:endParaRPr lang="en-US" sz="900" dirty="0"/>
          </a:p>
        </p:txBody>
      </p:sp>
      <p:sp>
        <p:nvSpPr>
          <p:cNvPr id="13" name="Shape 9"/>
          <p:cNvSpPr/>
          <p:nvPr/>
        </p:nvSpPr>
        <p:spPr>
          <a:xfrm>
            <a:off x="2383200" y="4709160"/>
            <a:ext cx="1000000" cy="1100000"/>
          </a:xfrm>
          <a:prstGeom prst="roundRect">
            <a:avLst>
              <a:gd name="adj" fmla="val 4286"/>
            </a:avLst>
          </a:prstGeom>
          <a:solidFill>
            <a:srgbClr val="FFFFFF"/>
          </a:solidFill>
          <a:ln/>
        </p:spPr>
        <p:txBody>
          <a:bodyPr/>
          <a:lstStyle/>
          <a:p>
            <a:endParaRPr lang="en-AE"/>
          </a:p>
        </p:txBody>
      </p:sp>
      <p:pic>
        <p:nvPicPr>
          <p:cNvPr id="14" name="Image 2" descr="Table field icon"/>
          <p:cNvPicPr>
            <a:picLocks noChangeAspect="1"/>
          </p:cNvPicPr>
          <p:nvPr/>
        </p:nvPicPr>
        <p:blipFill>
          <a:blip r:embed="rId5"/>
          <a:stretch>
            <a:fillRect/>
          </a:stretch>
        </p:blipFill>
        <p:spPr>
          <a:xfrm>
            <a:off x="2443200" y="4819160"/>
            <a:ext cx="880000" cy="880000"/>
          </a:xfrm>
          <a:prstGeom prst="rect">
            <a:avLst/>
          </a:prstGeom>
        </p:spPr>
      </p:pic>
      <p:sp>
        <p:nvSpPr>
          <p:cNvPr id="15" name="Text 10"/>
          <p:cNvSpPr/>
          <p:nvPr/>
        </p:nvSpPr>
        <p:spPr>
          <a:xfrm>
            <a:off x="23374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Record</a:t>
            </a:r>
            <a:endParaRPr lang="en-US" sz="900" dirty="0"/>
          </a:p>
        </p:txBody>
      </p:sp>
      <p:sp>
        <p:nvSpPr>
          <p:cNvPr id="16" name="Shape 11"/>
          <p:cNvSpPr/>
          <p:nvPr/>
        </p:nvSpPr>
        <p:spPr>
          <a:xfrm>
            <a:off x="3474800" y="4709160"/>
            <a:ext cx="1000000" cy="1100000"/>
          </a:xfrm>
          <a:prstGeom prst="roundRect">
            <a:avLst>
              <a:gd name="adj" fmla="val 4286"/>
            </a:avLst>
          </a:prstGeom>
          <a:solidFill>
            <a:srgbClr val="FFFFFF"/>
          </a:solidFill>
          <a:ln/>
        </p:spPr>
        <p:txBody>
          <a:bodyPr/>
          <a:lstStyle/>
          <a:p>
            <a:endParaRPr lang="en-AE"/>
          </a:p>
        </p:txBody>
      </p:sp>
      <p:pic>
        <p:nvPicPr>
          <p:cNvPr id="17" name="Image 3" descr="Table header icon"/>
          <p:cNvPicPr>
            <a:picLocks noChangeAspect="1"/>
          </p:cNvPicPr>
          <p:nvPr/>
        </p:nvPicPr>
        <p:blipFill>
          <a:blip r:embed="rId3"/>
          <a:stretch>
            <a:fillRect/>
          </a:stretch>
        </p:blipFill>
        <p:spPr>
          <a:xfrm>
            <a:off x="3534800" y="4916171"/>
            <a:ext cx="880000" cy="685977"/>
          </a:xfrm>
          <a:prstGeom prst="rect">
            <a:avLst/>
          </a:prstGeom>
        </p:spPr>
      </p:pic>
      <p:sp>
        <p:nvSpPr>
          <p:cNvPr id="18" name="Text 12"/>
          <p:cNvSpPr/>
          <p:nvPr/>
        </p:nvSpPr>
        <p:spPr>
          <a:xfrm>
            <a:off x="34290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Key</a:t>
            </a:r>
            <a:endParaRPr lang="en-US" sz="900" dirty="0"/>
          </a:p>
        </p:txBody>
      </p:sp>
      <p:sp>
        <p:nvSpPr>
          <p:cNvPr id="21" name="Shape Rifle"/>
          <p:cNvSpPr/>
          <p:nvPr/>
        </p:nvSpPr>
        <p:spPr>
          <a:xfrm>
            <a:off x="4566400" y="4709160"/>
            <a:ext cx="1000000" cy="1100000"/>
          </a:xfrm>
          <a:prstGeom prst="roundRect">
            <a:avLst>
              <a:gd name="adj" fmla="val 4286"/>
            </a:avLst>
          </a:prstGeom>
          <a:solidFill>
            <a:srgbClr val="FFFFFF"/>
          </a:solidFill>
          <a:ln/>
        </p:spPr>
        <p:txBody>
          <a:bodyPr/>
          <a:lstStyle/>
          <a:p>
            <a:endParaRPr lang="en-AE"/>
          </a:p>
        </p:txBody>
      </p:sp>
      <p:pic>
        <p:nvPicPr>
          <p:cNvPr id="22" name="Image Rifle" descr="Table data icon"/>
          <p:cNvPicPr>
            <a:picLocks noChangeAspect="1"/>
          </p:cNvPicPr>
          <p:nvPr/>
        </p:nvPicPr>
        <p:blipFill>
          <a:blip r:embed="rId4"/>
          <a:stretch>
            <a:fillRect/>
          </a:stretch>
        </p:blipFill>
        <p:spPr>
          <a:xfrm>
            <a:off x="4626400" y="4827676"/>
            <a:ext cx="880000" cy="862967"/>
          </a:xfrm>
          <a:prstGeom prst="rect">
            <a:avLst/>
          </a:prstGeom>
        </p:spPr>
      </p:pic>
      <p:sp>
        <p:nvSpPr>
          <p:cNvPr id="23" name="Label Rifle"/>
          <p:cNvSpPr/>
          <p:nvPr/>
        </p:nvSpPr>
        <p:spPr>
          <a:xfrm>
            <a:off x="45206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Type</a:t>
            </a:r>
            <a:endParaRPr lang="en-US" sz="900"/>
          </a:p>
        </p:txBody>
      </p:sp>
      <p:sp>
        <p:nvSpPr>
          <p:cNvPr id="24" name="Shape Grenade"/>
          <p:cNvSpPr/>
          <p:nvPr/>
        </p:nvSpPr>
        <p:spPr>
          <a:xfrm>
            <a:off x="5658000" y="4709160"/>
            <a:ext cx="1000000" cy="1100000"/>
          </a:xfrm>
          <a:prstGeom prst="roundRect">
            <a:avLst>
              <a:gd name="adj" fmla="val 4286"/>
            </a:avLst>
          </a:prstGeom>
          <a:solidFill>
            <a:srgbClr val="FFFFFF"/>
          </a:solidFill>
          <a:ln/>
        </p:spPr>
        <p:txBody>
          <a:bodyPr/>
          <a:lstStyle/>
          <a:p>
            <a:endParaRPr lang="en-AE"/>
          </a:p>
        </p:txBody>
      </p:sp>
      <p:pic>
        <p:nvPicPr>
          <p:cNvPr id="25" name="Image Grenade" descr="Table summary icon"/>
          <p:cNvPicPr>
            <a:picLocks noChangeAspect="1"/>
          </p:cNvPicPr>
          <p:nvPr/>
        </p:nvPicPr>
        <p:blipFill>
          <a:blip r:embed="rId5"/>
          <a:stretch>
            <a:fillRect/>
          </a:stretch>
        </p:blipFill>
        <p:spPr>
          <a:xfrm>
            <a:off x="5868375" y="4970374"/>
            <a:ext cx="579249" cy="577571"/>
          </a:xfrm>
          <a:prstGeom prst="rect">
            <a:avLst/>
          </a:prstGeom>
        </p:spPr>
      </p:pic>
      <p:sp>
        <p:nvSpPr>
          <p:cNvPr id="26" name="Label Grenade"/>
          <p:cNvSpPr/>
          <p:nvPr/>
        </p:nvSpPr>
        <p:spPr>
          <a:xfrm>
            <a:off x="5612200" y="5840000"/>
            <a:ext cx="1091600" cy="400000"/>
          </a:xfrm>
          <a:prstGeom prst="rect">
            <a:avLst/>
          </a:prstGeom>
          <a:noFill/>
          <a:ln/>
        </p:spPr>
        <p:txBody>
          <a:bodyPr wrap="square" lIns="0" tIns="0" rIns="0" bIns="0" rtlCol="0" anchor="ctr"/>
          <a:lstStyle/>
          <a:p>
            <a:pPr marL="0" indent="0" algn="ctr">
              <a:lnSpc>
                <a:spcPct val="90000"/>
              </a:lnSpc>
              <a:buNone/>
            </a:pPr>
            <a:r>
              <a:rPr lang="en-US" sz="900" b="1">
                <a:solidFill>
                  <a:srgbClr val="BFE6F6"/>
                </a:solidFill>
                <a:latin typeface="Calibri" pitchFamily="34" charset="0"/>
                <a:ea typeface="Calibri" pitchFamily="34" charset="-122"/>
                <a:cs typeface="Calibri" pitchFamily="34" charset="-120"/>
              </a:rPr>
              <a:t>Index</a:t>
            </a:r>
            <a:endParaRPr lang="en-US" sz="900"/>
          </a:p>
        </p:txBody>
      </p:sp>
      <p:sp>
        <p:nvSpPr>
          <p:cNvPr id="20" name="Text 14">
            <a:hlinkClick r:id="rId6"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dirty="0">
                <a:solidFill>
                  <a:srgbClr val="7FC7E6"/>
                </a:solidFill>
                <a:latin typeface="Calibri" pitchFamily="34" charset="0"/>
                <a:ea typeface="Calibri" pitchFamily="34" charset="-122"/>
                <a:cs typeface="Calibri" pitchFamily="34" charset="-120"/>
                <a:hlinkClick r:id="rId6" action="ppaction://hlinksldjump" tooltip="Back to roadmap">
                  <a:extLst>
                    <a:ext uri="{A12FA001-AC4F-418D-AE19-62706E023703}">
                      <ahyp:hlinkClr xmlns:ahyp="http://schemas.microsoft.com/office/drawing/2018/hyperlinkcolor" val="tx"/>
                    </a:ext>
                  </a:extLst>
                </a:hlinkClick>
              </a:rPr>
              <a:t>◂ Roadmap</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How to Analyse a Source">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Eyebrow"/>
          <p:cNvSpPr/>
          <p:nvPr/>
        </p:nvSpPr>
        <p:spPr>
          <a:xfrm>
            <a:off x="457200" y="420624"/>
            <a:ext cx="42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3 · STEP BY STEP</a:t>
            </a:r>
            <a:endParaRPr lang="en-US" sz="1100"/>
          </a:p>
        </p:txBody>
      </p:sp>
      <p:sp>
        <p:nvSpPr>
          <p:cNvPr id="4" name="Pill BG"/>
          <p:cNvSpPr/>
          <p:nvPr/>
        </p:nvSpPr>
        <p:spPr>
          <a:xfrm>
            <a:off x="4900000" y="384048"/>
            <a:ext cx="150080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Skills Toolkit</a:t>
            </a:r>
            <a:endParaRPr lang="en-US" sz="1100"/>
          </a:p>
        </p:txBody>
      </p:sp>
      <p:sp>
        <p:nvSpPr>
          <p:cNvPr id="5" name="Title"/>
          <p:cNvSpPr/>
          <p:nvPr/>
        </p:nvSpPr>
        <p:spPr>
          <a:xfrm>
            <a:off x="457200" y="792555"/>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Building a Table, Step by Step</a:t>
            </a:r>
            <a:endParaRPr lang="en-US" sz="2500"/>
          </a:p>
        </p:txBody>
      </p:sp>
      <p:sp>
        <p:nvSpPr>
          <p:cNvPr id="6" name="Intro"/>
          <p:cNvSpPr/>
          <p:nvPr/>
        </p:nvSpPr>
        <p:spPr>
          <a:xfrm>
            <a:off x="457200" y="1420000"/>
            <a:ext cx="5943600" cy="470000"/>
          </a:xfrm>
          <a:prstGeom prst="rect">
            <a:avLst/>
          </a:prstGeom>
          <a:noFill/>
          <a:ln/>
        </p:spPr>
        <p:txBody>
          <a:bodyPr wrap="square" lIns="0" tIns="0" rIns="0" bIns="0" rtlCol="0" anchor="t"/>
          <a:lstStyle/>
          <a:p>
            <a:pPr marL="0" indent="0">
              <a:lnSpc>
                <a:spcPct val="104000"/>
              </a:lnSpc>
              <a:buNone/>
            </a:pPr>
            <a:r>
              <a:rPr lang="en-US" sz="1150">
                <a:solidFill>
                  <a:srgbClr val="21323D"/>
                </a:solidFill>
                <a:latin typeface="Calibri" pitchFamily="34" charset="0"/>
                <a:ea typeface="Calibri" pitchFamily="34" charset="-122"/>
                <a:cs typeface="Calibri" pitchFamily="34" charset="-120"/>
              </a:rPr>
              <a:t>Follow these four steps in order and any Access table becomes easy to build.</a:t>
            </a:r>
            <a:endParaRPr lang="en-US" sz="1150"/>
          </a:p>
        </p:txBody>
      </p:sp>
      <p:sp>
        <p:nvSpPr>
          <p:cNvPr id="20" name="Card 1 BG"/>
          <p:cNvSpPr/>
          <p:nvPr/>
        </p:nvSpPr>
        <p:spPr>
          <a:xfrm>
            <a:off x="457200" y="1980000"/>
            <a:ext cx="5943600" cy="133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1 Accent"/>
          <p:cNvSpPr/>
          <p:nvPr/>
        </p:nvSpPr>
        <p:spPr>
          <a:xfrm>
            <a:off x="457200" y="1980000"/>
            <a:ext cx="100584" cy="1330000"/>
          </a:xfrm>
          <a:prstGeom prst="rect">
            <a:avLst/>
          </a:prstGeom>
          <a:solidFill>
            <a:srgbClr val="159BD2"/>
          </a:solidFill>
          <a:ln/>
        </p:spPr>
        <p:txBody>
          <a:bodyPr/>
          <a:lstStyle/>
          <a:p>
            <a:endParaRPr lang="en-AE"/>
          </a:p>
        </p:txBody>
      </p:sp>
      <p:sp>
        <p:nvSpPr>
          <p:cNvPr id="22" name="Card 1 Text"/>
          <p:cNvSpPr/>
          <p:nvPr/>
        </p:nvSpPr>
        <p:spPr>
          <a:xfrm>
            <a:off x="700000" y="2130000"/>
            <a:ext cx="5450000" cy="1050000"/>
          </a:xfrm>
          <a:prstGeom prst="rect">
            <a:avLst/>
          </a:prstGeom>
          <a:noFill/>
          <a:ln/>
        </p:spPr>
        <p:txBody>
          <a:bodyPr wrap="square" lIns="0" tIns="0" rIns="0" bIns="0" rtlCol="0" anchor="t"/>
          <a:lstStyle/>
          <a:p>
            <a:pPr marL="0" indent="0">
              <a:buNone/>
            </a:pPr>
            <a:r>
              <a:rPr lang="en-US" sz="1300" b="1">
                <a:solidFill>
                  <a:srgbClr val="0F7BA8"/>
                </a:solidFill>
                <a:latin typeface="Georgia" pitchFamily="34" charset="0"/>
                <a:ea typeface="Georgia" pitchFamily="34" charset="-122"/>
                <a:cs typeface="Georgia" pitchFamily="34" charset="-120"/>
              </a:rPr>
              <a:t>1 · CREATE THE TABLE</a:t>
            </a:r>
          </a:p>
          <a:p>
            <a:pPr marL="0" indent="0">
              <a:spcBef>
                <a:spcPts val="400"/>
              </a:spcBef>
              <a:buNone/>
            </a:pPr>
            <a:r>
              <a:rPr lang="en-US" sz="1100">
                <a:solidFill>
                  <a:srgbClr val="21323D"/>
                </a:solidFill>
                <a:latin typeface="Calibri" pitchFamily="34" charset="0"/>
                <a:ea typeface="Calibri" pitchFamily="34" charset="-122"/>
                <a:cs typeface="Calibri" pitchFamily="34" charset="-120"/>
              </a:rPr>
              <a:t>In Design View, create a new table and give it a clear name such as tblCars.</a:t>
            </a:r>
          </a:p>
        </p:txBody>
      </p:sp>
      <p:sp>
        <p:nvSpPr>
          <p:cNvPr id="30" name="Card 2 BG"/>
          <p:cNvSpPr/>
          <p:nvPr/>
        </p:nvSpPr>
        <p:spPr>
          <a:xfrm>
            <a:off x="457200" y="3420000"/>
            <a:ext cx="5943600" cy="133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2 Accent"/>
          <p:cNvSpPr/>
          <p:nvPr/>
        </p:nvSpPr>
        <p:spPr>
          <a:xfrm>
            <a:off x="457200" y="3420000"/>
            <a:ext cx="100584" cy="1330000"/>
          </a:xfrm>
          <a:prstGeom prst="rect">
            <a:avLst/>
          </a:prstGeom>
          <a:solidFill>
            <a:srgbClr val="0F7BA8"/>
          </a:solidFill>
          <a:ln/>
        </p:spPr>
        <p:txBody>
          <a:bodyPr/>
          <a:lstStyle/>
          <a:p>
            <a:endParaRPr lang="en-AE"/>
          </a:p>
        </p:txBody>
      </p:sp>
      <p:sp>
        <p:nvSpPr>
          <p:cNvPr id="32" name="Card 2 Text"/>
          <p:cNvSpPr/>
          <p:nvPr/>
        </p:nvSpPr>
        <p:spPr>
          <a:xfrm>
            <a:off x="700000" y="3570000"/>
            <a:ext cx="5450000" cy="1050000"/>
          </a:xfrm>
          <a:prstGeom prst="rect">
            <a:avLst/>
          </a:prstGeom>
          <a:noFill/>
          <a:ln/>
        </p:spPr>
        <p:txBody>
          <a:bodyPr wrap="square" lIns="0" tIns="0" rIns="0" bIns="0" rtlCol="0" anchor="t"/>
          <a:lstStyle/>
          <a:p>
            <a:pPr marL="0" indent="0">
              <a:buNone/>
            </a:pPr>
            <a:r>
              <a:rPr lang="en-US" sz="1300" b="1">
                <a:solidFill>
                  <a:srgbClr val="0F7BA8"/>
                </a:solidFill>
                <a:latin typeface="Georgia" pitchFamily="34" charset="0"/>
                <a:ea typeface="Georgia" pitchFamily="34" charset="-122"/>
                <a:cs typeface="Georgia" pitchFamily="34" charset="-120"/>
              </a:rPr>
              <a:t>2 · ADD THE FIELDS</a:t>
            </a:r>
          </a:p>
          <a:p>
            <a:pPr marL="0" indent="0">
              <a:spcBef>
                <a:spcPts val="400"/>
              </a:spcBef>
              <a:buNone/>
            </a:pPr>
            <a:r>
              <a:rPr lang="en-US" sz="1100">
                <a:solidFill>
                  <a:srgbClr val="21323D"/>
                </a:solidFill>
                <a:latin typeface="Calibri" pitchFamily="34" charset="0"/>
                <a:ea typeface="Calibri" pitchFamily="34" charset="-122"/>
                <a:cs typeface="Calibri" pitchFamily="34" charset="-120"/>
              </a:rPr>
              <a:t>Type each field name into its own row, e.g. CarID, Make, Model, Year and Price.</a:t>
            </a:r>
          </a:p>
        </p:txBody>
      </p:sp>
      <p:sp>
        <p:nvSpPr>
          <p:cNvPr id="40" name="Card 3 BG"/>
          <p:cNvSpPr/>
          <p:nvPr/>
        </p:nvSpPr>
        <p:spPr>
          <a:xfrm>
            <a:off x="457200" y="4860000"/>
            <a:ext cx="5943600" cy="133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3 Accent"/>
          <p:cNvSpPr/>
          <p:nvPr/>
        </p:nvSpPr>
        <p:spPr>
          <a:xfrm>
            <a:off x="457200" y="4860000"/>
            <a:ext cx="100584" cy="1330000"/>
          </a:xfrm>
          <a:prstGeom prst="rect">
            <a:avLst/>
          </a:prstGeom>
          <a:solidFill>
            <a:srgbClr val="B8862B"/>
          </a:solidFill>
          <a:ln/>
        </p:spPr>
        <p:txBody>
          <a:bodyPr/>
          <a:lstStyle/>
          <a:p>
            <a:endParaRPr lang="en-AE"/>
          </a:p>
        </p:txBody>
      </p:sp>
      <p:sp>
        <p:nvSpPr>
          <p:cNvPr id="42" name="Card 3 Text"/>
          <p:cNvSpPr/>
          <p:nvPr/>
        </p:nvSpPr>
        <p:spPr>
          <a:xfrm>
            <a:off x="700000" y="5010000"/>
            <a:ext cx="5450000" cy="1050000"/>
          </a:xfrm>
          <a:prstGeom prst="rect">
            <a:avLst/>
          </a:prstGeom>
          <a:noFill/>
          <a:ln/>
        </p:spPr>
        <p:txBody>
          <a:bodyPr wrap="square" lIns="0" tIns="0" rIns="0" bIns="0" rtlCol="0" anchor="t"/>
          <a:lstStyle/>
          <a:p>
            <a:pPr marL="0" indent="0">
              <a:buNone/>
            </a:pPr>
            <a:r>
              <a:rPr lang="en-US" sz="1300" b="1">
                <a:solidFill>
                  <a:srgbClr val="0F7BA8"/>
                </a:solidFill>
                <a:latin typeface="Georgia" pitchFamily="34" charset="0"/>
                <a:ea typeface="Georgia" pitchFamily="34" charset="-122"/>
                <a:cs typeface="Georgia" pitchFamily="34" charset="-120"/>
              </a:rPr>
              <a:t>3 · SET DATA TYPES</a:t>
            </a:r>
          </a:p>
          <a:p>
            <a:pPr marL="0" indent="0">
              <a:spcBef>
                <a:spcPts val="400"/>
              </a:spcBef>
              <a:buNone/>
            </a:pPr>
            <a:r>
              <a:rPr lang="en-US" sz="1100">
                <a:solidFill>
                  <a:srgbClr val="21323D"/>
                </a:solidFill>
                <a:latin typeface="Calibri" pitchFamily="34" charset="0"/>
                <a:ea typeface="Calibri" pitchFamily="34" charset="-122"/>
                <a:cs typeface="Calibri" pitchFamily="34" charset="-120"/>
              </a:rPr>
              <a:t>Choose a data type for every field, such as Text, Number, Currency or Date/Time.</a:t>
            </a:r>
          </a:p>
        </p:txBody>
      </p:sp>
      <p:sp>
        <p:nvSpPr>
          <p:cNvPr id="50" name="Card 4 BG"/>
          <p:cNvSpPr/>
          <p:nvPr/>
        </p:nvSpPr>
        <p:spPr>
          <a:xfrm>
            <a:off x="457200" y="6300000"/>
            <a:ext cx="5943600" cy="133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51" name="Card 4 Accent"/>
          <p:cNvSpPr/>
          <p:nvPr/>
        </p:nvSpPr>
        <p:spPr>
          <a:xfrm>
            <a:off x="457200" y="6300000"/>
            <a:ext cx="100584" cy="1330000"/>
          </a:xfrm>
          <a:prstGeom prst="rect">
            <a:avLst/>
          </a:prstGeom>
          <a:solidFill>
            <a:srgbClr val="10324B"/>
          </a:solidFill>
          <a:ln/>
        </p:spPr>
        <p:txBody>
          <a:bodyPr/>
          <a:lstStyle/>
          <a:p>
            <a:endParaRPr lang="en-AE"/>
          </a:p>
        </p:txBody>
      </p:sp>
      <p:sp>
        <p:nvSpPr>
          <p:cNvPr id="52" name="Card 4 Text"/>
          <p:cNvSpPr/>
          <p:nvPr/>
        </p:nvSpPr>
        <p:spPr>
          <a:xfrm>
            <a:off x="700000" y="6450000"/>
            <a:ext cx="5450000" cy="1050000"/>
          </a:xfrm>
          <a:prstGeom prst="rect">
            <a:avLst/>
          </a:prstGeom>
          <a:noFill/>
          <a:ln/>
        </p:spPr>
        <p:txBody>
          <a:bodyPr wrap="square" lIns="0" tIns="0" rIns="0" bIns="0" rtlCol="0" anchor="t"/>
          <a:lstStyle/>
          <a:p>
            <a:pPr marL="0" indent="0">
              <a:buNone/>
            </a:pPr>
            <a:r>
              <a:rPr lang="en-US" sz="1300" b="1">
                <a:solidFill>
                  <a:srgbClr val="0F7BA8"/>
                </a:solidFill>
                <a:latin typeface="Georgia" pitchFamily="34" charset="0"/>
                <a:ea typeface="Georgia" pitchFamily="34" charset="-122"/>
                <a:cs typeface="Georgia" pitchFamily="34" charset="-120"/>
              </a:rPr>
              <a:t>4 · SET THE PRIMARY KEY</a:t>
            </a:r>
          </a:p>
          <a:p>
            <a:pPr marL="0" indent="0">
              <a:spcBef>
                <a:spcPts val="400"/>
              </a:spcBef>
              <a:buNone/>
            </a:pPr>
            <a:r>
              <a:rPr lang="en-US" sz="1100">
                <a:solidFill>
                  <a:srgbClr val="21323D"/>
                </a:solidFill>
                <a:latin typeface="Calibri" pitchFamily="34" charset="0"/>
                <a:ea typeface="Calibri" pitchFamily="34" charset="-122"/>
                <a:cs typeface="Calibri" pitchFamily="34" charset="-120"/>
              </a:rPr>
              <a:t>Select CarID and set it as the primary key so every record stays unique.</a:t>
            </a:r>
          </a:p>
        </p:txBody>
      </p:sp>
      <p:sp>
        <p:nvSpPr>
          <p:cNvPr id="60" name="Tip Band"/>
          <p:cNvSpPr/>
          <p:nvPr/>
        </p:nvSpPr>
        <p:spPr>
          <a:xfrm>
            <a:off x="457200" y="7790000"/>
            <a:ext cx="5943600" cy="740000"/>
          </a:xfrm>
          <a:prstGeom prst="roundRect">
            <a:avLst>
              <a:gd name="adj" fmla="val 10000"/>
            </a:avLst>
          </a:prstGeom>
          <a:solidFill>
            <a:srgbClr val="EAF6FC"/>
          </a:solidFill>
          <a:ln/>
        </p:spPr>
        <p:txBody>
          <a:bodyPr wrap="square" lIns="182880" tIns="45720" rIns="182880" bIns="45720" rtlCol="0" anchor="ctr"/>
          <a:lstStyle/>
          <a:p>
            <a:pPr marL="0" indent="0">
              <a:lnSpc>
                <a:spcPct val="102000"/>
              </a:lnSpc>
              <a:buNone/>
            </a:pPr>
            <a:r>
              <a:rPr lang="en-US" sz="1050" b="1">
                <a:solidFill>
                  <a:srgbClr val="10324B"/>
                </a:solidFill>
                <a:latin typeface="Calibri" pitchFamily="34" charset="0"/>
                <a:ea typeface="Calibri" pitchFamily="34" charset="-122"/>
                <a:cs typeface="Calibri" pitchFamily="34" charset="-120"/>
              </a:rPr>
              <a:t>REMEMBER </a:t>
            </a:r>
            <a:r>
              <a:rPr lang="en-US" sz="1050">
                <a:solidFill>
                  <a:srgbClr val="21323D"/>
                </a:solidFill>
                <a:latin typeface="Calibri" pitchFamily="34" charset="0"/>
                <a:ea typeface="Calibri" pitchFamily="34" charset="-122"/>
                <a:cs typeface="Calibri" pitchFamily="34" charset="-120"/>
              </a:rPr>
              <a:t>Sketch your Cars table on paper first. List the fields and their data types before you build it in Access.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Worked Example: Source 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Eyebrow"/>
          <p:cNvSpPr/>
          <p:nvPr/>
        </p:nvSpPr>
        <p:spPr>
          <a:xfrm>
            <a:off x="457200" y="420624"/>
            <a:ext cx="42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3 · WORKED EXAMPLE</a:t>
            </a:r>
            <a:endParaRPr lang="en-US" sz="1100"/>
          </a:p>
        </p:txBody>
      </p:sp>
      <p:sp>
        <p:nvSpPr>
          <p:cNvPr id="4" name="Pill BG"/>
          <p:cNvSpPr/>
          <p:nvPr/>
        </p:nvSpPr>
        <p:spPr>
          <a:xfrm>
            <a:off x="4900000" y="384048"/>
            <a:ext cx="150080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Worked Example 4</a:t>
            </a:r>
            <a:endParaRPr lang="en-US" sz="1100"/>
          </a:p>
        </p:txBody>
      </p:sp>
      <p:sp>
        <p:nvSpPr>
          <p:cNvPr id="5" name="Title"/>
          <p:cNvSpPr/>
          <p:nvPr/>
        </p:nvSpPr>
        <p:spPr>
          <a:xfrm>
            <a:off x="457200" y="792555"/>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Worked Example: The Cars Table</a:t>
            </a:r>
            <a:endParaRPr lang="en-US" sz="2500"/>
          </a:p>
        </p:txBody>
      </p:sp>
      <p:sp>
        <p:nvSpPr>
          <p:cNvPr id="6" name="Source Band BG"/>
          <p:cNvSpPr/>
          <p:nvPr/>
        </p:nvSpPr>
        <p:spPr>
          <a:xfrm>
            <a:off x="457200" y="1460000"/>
            <a:ext cx="5943600" cy="1640000"/>
          </a:xfrm>
          <a:prstGeom prst="roundRect">
            <a:avLst>
              <a:gd name="adj" fmla="val 4000"/>
            </a:avLst>
          </a:prstGeom>
          <a:solidFill>
            <a:srgbClr val="EAF5FB"/>
          </a:solidFill>
          <a:ln/>
        </p:spPr>
        <p:txBody>
          <a:bodyPr/>
          <a:lstStyle/>
          <a:p>
            <a:endParaRPr lang="en-AE"/>
          </a:p>
        </p:txBody>
      </p:sp>
      <p:graphicFrame>
        <p:nvGraphicFramePr>
          <p:cNvPr id="7" name="Source Table"/>
          <p:cNvGraphicFramePr>
            <a:graphicFrameLocks noGrp="1"/>
          </p:cNvGraphicFramePr>
          <p:nvPr>
            <p:extLst>
              <p:ext uri="{D42A27DB-BD31-4B8C-83A1-F6EECF244321}">
                <p14:modId xmlns:p14="http://schemas.microsoft.com/office/powerpoint/2010/main" val="4101135346"/>
              </p:ext>
            </p:extLst>
          </p:nvPr>
        </p:nvGraphicFramePr>
        <p:xfrm>
          <a:off x="670000" y="1600000"/>
          <a:ext cx="2380000" cy="1400000"/>
        </p:xfrm>
        <a:graphic>
          <a:graphicData uri="http://schemas.openxmlformats.org/drawingml/2006/table">
            <a:tbl>
              <a:tblPr firstRow="1"/>
              <a:tblGrid>
                <a:gridCol w="820000">
                  <a:extLst>
                    <a:ext uri="{9D8B030D-6E8A-4147-A177-3AD203B41FA5}">
                      <a16:colId xmlns:a16="http://schemas.microsoft.com/office/drawing/2014/main" val="20000"/>
                    </a:ext>
                  </a:extLst>
                </a:gridCol>
                <a:gridCol w="78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tblGrid>
              <a:tr h="240000">
                <a:tc>
                  <a:txBody>
                    <a:bodyPr/>
                    <a:lstStyle/>
                    <a:p>
                      <a:pPr algn="ctr"/>
                      <a:r>
                        <a:rPr lang="en-US" sz="900" b="1">
                          <a:solidFill>
                            <a:srgbClr val="FFFFFF"/>
                          </a:solidFill>
                          <a:latin typeface="Calibri" pitchFamily="34" charset="0"/>
                          <a:cs typeface="Calibri" pitchFamily="34" charset="0"/>
                        </a:rPr>
                        <a:t>Make</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10324B"/>
                    </a:solidFill>
                  </a:tcPr>
                </a:tc>
                <a:tc>
                  <a:txBody>
                    <a:bodyPr/>
                    <a:lstStyle/>
                    <a:p>
                      <a:pPr algn="ctr"/>
                      <a:r>
                        <a:rPr lang="en-US" sz="900" b="1">
                          <a:solidFill>
                            <a:srgbClr val="FFFFFF"/>
                          </a:solidFill>
                          <a:latin typeface="Calibri" pitchFamily="34" charset="0"/>
                          <a:cs typeface="Calibri" pitchFamily="34" charset="0"/>
                        </a:rPr>
                        <a:t>Price</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10324B"/>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10324B"/>
                    </a:solidFill>
                  </a:tcPr>
                </a:tc>
                <a:extLst>
                  <a:ext uri="{0D108BD9-81ED-4DB2-BD59-A6C34878D82A}">
                    <a16:rowId xmlns:a16="http://schemas.microsoft.com/office/drawing/2014/main" val="10000"/>
                  </a:ext>
                </a:extLst>
              </a:tr>
              <a:tr h="232000">
                <a:tc>
                  <a:txBody>
                    <a:bodyPr/>
                    <a:lstStyle/>
                    <a:p>
                      <a:pPr algn="ctr"/>
                      <a:r>
                        <a:rPr lang="en-US" sz="900" b="1">
                          <a:solidFill>
                            <a:srgbClr val="10324B"/>
                          </a:solidFill>
                          <a:latin typeface="Calibri" pitchFamily="34" charset="0"/>
                          <a:cs typeface="Calibri" pitchFamily="34" charset="0"/>
                        </a:rPr>
                        <a:t>Ford</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r>
                        <a:rPr lang="en-US" sz="900">
                          <a:solidFill>
                            <a:srgbClr val="21323D"/>
                          </a:solidFill>
                          <a:latin typeface="Calibri" pitchFamily="34" charset="0"/>
                          <a:cs typeface="Calibri" pitchFamily="34" charset="0"/>
                        </a:rPr>
                        <a:t>$8,500</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extLst>
                  <a:ext uri="{0D108BD9-81ED-4DB2-BD59-A6C34878D82A}">
                    <a16:rowId xmlns:a16="http://schemas.microsoft.com/office/drawing/2014/main" val="10001"/>
                  </a:ext>
                </a:extLst>
              </a:tr>
              <a:tr h="232000">
                <a:tc>
                  <a:txBody>
                    <a:bodyPr/>
                    <a:lstStyle/>
                    <a:p>
                      <a:pPr algn="ctr"/>
                      <a:r>
                        <a:rPr lang="en-US" sz="900" b="1">
                          <a:solidFill>
                            <a:srgbClr val="10324B"/>
                          </a:solidFill>
                          <a:latin typeface="Calibri" pitchFamily="34" charset="0"/>
                          <a:cs typeface="Calibri" pitchFamily="34" charset="0"/>
                        </a:rPr>
                        <a:t>Toyota</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r>
                        <a:rPr lang="en-US" sz="900">
                          <a:solidFill>
                            <a:srgbClr val="21323D"/>
                          </a:solidFill>
                          <a:latin typeface="Calibri" pitchFamily="34" charset="0"/>
                          <a:cs typeface="Calibri" pitchFamily="34" charset="0"/>
                        </a:rPr>
                        <a:t>$12,000</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extLst>
                  <a:ext uri="{0D108BD9-81ED-4DB2-BD59-A6C34878D82A}">
                    <a16:rowId xmlns:a16="http://schemas.microsoft.com/office/drawing/2014/main" val="10002"/>
                  </a:ext>
                </a:extLst>
              </a:tr>
              <a:tr h="232000">
                <a:tc>
                  <a:txBody>
                    <a:bodyPr/>
                    <a:lstStyle/>
                    <a:p>
                      <a:pPr algn="ctr"/>
                      <a:r>
                        <a:rPr lang="en-US" sz="900" b="1">
                          <a:solidFill>
                            <a:srgbClr val="10324B"/>
                          </a:solidFill>
                          <a:latin typeface="Calibri" pitchFamily="34" charset="0"/>
                          <a:cs typeface="Calibri" pitchFamily="34" charset="0"/>
                        </a:rPr>
                        <a:t>Honda</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r>
                        <a:rPr lang="en-US" sz="900">
                          <a:solidFill>
                            <a:srgbClr val="21323D"/>
                          </a:solidFill>
                          <a:latin typeface="Calibri" pitchFamily="34" charset="0"/>
                          <a:cs typeface="Calibri" pitchFamily="34" charset="0"/>
                        </a:rPr>
                        <a:t>$9,750</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extLst>
                  <a:ext uri="{0D108BD9-81ED-4DB2-BD59-A6C34878D82A}">
                    <a16:rowId xmlns:a16="http://schemas.microsoft.com/office/drawing/2014/main" val="10003"/>
                  </a:ext>
                </a:extLst>
              </a:tr>
              <a:tr h="232000">
                <a:tc>
                  <a:txBody>
                    <a:bodyPr/>
                    <a:lstStyle/>
                    <a:p>
                      <a:pPr algn="ctr"/>
                      <a:r>
                        <a:rPr lang="en-US" sz="900" b="1">
                          <a:solidFill>
                            <a:srgbClr val="10324B"/>
                          </a:solidFill>
                          <a:latin typeface="Calibri" pitchFamily="34" charset="0"/>
                          <a:cs typeface="Calibri" pitchFamily="34" charset="0"/>
                        </a:rPr>
                        <a:t>Nissan</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r>
                        <a:rPr lang="en-US" sz="900">
                          <a:solidFill>
                            <a:srgbClr val="21323D"/>
                          </a:solidFill>
                          <a:latin typeface="Calibri" pitchFamily="34" charset="0"/>
                          <a:cs typeface="Calibri" pitchFamily="34" charset="0"/>
                        </a:rPr>
                        <a:t>$6,400</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extLst>
                  <a:ext uri="{0D108BD9-81ED-4DB2-BD59-A6C34878D82A}">
                    <a16:rowId xmlns:a16="http://schemas.microsoft.com/office/drawing/2014/main" val="10004"/>
                  </a:ext>
                </a:extLst>
              </a:tr>
              <a:tr h="232000">
                <a:tc>
                  <a:txBody>
                    <a:bodyPr/>
                    <a:lstStyle/>
                    <a:p>
                      <a:pPr algn="ctr"/>
                      <a:r>
                        <a:rPr lang="en-US" sz="900" b="1">
                          <a:solidFill>
                            <a:srgbClr val="10324B"/>
                          </a:solidFill>
                          <a:latin typeface="Calibri" pitchFamily="34" charset="0"/>
                          <a:cs typeface="Calibri" pitchFamily="34" charset="0"/>
                        </a:rPr>
                        <a:t>Mazda</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r>
                        <a:rPr lang="en-US" sz="900">
                          <a:solidFill>
                            <a:srgbClr val="21323D"/>
                          </a:solidFill>
                          <a:latin typeface="Calibri" pitchFamily="34" charset="0"/>
                          <a:cs typeface="Calibri" pitchFamily="34" charset="0"/>
                        </a:rPr>
                        <a:t>$7,200</a:t>
                      </a:r>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tc>
                  <a:txBody>
                    <a:bodyPr/>
                    <a:lstStyle/>
                    <a:p>
                      <a:pPr algn="ctr"/>
                      <a:endParaRPr lang="en-AE"/>
                    </a:p>
                  </a:txBody>
                  <a:tcPr marL="18000" marR="18000" marT="9000" marB="9000" anchor="ctr">
                    <a:lnL w="6350">
                      <a:solidFill>
                        <a:srgbClr val="D7EBF5"/>
                      </a:solidFill>
                    </a:lnL>
                    <a:lnR w="6350">
                      <a:solidFill>
                        <a:srgbClr val="D7EBF5"/>
                      </a:solidFill>
                    </a:lnR>
                    <a:lnT w="6350">
                      <a:solidFill>
                        <a:srgbClr val="D7EBF5"/>
                      </a:solidFill>
                    </a:lnT>
                    <a:lnB w="6350">
                      <a:solidFill>
                        <a:srgbClr val="D7EBF5"/>
                      </a:solidFill>
                    </a:lnB>
                    <a:solidFill>
                      <a:srgbClr val="FFFFFF"/>
                    </a:solidFill>
                  </a:tcPr>
                </a:tc>
                <a:extLst>
                  <a:ext uri="{0D108BD9-81ED-4DB2-BD59-A6C34878D82A}">
                    <a16:rowId xmlns:a16="http://schemas.microsoft.com/office/drawing/2014/main" val="10005"/>
                  </a:ext>
                </a:extLst>
              </a:tr>
            </a:tbl>
          </a:graphicData>
        </a:graphic>
      </p:graphicFrame>
      <p:sp>
        <p:nvSpPr>
          <p:cNvPr id="8" name="Source Text"/>
          <p:cNvSpPr/>
          <p:nvPr/>
        </p:nvSpPr>
        <p:spPr>
          <a:xfrm>
            <a:off x="3110000" y="1590000"/>
            <a:ext cx="3160000" cy="1400000"/>
          </a:xfrm>
          <a:prstGeom prst="rect">
            <a:avLst/>
          </a:prstGeom>
          <a:noFill/>
          <a:ln/>
        </p:spPr>
        <p:txBody>
          <a:bodyPr wrap="square" lIns="0" tIns="0" rIns="0" bIns="0" rtlCol="0" anchor="ctr"/>
          <a:lstStyle/>
          <a:p>
            <a:pPr marL="0" indent="0">
              <a:buNone/>
            </a:pPr>
            <a:r>
              <a:rPr lang="en-US" sz="900" b="1" kern="0" spc="150">
                <a:solidFill>
                  <a:srgbClr val="0F7BA8"/>
                </a:solidFill>
                <a:latin typeface="Calibri" pitchFamily="34" charset="0"/>
                <a:ea typeface="Calibri" pitchFamily="34" charset="-122"/>
                <a:cs typeface="Calibri" pitchFamily="34" charset="-120"/>
              </a:rPr>
              <a:t>TABLE NAME</a:t>
            </a:r>
          </a:p>
          <a:p>
            <a:pPr marL="0" indent="0">
              <a:spcBef>
                <a:spcPts val="400"/>
              </a:spcBef>
              <a:buNone/>
            </a:pPr>
            <a:r>
              <a:rPr lang="en-US" sz="950" i="1">
                <a:solidFill>
                  <a:srgbClr val="5A6B76"/>
                </a:solidFill>
                <a:latin typeface="Calibri" pitchFamily="34" charset="0"/>
                <a:ea typeface="Calibri" pitchFamily="34" charset="-122"/>
                <a:cs typeface="Calibri" pitchFamily="34" charset="-120"/>
              </a:rPr>
              <a:t>tblCars stores every vehicle Dodgy Dave has in stock, one record per car.</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Relational table structure · fields, records and a primary key</a:t>
            </a:r>
          </a:p>
          <a:p>
            <a:pPr marL="0" indent="0">
              <a:spcBef>
                <a:spcPts val="500"/>
              </a:spcBef>
              <a:buNone/>
            </a:pPr>
            <a:r>
              <a:rPr lang="en-US" sz="950" b="1">
                <a:solidFill>
                  <a:srgbClr val="10324B"/>
                </a:solidFill>
                <a:latin typeface="Calibri" pitchFamily="34" charset="0"/>
                <a:ea typeface="Calibri" pitchFamily="34" charset="-122"/>
                <a:cs typeface="Calibri" pitchFamily="34" charset="-120"/>
              </a:rPr>
              <a:t>How do you turn this list into a well-structured Access table?</a:t>
            </a:r>
          </a:p>
        </p:txBody>
      </p:sp>
      <p:sp>
        <p:nvSpPr>
          <p:cNvPr id="20" name="Card 1 BG"/>
          <p:cNvSpPr/>
          <p:nvPr/>
        </p:nvSpPr>
        <p:spPr>
          <a:xfrm>
            <a:off x="457200" y="3250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1 Accent"/>
          <p:cNvSpPr/>
          <p:nvPr/>
        </p:nvSpPr>
        <p:spPr>
          <a:xfrm>
            <a:off x="457200" y="3250000"/>
            <a:ext cx="100584" cy="1245000"/>
          </a:xfrm>
          <a:prstGeom prst="rect">
            <a:avLst/>
          </a:prstGeom>
          <a:solidFill>
            <a:srgbClr val="159BD2"/>
          </a:solidFill>
          <a:ln/>
        </p:spPr>
        <p:txBody>
          <a:bodyPr/>
          <a:lstStyle/>
          <a:p>
            <a:endParaRPr lang="en-AE"/>
          </a:p>
        </p:txBody>
      </p:sp>
      <p:sp>
        <p:nvSpPr>
          <p:cNvPr id="22" name="Card 1 Text"/>
          <p:cNvSpPr/>
          <p:nvPr/>
        </p:nvSpPr>
        <p:spPr>
          <a:xfrm>
            <a:off x="700000" y="3390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1 · NAME THE TABLE</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Give the table a clear name such as tblCars so it is easy to find in Access.</a:t>
            </a:r>
          </a:p>
        </p:txBody>
      </p:sp>
      <p:sp>
        <p:nvSpPr>
          <p:cNvPr id="30" name="Card 2 BG"/>
          <p:cNvSpPr/>
          <p:nvPr/>
        </p:nvSpPr>
        <p:spPr>
          <a:xfrm>
            <a:off x="457200" y="4615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2 Accent"/>
          <p:cNvSpPr/>
          <p:nvPr/>
        </p:nvSpPr>
        <p:spPr>
          <a:xfrm>
            <a:off x="457200" y="4615000"/>
            <a:ext cx="100584" cy="1245000"/>
          </a:xfrm>
          <a:prstGeom prst="rect">
            <a:avLst/>
          </a:prstGeom>
          <a:solidFill>
            <a:srgbClr val="0F7BA8"/>
          </a:solidFill>
          <a:ln/>
        </p:spPr>
        <p:txBody>
          <a:bodyPr/>
          <a:lstStyle/>
          <a:p>
            <a:endParaRPr lang="en-AE"/>
          </a:p>
        </p:txBody>
      </p:sp>
      <p:sp>
        <p:nvSpPr>
          <p:cNvPr id="32" name="Card 2 Text"/>
          <p:cNvSpPr/>
          <p:nvPr/>
        </p:nvSpPr>
        <p:spPr>
          <a:xfrm>
            <a:off x="700000" y="4755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2 · THE FIELD NAMES</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The top row holds the field names Make and Price. Each field describes one detail of a car.</a:t>
            </a:r>
          </a:p>
        </p:txBody>
      </p:sp>
      <p:sp>
        <p:nvSpPr>
          <p:cNvPr id="40" name="Card 3 BG"/>
          <p:cNvSpPr/>
          <p:nvPr/>
        </p:nvSpPr>
        <p:spPr>
          <a:xfrm>
            <a:off x="457200" y="5980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3 Accent"/>
          <p:cNvSpPr/>
          <p:nvPr/>
        </p:nvSpPr>
        <p:spPr>
          <a:xfrm>
            <a:off x="457200" y="5980000"/>
            <a:ext cx="100584" cy="1245000"/>
          </a:xfrm>
          <a:prstGeom prst="rect">
            <a:avLst/>
          </a:prstGeom>
          <a:solidFill>
            <a:srgbClr val="B8862B"/>
          </a:solidFill>
          <a:ln/>
        </p:spPr>
        <p:txBody>
          <a:bodyPr/>
          <a:lstStyle/>
          <a:p>
            <a:endParaRPr lang="en-AE"/>
          </a:p>
        </p:txBody>
      </p:sp>
      <p:sp>
        <p:nvSpPr>
          <p:cNvPr id="42" name="Card 3 Text"/>
          <p:cNvSpPr/>
          <p:nvPr/>
        </p:nvSpPr>
        <p:spPr>
          <a:xfrm>
            <a:off x="700000" y="6120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3 · THE RECORDS</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Every car is one record: a single row holding the values for each field.</a:t>
            </a:r>
          </a:p>
        </p:txBody>
      </p:sp>
      <p:sp>
        <p:nvSpPr>
          <p:cNvPr id="50" name="Card 4 BG"/>
          <p:cNvSpPr/>
          <p:nvPr/>
        </p:nvSpPr>
        <p:spPr>
          <a:xfrm>
            <a:off x="457200" y="7345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51" name="Card 4 Accent"/>
          <p:cNvSpPr/>
          <p:nvPr/>
        </p:nvSpPr>
        <p:spPr>
          <a:xfrm>
            <a:off x="457200" y="7345000"/>
            <a:ext cx="100584" cy="1245000"/>
          </a:xfrm>
          <a:prstGeom prst="rect">
            <a:avLst/>
          </a:prstGeom>
          <a:solidFill>
            <a:srgbClr val="10324B"/>
          </a:solidFill>
          <a:ln/>
        </p:spPr>
        <p:txBody>
          <a:bodyPr/>
          <a:lstStyle/>
          <a:p>
            <a:endParaRPr lang="en-AE"/>
          </a:p>
        </p:txBody>
      </p:sp>
      <p:sp>
        <p:nvSpPr>
          <p:cNvPr id="52" name="Card 4 Text"/>
          <p:cNvSpPr/>
          <p:nvPr/>
        </p:nvSpPr>
        <p:spPr>
          <a:xfrm>
            <a:off x="700000" y="7485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4 · THE PRIMARY KEY</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Add a CarID primary key so every record can be identified uniquely.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
          <p:cNvSpPr/>
          <p:nvPr/>
        </p:nvSpPr>
        <p:spPr>
          <a:xfrm>
            <a:off x="0" y="0"/>
            <a:ext cx="6858000" cy="146304"/>
          </a:xfrm>
          <a:prstGeom prst="rect">
            <a:avLst/>
          </a:prstGeom>
          <a:solidFill>
            <a:srgbClr val="159BD2"/>
          </a:solidFill>
          <a:ln/>
        </p:spPr>
        <p:txBody>
          <a:bodyPr/>
          <a:lstStyle/>
          <a:p>
            <a:endParaRPr lang="en-AE"/>
          </a:p>
        </p:txBody>
      </p:sp>
      <p:sp>
        <p:nvSpPr>
          <p:cNvPr id="3" name="tb"/>
          <p:cNvSpPr/>
          <p:nvPr/>
        </p:nvSpPr>
        <p:spPr>
          <a:xfrm>
            <a:off x="457200" y="420624"/>
            <a:ext cx="4300000" cy="274320"/>
          </a:xfrm>
          <a:prstGeom prst="rect">
            <a:avLst/>
          </a:prstGeom>
          <a:noFill/>
          <a:ln/>
        </p:spPr>
        <p:txBody>
          <a:bodyPr wrap="square" lIns="0" tIns="0" rIns="0" bIns="0" rtlCol="0" anchor="ctr"/>
          <a:lstStyle/>
          <a:p>
            <a:pPr marL="0" indent="0">
              <a:buNone/>
            </a:pPr>
            <a:r>
              <a:rPr lang="en-US" sz="1100" b="1" kern="0" spc="200">
                <a:solidFill>
                  <a:srgbClr val="0F7BA8"/>
                </a:solidFill>
                <a:latin typeface="Calibri" pitchFamily="34" charset="0"/>
                <a:ea typeface="Calibri" pitchFamily="34" charset="-122"/>
                <a:cs typeface="Calibri" pitchFamily="34" charset="-120"/>
              </a:rPr>
              <a:t>MODULE 3 · REFINING TABLES</a:t>
            </a:r>
          </a:p>
        </p:txBody>
      </p:sp>
      <p:sp>
        <p:nvSpPr>
          <p:cNvPr id="4" name="rr"/>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5" name="tb"/>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Class Activity</a:t>
            </a:r>
          </a:p>
        </p:txBody>
      </p:sp>
      <p:sp>
        <p:nvSpPr>
          <p:cNvPr id="6" name="tb"/>
          <p:cNvSpPr/>
          <p:nvPr/>
        </p:nvSpPr>
        <p:spPr>
          <a:xfrm>
            <a:off x="457200" y="676656"/>
            <a:ext cx="4000000" cy="760000"/>
          </a:xfrm>
          <a:prstGeom prst="rect">
            <a:avLst/>
          </a:prstGeom>
          <a:noFill/>
          <a:ln/>
        </p:spPr>
        <p:txBody>
          <a:bodyPr wrap="square" lIns="0" tIns="0" rIns="0" bIns="0" rtlCol="0" anchor="t"/>
          <a:lstStyle/>
          <a:p>
            <a:pPr marL="0" indent="0">
              <a:buNone/>
            </a:pPr>
            <a:r>
              <a:rPr lang="en-US" sz="2200" b="1">
                <a:solidFill>
                  <a:srgbClr val="10324B"/>
                </a:solidFill>
                <a:latin typeface="Georgia" pitchFamily="34" charset="0"/>
                <a:ea typeface="Georgia" pitchFamily="34" charset="-122"/>
                <a:cs typeface="Georgia" pitchFamily="34" charset="-120"/>
              </a:rPr>
              <a:t>Refining Fields &amp; Properties</a:t>
            </a:r>
          </a:p>
        </p:txBody>
      </p:sp>
      <p:sp>
        <p:nvSpPr>
          <p:cNvPr id="7" name="tb"/>
          <p:cNvSpPr/>
          <p:nvPr/>
        </p:nvSpPr>
        <p:spPr>
          <a:xfrm>
            <a:off x="457200" y="1480000"/>
            <a:ext cx="5943600" cy="470000"/>
          </a:xfrm>
          <a:prstGeom prst="rect">
            <a:avLst/>
          </a:prstGeom>
          <a:noFill/>
          <a:ln/>
        </p:spPr>
        <p:txBody>
          <a:bodyPr wrap="square" lIns="0" tIns="0" rIns="0" bIns="0" rtlCol="0" anchor="t"/>
          <a:lstStyle/>
          <a:p>
            <a:pPr marL="0" indent="0">
              <a:lnSpc>
                <a:spcPct val="104000"/>
              </a:lnSpc>
              <a:buNone/>
            </a:pPr>
            <a:r>
              <a:rPr lang="en-US" sz="1100">
                <a:solidFill>
                  <a:srgbClr val="21323D"/>
                </a:solidFill>
                <a:latin typeface="Calibri" pitchFamily="34" charset="0"/>
                <a:ea typeface="Calibri" pitchFamily="34" charset="-122"/>
                <a:cs typeface="Calibri" pitchFamily="34" charset="-120"/>
              </a:rPr>
              <a:t>These field properties give you full control over how your data is stored and shown.</a:t>
            </a:r>
          </a:p>
        </p:txBody>
      </p:sp>
      <p:sp>
        <p:nvSpPr>
          <p:cNvPr id="8" name="rr"/>
          <p:cNvSpPr/>
          <p:nvPr/>
        </p:nvSpPr>
        <p:spPr>
          <a:xfrm>
            <a:off x="457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9" name="r"/>
          <p:cNvSpPr/>
          <p:nvPr/>
        </p:nvSpPr>
        <p:spPr>
          <a:xfrm>
            <a:off x="457200" y="2000000"/>
            <a:ext cx="70000" cy="780000"/>
          </a:xfrm>
          <a:prstGeom prst="rect">
            <a:avLst/>
          </a:prstGeom>
          <a:solidFill>
            <a:srgbClr val="159BD2"/>
          </a:solidFill>
          <a:ln/>
        </p:spPr>
        <p:txBody>
          <a:bodyPr/>
          <a:lstStyle/>
          <a:p>
            <a:endParaRPr lang="en-AE"/>
          </a:p>
        </p:txBody>
      </p:sp>
      <p:sp>
        <p:nvSpPr>
          <p:cNvPr id="10" name="tb"/>
          <p:cNvSpPr/>
          <p:nvPr/>
        </p:nvSpPr>
        <p:spPr>
          <a:xfrm>
            <a:off x="637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FIELD SIZE</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Limit how many characters a Text field can hold to keep data tidy.</a:t>
            </a:r>
          </a:p>
        </p:txBody>
      </p:sp>
      <p:sp>
        <p:nvSpPr>
          <p:cNvPr id="11" name="rr"/>
          <p:cNvSpPr/>
          <p:nvPr/>
        </p:nvSpPr>
        <p:spPr>
          <a:xfrm>
            <a:off x="3529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2" name="r"/>
          <p:cNvSpPr/>
          <p:nvPr/>
        </p:nvSpPr>
        <p:spPr>
          <a:xfrm>
            <a:off x="3529200" y="2000000"/>
            <a:ext cx="70000" cy="780000"/>
          </a:xfrm>
          <a:prstGeom prst="rect">
            <a:avLst/>
          </a:prstGeom>
          <a:solidFill>
            <a:srgbClr val="159BD2"/>
          </a:solidFill>
          <a:ln/>
        </p:spPr>
        <p:txBody>
          <a:bodyPr/>
          <a:lstStyle/>
          <a:p>
            <a:endParaRPr lang="en-AE"/>
          </a:p>
        </p:txBody>
      </p:sp>
      <p:sp>
        <p:nvSpPr>
          <p:cNvPr id="13" name="tb"/>
          <p:cNvSpPr/>
          <p:nvPr/>
        </p:nvSpPr>
        <p:spPr>
          <a:xfrm>
            <a:off x="3709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FORMAT</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Control how values display, e.g. Currency or a short date format.</a:t>
            </a:r>
          </a:p>
        </p:txBody>
      </p:sp>
      <p:sp>
        <p:nvSpPr>
          <p:cNvPr id="14" name="rr"/>
          <p:cNvSpPr/>
          <p:nvPr/>
        </p:nvSpPr>
        <p:spPr>
          <a:xfrm>
            <a:off x="457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5" name="r"/>
          <p:cNvSpPr/>
          <p:nvPr/>
        </p:nvSpPr>
        <p:spPr>
          <a:xfrm>
            <a:off x="457200" y="2840000"/>
            <a:ext cx="70000" cy="780000"/>
          </a:xfrm>
          <a:prstGeom prst="rect">
            <a:avLst/>
          </a:prstGeom>
          <a:solidFill>
            <a:srgbClr val="159BD2"/>
          </a:solidFill>
          <a:ln/>
        </p:spPr>
        <p:txBody>
          <a:bodyPr/>
          <a:lstStyle/>
          <a:p>
            <a:endParaRPr lang="en-AE"/>
          </a:p>
        </p:txBody>
      </p:sp>
      <p:sp>
        <p:nvSpPr>
          <p:cNvPr id="16" name="tb"/>
          <p:cNvSpPr/>
          <p:nvPr/>
        </p:nvSpPr>
        <p:spPr>
          <a:xfrm>
            <a:off x="637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CAPTION</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Set a friendly caption so forms show a clear label instead of the field name.</a:t>
            </a:r>
          </a:p>
        </p:txBody>
      </p:sp>
      <p:sp>
        <p:nvSpPr>
          <p:cNvPr id="17" name="rr"/>
          <p:cNvSpPr/>
          <p:nvPr/>
        </p:nvSpPr>
        <p:spPr>
          <a:xfrm>
            <a:off x="3529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8" name="r"/>
          <p:cNvSpPr/>
          <p:nvPr/>
        </p:nvSpPr>
        <p:spPr>
          <a:xfrm>
            <a:off x="3529200" y="2840000"/>
            <a:ext cx="70000" cy="780000"/>
          </a:xfrm>
          <a:prstGeom prst="rect">
            <a:avLst/>
          </a:prstGeom>
          <a:solidFill>
            <a:srgbClr val="159BD2"/>
          </a:solidFill>
          <a:ln/>
        </p:spPr>
        <p:txBody>
          <a:bodyPr/>
          <a:lstStyle/>
          <a:p>
            <a:endParaRPr lang="en-AE"/>
          </a:p>
        </p:txBody>
      </p:sp>
      <p:sp>
        <p:nvSpPr>
          <p:cNvPr id="19" name="tb"/>
          <p:cNvSpPr/>
          <p:nvPr/>
        </p:nvSpPr>
        <p:spPr>
          <a:xfrm>
            <a:off x="3709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DEFAULT VALUE</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Fill a field automatically with a common value to speed up data entry.</a:t>
            </a:r>
          </a:p>
        </p:txBody>
      </p:sp>
      <p:sp>
        <p:nvSpPr>
          <p:cNvPr id="20" name="rr"/>
          <p:cNvSpPr/>
          <p:nvPr/>
        </p:nvSpPr>
        <p:spPr>
          <a:xfrm>
            <a:off x="457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1" name="r"/>
          <p:cNvSpPr/>
          <p:nvPr/>
        </p:nvSpPr>
        <p:spPr>
          <a:xfrm>
            <a:off x="457200" y="3680000"/>
            <a:ext cx="70000" cy="780000"/>
          </a:xfrm>
          <a:prstGeom prst="rect">
            <a:avLst/>
          </a:prstGeom>
          <a:solidFill>
            <a:srgbClr val="159BD2"/>
          </a:solidFill>
          <a:ln/>
        </p:spPr>
        <p:txBody>
          <a:bodyPr/>
          <a:lstStyle/>
          <a:p>
            <a:endParaRPr lang="en-AE"/>
          </a:p>
        </p:txBody>
      </p:sp>
      <p:sp>
        <p:nvSpPr>
          <p:cNvPr id="22" name="tb"/>
          <p:cNvSpPr/>
          <p:nvPr/>
        </p:nvSpPr>
        <p:spPr>
          <a:xfrm>
            <a:off x="637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INDEXED</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Index a field so searches and sorts run faster on large tables.</a:t>
            </a:r>
          </a:p>
        </p:txBody>
      </p:sp>
      <p:sp>
        <p:nvSpPr>
          <p:cNvPr id="23" name="rr"/>
          <p:cNvSpPr/>
          <p:nvPr/>
        </p:nvSpPr>
        <p:spPr>
          <a:xfrm>
            <a:off x="3529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4" name="r"/>
          <p:cNvSpPr/>
          <p:nvPr/>
        </p:nvSpPr>
        <p:spPr>
          <a:xfrm>
            <a:off x="3529200" y="3680000"/>
            <a:ext cx="70000" cy="780000"/>
          </a:xfrm>
          <a:prstGeom prst="rect">
            <a:avLst/>
          </a:prstGeom>
          <a:solidFill>
            <a:srgbClr val="159BD2"/>
          </a:solidFill>
          <a:ln/>
        </p:spPr>
        <p:txBody>
          <a:bodyPr/>
          <a:lstStyle/>
          <a:p>
            <a:endParaRPr lang="en-AE"/>
          </a:p>
        </p:txBody>
      </p:sp>
      <p:sp>
        <p:nvSpPr>
          <p:cNvPr id="25" name="tb"/>
          <p:cNvSpPr/>
          <p:nvPr/>
        </p:nvSpPr>
        <p:spPr>
          <a:xfrm>
            <a:off x="3709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REQUIRED</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Make a field required so a record cannot be saved while it is empty.</a:t>
            </a:r>
          </a:p>
        </p:txBody>
      </p:sp>
      <p:sp>
        <p:nvSpPr>
          <p:cNvPr id="26" name="rr"/>
          <p:cNvSpPr/>
          <p:nvPr/>
        </p:nvSpPr>
        <p:spPr>
          <a:xfrm>
            <a:off x="457200" y="4640000"/>
            <a:ext cx="5943600" cy="2360000"/>
          </a:xfrm>
          <a:prstGeom prst="roundRect">
            <a:avLst>
              <a:gd name="adj" fmla="val 4000"/>
            </a:avLst>
          </a:prstGeom>
          <a:solidFill>
            <a:srgbClr val="F3F6F8"/>
          </a:solidFill>
          <a:ln w="12700">
            <a:solidFill>
              <a:srgbClr val="D7EBF5"/>
            </a:solidFill>
            <a:prstDash val="solid"/>
          </a:ln>
        </p:spPr>
        <p:txBody>
          <a:bodyPr/>
          <a:lstStyle/>
          <a:p>
            <a:endParaRPr lang="en-AE"/>
          </a:p>
        </p:txBody>
      </p:sp>
      <p:sp>
        <p:nvSpPr>
          <p:cNvPr id="27" name="r"/>
          <p:cNvSpPr/>
          <p:nvPr/>
        </p:nvSpPr>
        <p:spPr>
          <a:xfrm>
            <a:off x="457200" y="4640000"/>
            <a:ext cx="100584" cy="2360000"/>
          </a:xfrm>
          <a:prstGeom prst="rect">
            <a:avLst/>
          </a:prstGeom>
          <a:solidFill>
            <a:srgbClr val="159BD2"/>
          </a:solidFill>
          <a:ln/>
        </p:spPr>
        <p:txBody>
          <a:bodyPr/>
          <a:lstStyle/>
          <a:p>
            <a:endParaRPr lang="en-AE"/>
          </a:p>
        </p:txBody>
      </p:sp>
      <p:sp>
        <p:nvSpPr>
          <p:cNvPr id="28" name="tb"/>
          <p:cNvSpPr/>
          <p:nvPr/>
        </p:nvSpPr>
        <p:spPr>
          <a:xfrm>
            <a:off x="700000" y="4790000"/>
            <a:ext cx="5450000" cy="250000"/>
          </a:xfrm>
          <a:prstGeom prst="rect">
            <a:avLst/>
          </a:prstGeom>
          <a:noFill/>
          <a:ln/>
        </p:spPr>
        <p:txBody>
          <a:bodyPr wrap="square" lIns="0" tIns="0" rIns="0" bIns="0" rtlCol="0" anchor="ctr"/>
          <a:lstStyle/>
          <a:p>
            <a:pPr marL="0" indent="0">
              <a:buNone/>
            </a:pPr>
            <a:r>
              <a:rPr lang="en-US" sz="1000" b="1" kern="0" spc="150">
                <a:solidFill>
                  <a:srgbClr val="0F7BA8"/>
                </a:solidFill>
                <a:latin typeface="Calibri" pitchFamily="34" charset="0"/>
                <a:ea typeface="Calibri" pitchFamily="34" charset="-122"/>
                <a:cs typeface="Calibri" pitchFamily="34" charset="-120"/>
              </a:rPr>
              <a:t>PRACTISE</a:t>
            </a:r>
          </a:p>
        </p:txBody>
      </p:sp>
      <p:sp>
        <p:nvSpPr>
          <p:cNvPr id="29" name="tb"/>
          <p:cNvSpPr/>
          <p:nvPr/>
        </p:nvSpPr>
        <p:spPr>
          <a:xfrm>
            <a:off x="700000" y="511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BUILD</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Build your Dodgy Dave's Cars table: set a field size for Make, then format Price as Currency.</a:t>
            </a:r>
          </a:p>
        </p:txBody>
      </p:sp>
      <p:sp>
        <p:nvSpPr>
          <p:cNvPr id="30" name="tb"/>
          <p:cNvSpPr/>
          <p:nvPr/>
        </p:nvSpPr>
        <p:spPr>
          <a:xfrm>
            <a:off x="700000" y="569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INDEX</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Index the Make field so searches for a manufacturer run quickly.</a:t>
            </a:r>
          </a:p>
        </p:txBody>
      </p:sp>
      <p:sp>
        <p:nvSpPr>
          <p:cNvPr id="31" name="tb"/>
          <p:cNvSpPr/>
          <p:nvPr/>
        </p:nvSpPr>
        <p:spPr>
          <a:xfrm>
            <a:off x="700000" y="627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STYLE</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Add a validation rule and a Required setting so your data stays clean.</a:t>
            </a:r>
          </a:p>
        </p:txBody>
      </p:sp>
      <p:sp>
        <p:nvSpPr>
          <p:cNvPr id="902" name="Source Band"/>
          <p:cNvSpPr/>
          <p:nvPr/>
        </p:nvSpPr>
        <p:spPr>
          <a:xfrm>
            <a:off x="0" y="7050000"/>
            <a:ext cx="6858000" cy="1900000"/>
          </a:xfrm>
          <a:prstGeom prst="rect">
            <a:avLst/>
          </a:prstGeom>
          <a:solidFill>
            <a:srgbClr val="EAF5FB"/>
          </a:solidFill>
          <a:ln/>
        </p:spPr>
        <p:txBody>
          <a:bodyPr/>
          <a:lstStyle/>
          <a:p>
            <a:endParaRPr lang="en-AE"/>
          </a:p>
        </p:txBody>
      </p:sp>
      <p:pic>
        <p:nvPicPr>
          <p:cNvPr id="900" name="Photo"/>
          <p:cNvPicPr>
            <a:picLocks noChangeAspect="1"/>
          </p:cNvPicPr>
          <p:nvPr/>
        </p:nvPicPr>
        <p:blipFill>
          <a:blip r:embed="rId3"/>
          <a:srcRect t="1949" b="1949"/>
          <a:stretch>
            <a:fillRect/>
          </a:stretch>
        </p:blipFill>
        <p:spPr>
          <a:xfrm>
            <a:off x="457200" y="7220000"/>
            <a:ext cx="2360000" cy="1560000"/>
          </a:xfrm>
          <a:prstGeom prst="rect">
            <a:avLst/>
          </a:prstGeom>
          <a:ln w="12700">
            <a:solidFill>
              <a:srgbClr val="0F7BA8"/>
            </a:solidFill>
          </a:ln>
        </p:spPr>
      </p:pic>
      <p:sp>
        <p:nvSpPr>
          <p:cNvPr id="901" name="Photo Caption"/>
          <p:cNvSpPr/>
          <p:nvPr/>
        </p:nvSpPr>
        <p:spPr>
          <a:xfrm>
            <a:off x="2980000" y="7220000"/>
            <a:ext cx="3420000" cy="162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TIP</a:t>
            </a:r>
          </a:p>
          <a:p>
            <a:pPr marL="0" indent="0">
              <a:spcBef>
                <a:spcPts val="400"/>
              </a:spcBef>
              <a:buNone/>
            </a:pPr>
            <a:r>
              <a:rPr lang="en-US" sz="850" i="1">
                <a:solidFill>
                  <a:srgbClr val="5A6B76"/>
                </a:solidFill>
                <a:latin typeface="Calibri" pitchFamily="34" charset="0"/>
                <a:ea typeface="Calibri" pitchFamily="34" charset="-122"/>
                <a:cs typeface="Calibri" pitchFamily="34" charset="-120"/>
              </a:rPr>
              <a:t>Field properties are set for each field separately in the lower pane of Design View.</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Illustrative photograph · for classroom reference</a:t>
            </a:r>
          </a:p>
          <a:p>
            <a:pPr marL="0" indent="0">
              <a:spcBef>
                <a:spcPts val="400"/>
              </a:spcBef>
              <a:buNone/>
            </a:pPr>
            <a:r>
              <a:rPr lang="en-US" sz="1000">
                <a:solidFill>
                  <a:srgbClr val="10324B"/>
                </a:solidFill>
                <a:latin typeface="Calibri" pitchFamily="34" charset="0"/>
                <a:ea typeface="Calibri" pitchFamily="34" charset="-122"/>
                <a:cs typeface="Calibri" pitchFamily="34" charset="-120"/>
              </a:rPr>
              <a:t>Try setting a Default Value to see how new records fill in automatically.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10324B"/>
        </a:solidFill>
        <a:effectLst/>
      </p:bgPr>
    </p:bg>
    <p:spTree>
      <p:nvGrpSpPr>
        <p:cNvPr id="1" name=""/>
        <p:cNvGrpSpPr/>
        <p:nvPr/>
      </p:nvGrpSpPr>
      <p:grpSpPr>
        <a:xfrm>
          <a:off x="0" y="0"/>
          <a:ext cx="0" cy="0"/>
          <a:chOff x="0" y="0"/>
          <a:chExt cx="0" cy="0"/>
        </a:xfrm>
      </p:grpSpPr>
      <p:sp>
        <p:nvSpPr>
          <p:cNvPr id="2" name="Shape 0"/>
          <p:cNvSpPr/>
          <p:nvPr/>
        </p:nvSpPr>
        <p:spPr>
          <a:xfrm>
            <a:off x="0" y="3246120"/>
            <a:ext cx="6858000" cy="32004"/>
          </a:xfrm>
          <a:prstGeom prst="rect">
            <a:avLst/>
          </a:prstGeom>
          <a:solidFill>
            <a:srgbClr val="159BD2"/>
          </a:solidFill>
          <a:ln/>
        </p:spPr>
        <p:txBody>
          <a:bodyPr/>
          <a:lstStyle/>
          <a:p>
            <a:endParaRPr lang="en-AE"/>
          </a:p>
        </p:txBody>
      </p:sp>
      <p:sp>
        <p:nvSpPr>
          <p:cNvPr id="3" name="Text 1"/>
          <p:cNvSpPr/>
          <p:nvPr/>
        </p:nvSpPr>
        <p:spPr>
          <a:xfrm>
            <a:off x="548640" y="105156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MODULE 4 · WORKING WITH DATA</a:t>
            </a:r>
            <a:endParaRPr lang="en-US" sz="1200"/>
          </a:p>
        </p:txBody>
      </p:sp>
      <p:sp>
        <p:nvSpPr>
          <p:cNvPr id="4" name="Text 2"/>
          <p:cNvSpPr/>
          <p:nvPr/>
        </p:nvSpPr>
        <p:spPr>
          <a:xfrm>
            <a:off x="457200" y="1417320"/>
            <a:ext cx="5943600" cy="1371600"/>
          </a:xfrm>
          <a:prstGeom prst="rect">
            <a:avLst/>
          </a:prstGeom>
          <a:noFill/>
          <a:ln/>
        </p:spPr>
        <p:txBody>
          <a:bodyPr wrap="square" lIns="0" tIns="0" rIns="0" bIns="0" rtlCol="0" anchor="ctr"/>
          <a:lstStyle/>
          <a:p>
            <a:pPr marL="0" indent="0" algn="ctr">
              <a:lnSpc>
                <a:spcPct val="95000"/>
              </a:lnSpc>
              <a:buNone/>
            </a:pPr>
            <a:r>
              <a:rPr lang="en-US" sz="3800" b="1">
                <a:solidFill>
                  <a:srgbClr val="FFFFFF"/>
                </a:solidFill>
                <a:latin typeface="Georgia" pitchFamily="34" charset="0"/>
                <a:ea typeface="Georgia" pitchFamily="34" charset="-122"/>
                <a:cs typeface="Georgia" pitchFamily="34" charset="-120"/>
              </a:rPr>
              <a:t>Queries, Forms &amp; Reports</a:t>
            </a:r>
            <a:endParaRPr lang="en-US" sz="3800"/>
          </a:p>
          <a:p>
            <a:pPr marL="0" indent="0" algn="ctr">
              <a:lnSpc>
                <a:spcPct val="95000"/>
              </a:lnSpc>
              <a:buNone/>
            </a:pPr>
            <a:endParaRPr lang="en-US" sz="3800"/>
          </a:p>
        </p:txBody>
      </p:sp>
      <p:sp>
        <p:nvSpPr>
          <p:cNvPr id="5" name="Shape 3"/>
          <p:cNvSpPr/>
          <p:nvPr/>
        </p:nvSpPr>
        <p:spPr>
          <a:xfrm>
            <a:off x="1005840" y="3749040"/>
            <a:ext cx="1965960" cy="777240"/>
          </a:xfrm>
          <a:prstGeom prst="roundRect">
            <a:avLst>
              <a:gd name="adj" fmla="val 9412"/>
            </a:avLst>
          </a:prstGeom>
          <a:solidFill>
            <a:srgbClr val="EAF4FA"/>
          </a:solidFill>
          <a:ln w="12700">
            <a:solidFill>
              <a:srgbClr val="2E84AE"/>
            </a:solidFill>
            <a:prstDash val="solid"/>
          </a:ln>
        </p:spPr>
        <p:txBody>
          <a:bodyPr/>
          <a:lstStyle/>
          <a:p>
            <a:endParaRPr lang="en-AE"/>
          </a:p>
        </p:txBody>
      </p:sp>
      <p:sp>
        <p:nvSpPr>
          <p:cNvPr id="6" name="Text 4"/>
          <p:cNvSpPr/>
          <p:nvPr/>
        </p:nvSpPr>
        <p:spPr>
          <a:xfrm>
            <a:off x="1005840" y="3749040"/>
            <a:ext cx="1965960" cy="777240"/>
          </a:xfrm>
          <a:prstGeom prst="rect">
            <a:avLst/>
          </a:prstGeom>
          <a:noFill/>
          <a:ln/>
        </p:spPr>
        <p:txBody>
          <a:bodyPr wrap="square" lIns="0" tIns="0" rIns="0" bIns="0" rtlCol="0" anchor="ctr"/>
          <a:lstStyle/>
          <a:p>
            <a:pPr marL="0" indent="0" algn="ctr">
              <a:buNone/>
            </a:pPr>
            <a:r>
              <a:rPr lang="en-US" sz="1300" b="1">
                <a:solidFill>
                  <a:srgbClr val="1C4E70"/>
                </a:solidFill>
                <a:latin typeface="Georgia" pitchFamily="34" charset="0"/>
                <a:ea typeface="Georgia" pitchFamily="34" charset="-122"/>
                <a:cs typeface="Georgia" pitchFamily="34" charset="-120"/>
              </a:rPr>
              <a:t>QUERY</a:t>
            </a:r>
            <a:endParaRPr lang="en-US" sz="1300"/>
          </a:p>
        </p:txBody>
      </p:sp>
      <p:sp>
        <p:nvSpPr>
          <p:cNvPr id="7" name="Shape 5"/>
          <p:cNvSpPr/>
          <p:nvPr/>
        </p:nvSpPr>
        <p:spPr>
          <a:xfrm>
            <a:off x="3081528" y="3991356"/>
            <a:ext cx="694944" cy="292608"/>
          </a:xfrm>
          <a:prstGeom prst="rightArrow">
            <a:avLst/>
          </a:prstGeom>
          <a:solidFill>
            <a:srgbClr val="159BD2"/>
          </a:solidFill>
          <a:ln/>
        </p:spPr>
        <p:txBody>
          <a:bodyPr/>
          <a:lstStyle/>
          <a:p>
            <a:endParaRPr lang="en-AE"/>
          </a:p>
        </p:txBody>
      </p:sp>
      <p:sp>
        <p:nvSpPr>
          <p:cNvPr id="8" name="Shape 6"/>
          <p:cNvSpPr/>
          <p:nvPr/>
        </p:nvSpPr>
        <p:spPr>
          <a:xfrm>
            <a:off x="3886200" y="3749040"/>
            <a:ext cx="1965960" cy="777240"/>
          </a:xfrm>
          <a:prstGeom prst="roundRect">
            <a:avLst>
              <a:gd name="adj" fmla="val 9412"/>
            </a:avLst>
          </a:prstGeom>
          <a:solidFill>
            <a:srgbClr val="FBF3EA"/>
          </a:solidFill>
          <a:ln w="12700">
            <a:solidFill>
              <a:srgbClr val="B8862B"/>
            </a:solidFill>
            <a:prstDash val="solid"/>
          </a:ln>
        </p:spPr>
        <p:txBody>
          <a:bodyPr/>
          <a:lstStyle/>
          <a:p>
            <a:endParaRPr lang="en-AE"/>
          </a:p>
        </p:txBody>
      </p:sp>
      <p:sp>
        <p:nvSpPr>
          <p:cNvPr id="9" name="Text 7"/>
          <p:cNvSpPr/>
          <p:nvPr/>
        </p:nvSpPr>
        <p:spPr>
          <a:xfrm>
            <a:off x="3886200" y="3749040"/>
            <a:ext cx="1965960" cy="777240"/>
          </a:xfrm>
          <a:prstGeom prst="rect">
            <a:avLst/>
          </a:prstGeom>
          <a:noFill/>
          <a:ln/>
        </p:spPr>
        <p:txBody>
          <a:bodyPr wrap="square" lIns="0" tIns="0" rIns="0" bIns="0" rtlCol="0" anchor="ctr"/>
          <a:lstStyle/>
          <a:p>
            <a:pPr marL="0" indent="0" algn="ctr">
              <a:buNone/>
            </a:pPr>
            <a:r>
              <a:rPr lang="en-US" sz="1300" b="1">
                <a:solidFill>
                  <a:srgbClr val="8A5A18"/>
                </a:solidFill>
                <a:latin typeface="Georgia" pitchFamily="34" charset="0"/>
                <a:ea typeface="Georgia" pitchFamily="34" charset="-122"/>
                <a:cs typeface="Georgia" pitchFamily="34" charset="-120"/>
              </a:rPr>
              <a:t>REPORT</a:t>
            </a:r>
            <a:endParaRPr lang="en-US" sz="1300"/>
          </a:p>
        </p:txBody>
      </p:sp>
      <p:sp>
        <p:nvSpPr>
          <p:cNvPr id="10" name="Text 8"/>
          <p:cNvSpPr/>
          <p:nvPr/>
        </p:nvSpPr>
        <p:spPr>
          <a:xfrm>
            <a:off x="822960" y="4754880"/>
            <a:ext cx="5212080" cy="548640"/>
          </a:xfrm>
          <a:prstGeom prst="rect">
            <a:avLst/>
          </a:prstGeom>
          <a:noFill/>
          <a:ln/>
        </p:spPr>
        <p:txBody>
          <a:bodyPr wrap="square" lIns="0" tIns="0" rIns="0" bIns="0" rtlCol="0" anchor="ctr"/>
          <a:lstStyle/>
          <a:p>
            <a:pPr marL="0" indent="0" algn="ctr">
              <a:buNone/>
            </a:pPr>
            <a:r>
              <a:rPr lang="en-US" sz="1600" i="1">
                <a:solidFill>
                  <a:srgbClr val="CFE9F5"/>
                </a:solidFill>
                <a:latin typeface="Georgia" pitchFamily="34" charset="0"/>
                <a:ea typeface="Georgia" pitchFamily="34" charset="-122"/>
                <a:cs typeface="Georgia" pitchFamily="34" charset="-120"/>
              </a:rPr>
              <a:t>Finding and presenting the data you need</a:t>
            </a:r>
            <a:endParaRPr lang="en-US" sz="1600"/>
          </a:p>
        </p:txBody>
      </p:sp>
      <p:sp>
        <p:nvSpPr>
          <p:cNvPr id="11" name="Text 9"/>
          <p:cNvSpPr/>
          <p:nvPr/>
        </p:nvSpPr>
        <p:spPr>
          <a:xfrm>
            <a:off x="822960" y="5486400"/>
            <a:ext cx="5212080" cy="64008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Extract answers with queries, capture input with forms and present results as reports.</a:t>
            </a:r>
            <a:endParaRPr lang="en-US" sz="1250"/>
          </a:p>
        </p:txBody>
      </p:sp>
      <p:sp>
        <p:nvSpPr>
          <p:cNvPr id="12" name="Shape 10"/>
          <p:cNvSpPr/>
          <p:nvPr/>
        </p:nvSpPr>
        <p:spPr>
          <a:xfrm>
            <a:off x="1293876" y="6848856"/>
            <a:ext cx="978408" cy="978408"/>
          </a:xfrm>
          <a:prstGeom prst="ellipse">
            <a:avLst/>
          </a:prstGeom>
          <a:solidFill>
            <a:srgbClr val="FFFFFF"/>
          </a:solidFill>
          <a:ln/>
        </p:spPr>
        <p:txBody>
          <a:bodyPr/>
          <a:lstStyle/>
          <a:p>
            <a:endParaRPr lang="en-AE"/>
          </a:p>
        </p:txBody>
      </p:sp>
      <p:pic>
        <p:nvPicPr>
          <p:cNvPr id="13" name="Image 0" descr="/agent/turn10/workspace/assets/badges/23.png"/>
          <p:cNvPicPr>
            <a:picLocks noChangeAspect="1"/>
          </p:cNvPicPr>
          <p:nvPr/>
        </p:nvPicPr>
        <p:blipFill>
          <a:blip r:embed="rId3"/>
          <a:stretch>
            <a:fillRect/>
          </a:stretch>
        </p:blipFill>
        <p:spPr>
          <a:xfrm>
            <a:off x="1348740" y="7012305"/>
            <a:ext cx="868680" cy="651510"/>
          </a:xfrm>
          <a:prstGeom prst="rect">
            <a:avLst/>
          </a:prstGeom>
        </p:spPr>
      </p:pic>
      <p:sp>
        <p:nvSpPr>
          <p:cNvPr id="14" name="Text 11"/>
          <p:cNvSpPr/>
          <p:nvPr/>
        </p:nvSpPr>
        <p:spPr>
          <a:xfrm>
            <a:off x="102870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Queries</a:t>
            </a:r>
            <a:endParaRPr lang="en-US" sz="900"/>
          </a:p>
        </p:txBody>
      </p:sp>
      <p:sp>
        <p:nvSpPr>
          <p:cNvPr id="15" name="Shape 12"/>
          <p:cNvSpPr/>
          <p:nvPr/>
        </p:nvSpPr>
        <p:spPr>
          <a:xfrm>
            <a:off x="2939796" y="6848856"/>
            <a:ext cx="978408" cy="978408"/>
          </a:xfrm>
          <a:prstGeom prst="ellipse">
            <a:avLst/>
          </a:prstGeom>
          <a:solidFill>
            <a:srgbClr val="FFFFFF"/>
          </a:solidFill>
          <a:ln/>
        </p:spPr>
        <p:txBody>
          <a:bodyPr/>
          <a:lstStyle/>
          <a:p>
            <a:endParaRPr lang="en-AE"/>
          </a:p>
        </p:txBody>
      </p:sp>
      <p:pic>
        <p:nvPicPr>
          <p:cNvPr id="16" name="Image 1" descr="/agent/turn10/workspace/assets/badges/29.png"/>
          <p:cNvPicPr>
            <a:picLocks noChangeAspect="1"/>
          </p:cNvPicPr>
          <p:nvPr/>
        </p:nvPicPr>
        <p:blipFill>
          <a:blip r:embed="rId4"/>
          <a:stretch>
            <a:fillRect/>
          </a:stretch>
        </p:blipFill>
        <p:spPr>
          <a:xfrm>
            <a:off x="2994660" y="7009892"/>
            <a:ext cx="868680" cy="656336"/>
          </a:xfrm>
          <a:prstGeom prst="rect">
            <a:avLst/>
          </a:prstGeom>
        </p:spPr>
      </p:pic>
      <p:sp>
        <p:nvSpPr>
          <p:cNvPr id="17" name="Text 13"/>
          <p:cNvSpPr/>
          <p:nvPr/>
        </p:nvSpPr>
        <p:spPr>
          <a:xfrm>
            <a:off x="267462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Forms</a:t>
            </a:r>
            <a:endParaRPr lang="en-US" sz="900"/>
          </a:p>
        </p:txBody>
      </p:sp>
      <p:sp>
        <p:nvSpPr>
          <p:cNvPr id="18" name="Shape 14"/>
          <p:cNvSpPr/>
          <p:nvPr/>
        </p:nvSpPr>
        <p:spPr>
          <a:xfrm>
            <a:off x="4585716" y="6848856"/>
            <a:ext cx="978408" cy="978408"/>
          </a:xfrm>
          <a:prstGeom prst="ellipse">
            <a:avLst/>
          </a:prstGeom>
          <a:solidFill>
            <a:srgbClr val="FFFFFF"/>
          </a:solidFill>
          <a:ln/>
        </p:spPr>
        <p:txBody>
          <a:bodyPr/>
          <a:lstStyle/>
          <a:p>
            <a:endParaRPr lang="en-AE"/>
          </a:p>
        </p:txBody>
      </p:sp>
      <p:pic>
        <p:nvPicPr>
          <p:cNvPr id="19" name="Image 2" descr="/agent/turn10/workspace/assets/badges/32.png"/>
          <p:cNvPicPr>
            <a:picLocks noChangeAspect="1"/>
          </p:cNvPicPr>
          <p:nvPr/>
        </p:nvPicPr>
        <p:blipFill>
          <a:blip r:embed="rId5"/>
          <a:stretch>
            <a:fillRect/>
          </a:stretch>
        </p:blipFill>
        <p:spPr>
          <a:xfrm>
            <a:off x="4640580" y="6906265"/>
            <a:ext cx="868680" cy="863590"/>
          </a:xfrm>
          <a:prstGeom prst="rect">
            <a:avLst/>
          </a:prstGeom>
        </p:spPr>
      </p:pic>
      <p:sp>
        <p:nvSpPr>
          <p:cNvPr id="20" name="Text 15"/>
          <p:cNvSpPr/>
          <p:nvPr/>
        </p:nvSpPr>
        <p:spPr>
          <a:xfrm>
            <a:off x="432054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Reports</a:t>
            </a:r>
            <a:endParaRPr lang="en-US" sz="900"/>
          </a:p>
        </p:txBody>
      </p:sp>
      <p:sp>
        <p:nvSpPr>
          <p:cNvPr id="22" name="Text 17">
            <a:hlinkClick r:id="rId6"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a:solidFill>
                  <a:srgbClr val="7FC7E6"/>
                </a:solidFill>
                <a:latin typeface="Calibri" pitchFamily="34" charset="0"/>
                <a:ea typeface="Calibri" pitchFamily="34" charset="-122"/>
                <a:cs typeface="Calibri" pitchFamily="34" charset="-120"/>
                <a:hlinkClick r:id="rId6" action="ppaction://hlinksldjump" tooltip="Back to roadmap">
                  <a:extLst>
                    <a:ext uri="{A12FA001-AC4F-418D-AE19-62706E023703}">
                      <ahyp:hlinkClr xmlns:ahyp="http://schemas.microsoft.com/office/drawing/2018/hyperlinkcolor" val="tx"/>
                    </a:ext>
                  </a:extLst>
                </a:hlinkClick>
              </a:rPr>
              <a:t>◂ Roadmap</a:t>
            </a:r>
            <a:endParaRPr lang="en-US" sz="10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146304"/>
          </a:xfrm>
          <a:prstGeom prst="rect">
            <a:avLst/>
          </a:prstGeom>
          <a:solidFill>
            <a:srgbClr val="159BD2"/>
          </a:solidFill>
          <a:ln/>
        </p:spPr>
        <p:txBody>
          <a:bodyPr/>
          <a:lstStyle/>
          <a:p>
            <a:endParaRPr lang="en-AE"/>
          </a:p>
        </p:txBody>
      </p:sp>
      <p:sp>
        <p:nvSpPr>
          <p:cNvPr id="3" name="Text 1"/>
          <p:cNvSpPr/>
          <p:nvPr/>
        </p:nvSpPr>
        <p:spPr>
          <a:xfrm>
            <a:off x="457200" y="420624"/>
            <a:ext cx="402336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4 · QUERIES</a:t>
            </a:r>
            <a:endParaRPr lang="en-US" sz="1100"/>
          </a:p>
        </p:txBody>
      </p:sp>
      <p:sp>
        <p:nvSpPr>
          <p:cNvPr id="4" name="Text 2"/>
          <p:cNvSpPr/>
          <p:nvPr/>
        </p:nvSpPr>
        <p:spPr>
          <a:xfrm>
            <a:off x="457200" y="676656"/>
            <a:ext cx="4023360" cy="91440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Building a Query</a:t>
            </a:r>
            <a:endParaRPr lang="en-US" sz="2500"/>
          </a:p>
        </p:txBody>
      </p:sp>
      <p:sp>
        <p:nvSpPr>
          <p:cNvPr id="5" name="Shape 3"/>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6" name="Text 4"/>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Teams Assignment</a:t>
            </a:r>
            <a:endParaRPr lang="en-US" sz="1100"/>
          </a:p>
        </p:txBody>
      </p:sp>
      <p:sp>
        <p:nvSpPr>
          <p:cNvPr id="7" name="Text 5"/>
          <p:cNvSpPr/>
          <p:nvPr/>
        </p:nvSpPr>
        <p:spPr>
          <a:xfrm>
            <a:off x="457200" y="1700784"/>
            <a:ext cx="5943600" cy="457200"/>
          </a:xfrm>
          <a:prstGeom prst="rect">
            <a:avLst/>
          </a:prstGeom>
          <a:noFill/>
          <a:ln/>
        </p:spPr>
        <p:txBody>
          <a:bodyPr wrap="square" lIns="0" tIns="0" rIns="0" bIns="0" rtlCol="0" anchor="ctr"/>
          <a:lstStyle/>
          <a:p>
            <a:pPr marL="0" indent="0">
              <a:lnSpc>
                <a:spcPct val="102000"/>
              </a:lnSpc>
              <a:buNone/>
            </a:pPr>
            <a:r>
              <a:rPr lang="en-US" sz="1150">
                <a:solidFill>
                  <a:srgbClr val="21323D"/>
                </a:solidFill>
                <a:latin typeface="Calibri" pitchFamily="34" charset="0"/>
                <a:ea typeface="Calibri" pitchFamily="34" charset="-122"/>
                <a:cs typeface="Calibri" pitchFamily="34" charset="-120"/>
              </a:rPr>
              <a:t>A query asks Access a question and returns only the records that match your criteria.</a:t>
            </a:r>
            <a:endParaRPr lang="en-US" sz="1150"/>
          </a:p>
        </p:txBody>
      </p:sp>
      <p:sp>
        <p:nvSpPr>
          <p:cNvPr id="8" name="Shape 6"/>
          <p:cNvSpPr/>
          <p:nvPr/>
        </p:nvSpPr>
        <p:spPr>
          <a:xfrm>
            <a:off x="457200" y="2194560"/>
            <a:ext cx="4150000" cy="1820000"/>
          </a:xfrm>
          <a:prstGeom prst="roundRect">
            <a:avLst>
              <a:gd name="adj" fmla="val 4930"/>
            </a:avLst>
          </a:prstGeom>
          <a:solidFill>
            <a:srgbClr val="F4FBFE"/>
          </a:solidFill>
          <a:ln w="12700">
            <a:solidFill>
              <a:srgbClr val="D7EBF5"/>
            </a:solidFill>
            <a:prstDash val="solid"/>
          </a:ln>
        </p:spPr>
        <p:txBody>
          <a:bodyPr/>
          <a:lstStyle/>
          <a:p>
            <a:endParaRPr lang="en-AE"/>
          </a:p>
        </p:txBody>
      </p:sp>
      <p:sp>
        <p:nvSpPr>
          <p:cNvPr id="9" name="Text 7"/>
          <p:cNvSpPr/>
          <p:nvPr/>
        </p:nvSpPr>
        <p:spPr>
          <a:xfrm>
            <a:off x="658368" y="2286000"/>
            <a:ext cx="3900000" cy="274320"/>
          </a:xfrm>
          <a:prstGeom prst="rect">
            <a:avLst/>
          </a:prstGeom>
          <a:noFill/>
          <a:ln/>
        </p:spPr>
        <p:txBody>
          <a:bodyPr wrap="square" lIns="0" tIns="0" rIns="0" bIns="0" rtlCol="0" anchor="ctr"/>
          <a:lstStyle/>
          <a:p>
            <a:pPr marL="0" indent="0">
              <a:buNone/>
            </a:pPr>
            <a:r>
              <a:rPr lang="en-US" sz="1250" b="1">
                <a:solidFill>
                  <a:srgbClr val="0F7BA8"/>
                </a:solidFill>
                <a:latin typeface="Georgia" pitchFamily="34" charset="0"/>
                <a:ea typeface="Georgia" pitchFamily="34" charset="-122"/>
                <a:cs typeface="Georgia" pitchFamily="34" charset="-120"/>
              </a:rPr>
              <a:t>Every Query Needs</a:t>
            </a:r>
            <a:endParaRPr lang="en-US" sz="1250"/>
          </a:p>
        </p:txBody>
      </p:sp>
      <p:sp>
        <p:nvSpPr>
          <p:cNvPr id="10" name="Text 10"/>
          <p:cNvSpPr/>
          <p:nvPr/>
        </p:nvSpPr>
        <p:spPr>
          <a:xfrm>
            <a:off x="713232" y="2620000"/>
            <a:ext cx="1850000" cy="440000"/>
          </a:xfrm>
          <a:prstGeom prst="rect">
            <a:avLst/>
          </a:prstGeom>
          <a:noFill/>
          <a:ln/>
        </p:spPr>
        <p:txBody>
          <a:bodyPr wrap="square" lIns="0" tIns="0" rIns="0" bIns="0" rtlCol="0" anchor="t"/>
          <a:lstStyle/>
          <a:p>
            <a:pPr marL="0" indent="0">
              <a:buNone/>
            </a:pPr>
            <a:r>
              <a:rPr lang="en-US" sz="850" b="1">
                <a:solidFill>
                  <a:srgbClr val="0F7BA8"/>
                </a:solidFill>
                <a:latin typeface="Georgia" pitchFamily="34" charset="0"/>
                <a:ea typeface="Georgia" pitchFamily="34" charset="-122"/>
                <a:cs typeface="Georgia" pitchFamily="34" charset="-120"/>
              </a:rPr>
              <a:t>Fields</a:t>
            </a:r>
            <a:endParaRPr lang="en-US" sz="850"/>
          </a:p>
          <a:p>
            <a:pPr marL="0" indent="0">
              <a:buNone/>
            </a:pPr>
            <a:r>
              <a:rPr lang="en-US" sz="800">
                <a:solidFill>
                  <a:srgbClr val="21323D"/>
                </a:solidFill>
                <a:latin typeface="Calibri" pitchFamily="34" charset="0"/>
                <a:ea typeface="Calibri" pitchFamily="34" charset="-122"/>
                <a:cs typeface="Calibri" pitchFamily="34" charset="-120"/>
              </a:rPr>
              <a:t>The columns you want to see.</a:t>
            </a:r>
            <a:endParaRPr lang="en-US" sz="800"/>
          </a:p>
        </p:txBody>
      </p:sp>
      <p:sp>
        <p:nvSpPr>
          <p:cNvPr id="12" name="Text 12"/>
          <p:cNvSpPr/>
          <p:nvPr/>
        </p:nvSpPr>
        <p:spPr>
          <a:xfrm>
            <a:off x="2620000" y="2620000"/>
            <a:ext cx="1850000" cy="440000"/>
          </a:xfrm>
          <a:prstGeom prst="rect">
            <a:avLst/>
          </a:prstGeom>
          <a:noFill/>
          <a:ln/>
        </p:spPr>
        <p:txBody>
          <a:bodyPr wrap="square" lIns="0" tIns="0" rIns="0" bIns="0" rtlCol="0" anchor="t"/>
          <a:lstStyle/>
          <a:p>
            <a:pPr marL="0" indent="0">
              <a:buNone/>
            </a:pPr>
            <a:r>
              <a:rPr lang="en-US" sz="850" b="1">
                <a:solidFill>
                  <a:srgbClr val="0F7BA8"/>
                </a:solidFill>
                <a:latin typeface="Georgia" pitchFamily="34" charset="0"/>
                <a:ea typeface="Georgia" pitchFamily="34" charset="-122"/>
                <a:cs typeface="Georgia" pitchFamily="34" charset="-120"/>
              </a:rPr>
              <a:t>Criteria</a:t>
            </a:r>
            <a:endParaRPr lang="en-US" sz="850"/>
          </a:p>
          <a:p>
            <a:pPr marL="0" indent="0">
              <a:buNone/>
            </a:pPr>
            <a:r>
              <a:rPr lang="en-US" sz="800">
                <a:solidFill>
                  <a:srgbClr val="21323D"/>
                </a:solidFill>
                <a:latin typeface="Calibri" pitchFamily="34" charset="0"/>
                <a:ea typeface="Calibri" pitchFamily="34" charset="-122"/>
                <a:cs typeface="Calibri" pitchFamily="34" charset="-120"/>
              </a:rPr>
              <a:t>The condition records must meet.</a:t>
            </a:r>
            <a:endParaRPr lang="en-US" sz="800"/>
          </a:p>
        </p:txBody>
      </p:sp>
      <p:sp>
        <p:nvSpPr>
          <p:cNvPr id="14" name="Text 14"/>
          <p:cNvSpPr/>
          <p:nvPr/>
        </p:nvSpPr>
        <p:spPr>
          <a:xfrm>
            <a:off x="713232" y="3090000"/>
            <a:ext cx="1850000" cy="440000"/>
          </a:xfrm>
          <a:prstGeom prst="rect">
            <a:avLst/>
          </a:prstGeom>
          <a:noFill/>
          <a:ln/>
        </p:spPr>
        <p:txBody>
          <a:bodyPr wrap="square" lIns="0" tIns="0" rIns="0" bIns="0" rtlCol="0" anchor="t"/>
          <a:lstStyle/>
          <a:p>
            <a:pPr marL="0" indent="0">
              <a:buNone/>
            </a:pPr>
            <a:r>
              <a:rPr lang="en-US" sz="850" b="1">
                <a:solidFill>
                  <a:srgbClr val="0F7BA8"/>
                </a:solidFill>
                <a:latin typeface="Georgia" pitchFamily="34" charset="0"/>
                <a:ea typeface="Georgia" pitchFamily="34" charset="-122"/>
                <a:cs typeface="Georgia" pitchFamily="34" charset="-120"/>
              </a:rPr>
              <a:t>Sort order</a:t>
            </a:r>
            <a:endParaRPr lang="en-US" sz="850"/>
          </a:p>
          <a:p>
            <a:pPr marL="0" indent="0">
              <a:buNone/>
            </a:pPr>
            <a:r>
              <a:rPr lang="en-US" sz="800">
                <a:solidFill>
                  <a:srgbClr val="21323D"/>
                </a:solidFill>
                <a:latin typeface="Calibri" pitchFamily="34" charset="0"/>
                <a:ea typeface="Calibri" pitchFamily="34" charset="-122"/>
                <a:cs typeface="Calibri" pitchFamily="34" charset="-120"/>
              </a:rPr>
              <a:t>How to arrange the results.</a:t>
            </a:r>
            <a:endParaRPr lang="en-US" sz="800"/>
          </a:p>
        </p:txBody>
      </p:sp>
      <p:sp>
        <p:nvSpPr>
          <p:cNvPr id="16" name="Text 16"/>
          <p:cNvSpPr/>
          <p:nvPr/>
        </p:nvSpPr>
        <p:spPr>
          <a:xfrm>
            <a:off x="2620000" y="3090000"/>
            <a:ext cx="1850000" cy="440000"/>
          </a:xfrm>
          <a:prstGeom prst="rect">
            <a:avLst/>
          </a:prstGeom>
          <a:noFill/>
          <a:ln/>
        </p:spPr>
        <p:txBody>
          <a:bodyPr wrap="square" lIns="0" tIns="0" rIns="0" bIns="0" rtlCol="0" anchor="t"/>
          <a:lstStyle/>
          <a:p>
            <a:pPr marL="0" indent="0">
              <a:buNone/>
            </a:pPr>
            <a:r>
              <a:rPr lang="en-US" sz="850" b="1">
                <a:solidFill>
                  <a:srgbClr val="0F7BA8"/>
                </a:solidFill>
                <a:latin typeface="Georgia" pitchFamily="34" charset="0"/>
                <a:ea typeface="Georgia" pitchFamily="34" charset="-122"/>
                <a:cs typeface="Georgia" pitchFamily="34" charset="-120"/>
              </a:rPr>
              <a:t>Source table</a:t>
            </a:r>
            <a:endParaRPr lang="en-US" sz="850"/>
          </a:p>
          <a:p>
            <a:pPr marL="0" indent="0">
              <a:buNone/>
            </a:pPr>
            <a:r>
              <a:rPr lang="en-US" sz="800">
                <a:solidFill>
                  <a:srgbClr val="21323D"/>
                </a:solidFill>
                <a:latin typeface="Calibri" pitchFamily="34" charset="0"/>
                <a:ea typeface="Calibri" pitchFamily="34" charset="-122"/>
                <a:cs typeface="Calibri" pitchFamily="34" charset="-120"/>
              </a:rPr>
              <a:t>The table the data comes from.</a:t>
            </a:r>
            <a:endParaRPr lang="en-US" sz="800"/>
          </a:p>
        </p:txBody>
      </p:sp>
      <p:sp>
        <p:nvSpPr>
          <p:cNvPr id="18" name="Text 18"/>
          <p:cNvSpPr/>
          <p:nvPr/>
        </p:nvSpPr>
        <p:spPr>
          <a:xfrm>
            <a:off x="713232" y="3560000"/>
            <a:ext cx="1850000" cy="440000"/>
          </a:xfrm>
          <a:prstGeom prst="rect">
            <a:avLst/>
          </a:prstGeom>
          <a:noFill/>
          <a:ln/>
        </p:spPr>
        <p:txBody>
          <a:bodyPr wrap="square" lIns="0" tIns="0" rIns="0" bIns="0" rtlCol="0" anchor="t"/>
          <a:lstStyle/>
          <a:p>
            <a:pPr marL="0" indent="0">
              <a:buNone/>
            </a:pPr>
            <a:endParaRPr lang="en-US" sz="850"/>
          </a:p>
          <a:p>
            <a:pPr marL="0" indent="0">
              <a:buNone/>
            </a:pPr>
            <a:endParaRPr lang="en-US" sz="800"/>
          </a:p>
        </p:txBody>
      </p:sp>
      <p:sp>
        <p:nvSpPr>
          <p:cNvPr id="20" name="Text 20"/>
          <p:cNvSpPr/>
          <p:nvPr/>
        </p:nvSpPr>
        <p:spPr>
          <a:xfrm>
            <a:off x="2620000" y="3560000"/>
            <a:ext cx="1850000" cy="440000"/>
          </a:xfrm>
          <a:prstGeom prst="rect">
            <a:avLst/>
          </a:prstGeom>
          <a:noFill/>
          <a:ln/>
        </p:spPr>
        <p:txBody>
          <a:bodyPr wrap="square" lIns="0" tIns="0" rIns="0" bIns="0" rtlCol="0" anchor="t"/>
          <a:lstStyle/>
          <a:p>
            <a:pPr marL="0" indent="0">
              <a:buNone/>
            </a:pPr>
            <a:endParaRPr lang="en-US" sz="850"/>
          </a:p>
          <a:p>
            <a:pPr marL="0" indent="0">
              <a:buNone/>
            </a:pPr>
            <a:endParaRPr lang="en-US" sz="800"/>
          </a:p>
        </p:txBody>
      </p:sp>
      <p:sp>
        <p:nvSpPr>
          <p:cNvPr id="22" name="Task Heading"/>
          <p:cNvSpPr/>
          <p:nvPr/>
        </p:nvSpPr>
        <p:spPr>
          <a:xfrm>
            <a:off x="457200" y="4120000"/>
            <a:ext cx="5943600" cy="237744"/>
          </a:xfrm>
          <a:prstGeom prst="rect">
            <a:avLst/>
          </a:prstGeom>
          <a:noFill/>
          <a:ln/>
        </p:spPr>
        <p:txBody>
          <a:bodyPr wrap="square" lIns="0" tIns="0" rIns="0" bIns="0" rtlCol="0" anchor="ctr"/>
          <a:lstStyle/>
          <a:p>
            <a:pPr marL="0" indent="0">
              <a:buNone/>
            </a:pPr>
            <a:r>
              <a:rPr lang="en-US" sz="950" b="1" kern="0" spc="100">
                <a:solidFill>
                  <a:srgbClr val="1C4E70"/>
                </a:solidFill>
                <a:latin typeface="Calibri" pitchFamily="34" charset="0"/>
                <a:ea typeface="Calibri" pitchFamily="34" charset="-122"/>
                <a:cs typeface="Calibri" pitchFamily="34" charset="-120"/>
              </a:rPr>
              <a:t>YOUR TASK · ALL STUDENTS COMPLETE EVERY ACTIVITY</a:t>
            </a:r>
            <a:endParaRPr lang="en-US" sz="950"/>
          </a:p>
        </p:txBody>
      </p:sp>
      <p:sp>
        <p:nvSpPr>
          <p:cNvPr id="23" name="Task Card BG"/>
          <p:cNvSpPr/>
          <p:nvPr/>
        </p:nvSpPr>
        <p:spPr>
          <a:xfrm>
            <a:off x="457200" y="4430000"/>
            <a:ext cx="5943600" cy="306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4" name="Task Card Accent"/>
          <p:cNvSpPr/>
          <p:nvPr/>
        </p:nvSpPr>
        <p:spPr>
          <a:xfrm>
            <a:off x="457200" y="4430000"/>
            <a:ext cx="80000" cy="3060000"/>
          </a:xfrm>
          <a:prstGeom prst="rect">
            <a:avLst/>
          </a:prstGeom>
          <a:solidFill>
            <a:srgbClr val="159BD2"/>
          </a:solidFill>
          <a:ln/>
        </p:spPr>
        <p:txBody>
          <a:bodyPr/>
          <a:lstStyle/>
          <a:p>
            <a:endParaRPr lang="en-AE"/>
          </a:p>
        </p:txBody>
      </p:sp>
      <p:sp>
        <p:nvSpPr>
          <p:cNvPr id="25" name="Task Card Text"/>
          <p:cNvSpPr/>
          <p:nvPr/>
        </p:nvSpPr>
        <p:spPr>
          <a:xfrm>
            <a:off x="677200" y="4640000"/>
            <a:ext cx="5503600" cy="2700000"/>
          </a:xfrm>
          <a:prstGeom prst="rect">
            <a:avLst/>
          </a:prstGeom>
          <a:noFill/>
          <a:ln/>
        </p:spPr>
        <p:txBody>
          <a:bodyPr wrap="square" lIns="0" tIns="0" rIns="0" bIns="0" rtlCol="0" anchor="t"/>
          <a:lstStyle/>
          <a:p>
            <a:pPr marL="285750" indent="-285750">
              <a:spcBef>
                <a:spcPts val="1000"/>
              </a:spcBef>
              <a:buFont typeface="+mj-lt"/>
              <a:buAutoNum type="arabicPeriod"/>
            </a:pPr>
            <a:r>
              <a:rPr lang="en-US" sz="1150">
                <a:solidFill>
                  <a:srgbClr val="21323D"/>
                </a:solidFill>
                <a:latin typeface="Calibri" pitchFamily="34" charset="0"/>
                <a:ea typeface="Calibri" pitchFamily="34" charset="-122"/>
                <a:cs typeface="Calibri" pitchFamily="34" charset="-120"/>
              </a:rPr>
              <a:t>Open Query Design and add the tblCars table as the data source.</a:t>
            </a:r>
          </a:p>
          <a:p>
            <a:pPr marL="285750" indent="-285750">
              <a:spcBef>
                <a:spcPts val="1000"/>
              </a:spcBef>
              <a:buFont typeface="+mj-lt"/>
              <a:buAutoNum type="arabicPeriod"/>
            </a:pPr>
            <a:r>
              <a:rPr lang="en-US" sz="1150">
                <a:solidFill>
                  <a:srgbClr val="21323D"/>
                </a:solidFill>
                <a:latin typeface="Calibri" pitchFamily="34" charset="0"/>
                <a:ea typeface="Calibri" pitchFamily="34" charset="-122"/>
                <a:cs typeface="Calibri" pitchFamily="34" charset="-120"/>
              </a:rPr>
              <a:t>Drag the fields you need into the grid: Make, Model and Price.</a:t>
            </a:r>
          </a:p>
          <a:p>
            <a:pPr marL="285750" indent="-285750">
              <a:spcBef>
                <a:spcPts val="1000"/>
              </a:spcBef>
              <a:buFont typeface="+mj-lt"/>
              <a:buAutoNum type="arabicPeriod"/>
            </a:pPr>
            <a:r>
              <a:rPr lang="en-US" sz="1150">
                <a:solidFill>
                  <a:srgbClr val="21323D"/>
                </a:solidFill>
                <a:latin typeface="Calibri" pitchFamily="34" charset="0"/>
                <a:ea typeface="Calibri" pitchFamily="34" charset="-122"/>
                <a:cs typeface="Calibri" pitchFamily="34" charset="-120"/>
              </a:rPr>
              <a:t>Add a condition in the Criteria row, for example &gt;10000 under Price.</a:t>
            </a:r>
          </a:p>
          <a:p>
            <a:pPr marL="285750" indent="-285750">
              <a:spcBef>
                <a:spcPts val="1000"/>
              </a:spcBef>
              <a:buFont typeface="+mj-lt"/>
              <a:buAutoNum type="arabicPeriod"/>
            </a:pPr>
            <a:r>
              <a:rPr lang="en-US" sz="1150">
                <a:solidFill>
                  <a:srgbClr val="21323D"/>
                </a:solidFill>
                <a:latin typeface="Calibri" pitchFamily="34" charset="0"/>
                <a:ea typeface="Calibri" pitchFamily="34" charset="-122"/>
                <a:cs typeface="Calibri" pitchFamily="34" charset="-120"/>
              </a:rPr>
              <a:t>Sort the Price field ascending, then click Run to see the matching cars.</a:t>
            </a:r>
          </a:p>
          <a:p>
            <a:pPr marL="285750" indent="-285750">
              <a:spcBef>
                <a:spcPts val="1000"/>
              </a:spcBef>
              <a:buFont typeface="+mj-lt"/>
              <a:buAutoNum type="arabicPeriod"/>
            </a:pPr>
            <a:endParaRPr lang="en-US" sz="1150">
              <a:solidFill>
                <a:srgbClr val="21323D"/>
              </a:solidFill>
              <a:latin typeface="Calibri" pitchFamily="34" charset="0"/>
              <a:ea typeface="Calibri" pitchFamily="34" charset="-122"/>
              <a:cs typeface="Calibri" pitchFamily="34" charset="-120"/>
            </a:endParaRPr>
          </a:p>
        </p:txBody>
      </p:sp>
      <p:sp>
        <p:nvSpPr>
          <p:cNvPr id="43" name="Shape 37"/>
          <p:cNvSpPr/>
          <p:nvPr/>
        </p:nvSpPr>
        <p:spPr>
          <a:xfrm>
            <a:off x="0" y="7699248"/>
            <a:ext cx="6858000" cy="1444752"/>
          </a:xfrm>
          <a:prstGeom prst="rect">
            <a:avLst/>
          </a:prstGeom>
          <a:solidFill>
            <a:srgbClr val="EAF5FB"/>
          </a:solidFill>
          <a:ln/>
        </p:spPr>
        <p:txBody>
          <a:bodyPr/>
          <a:lstStyle/>
          <a:p>
            <a:endParaRPr lang="en-AE"/>
          </a:p>
        </p:txBody>
      </p:sp>
      <p:sp>
        <p:nvSpPr>
          <p:cNvPr id="44" name="Text 38"/>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45" name="Image 4" descr="Independent"/>
          <p:cNvPicPr>
            <a:picLocks noChangeAspect="1"/>
          </p:cNvPicPr>
          <p:nvPr/>
        </p:nvPicPr>
        <p:blipFill>
          <a:blip r:embed="rId3"/>
          <a:stretch>
            <a:fillRect/>
          </a:stretch>
        </p:blipFill>
        <p:spPr>
          <a:xfrm>
            <a:off x="299466" y="8065008"/>
            <a:ext cx="658368" cy="658368"/>
          </a:xfrm>
          <a:prstGeom prst="rect">
            <a:avLst/>
          </a:prstGeom>
        </p:spPr>
      </p:pic>
      <p:sp>
        <p:nvSpPr>
          <p:cNvPr id="46" name="Text 39"/>
          <p:cNvSpPr/>
          <p:nvPr/>
        </p:nvSpPr>
        <p:spPr>
          <a:xfrm>
            <a:off x="1463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Independent</a:t>
            </a:r>
            <a:endParaRPr lang="en-US" sz="640"/>
          </a:p>
        </p:txBody>
      </p:sp>
      <p:pic>
        <p:nvPicPr>
          <p:cNvPr id="47" name="Image 5" descr="Learning Ladders"/>
          <p:cNvPicPr>
            <a:picLocks noChangeAspect="1"/>
          </p:cNvPicPr>
          <p:nvPr/>
        </p:nvPicPr>
        <p:blipFill>
          <a:blip r:embed="rId4"/>
          <a:stretch>
            <a:fillRect/>
          </a:stretch>
        </p:blipFill>
        <p:spPr>
          <a:xfrm>
            <a:off x="1099566" y="8065008"/>
            <a:ext cx="658368" cy="658368"/>
          </a:xfrm>
          <a:prstGeom prst="rect">
            <a:avLst/>
          </a:prstGeom>
        </p:spPr>
      </p:pic>
      <p:sp>
        <p:nvSpPr>
          <p:cNvPr id="48" name="Text 40"/>
          <p:cNvSpPr/>
          <p:nvPr/>
        </p:nvSpPr>
        <p:spPr>
          <a:xfrm>
            <a:off x="9464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Learning Ladders</a:t>
            </a:r>
            <a:endParaRPr lang="en-US" sz="640"/>
          </a:p>
        </p:txBody>
      </p:sp>
      <p:pic>
        <p:nvPicPr>
          <p:cNvPr id="49" name="Image 6" descr="Research"/>
          <p:cNvPicPr>
            <a:picLocks noChangeAspect="1"/>
          </p:cNvPicPr>
          <p:nvPr/>
        </p:nvPicPr>
        <p:blipFill>
          <a:blip r:embed="rId5"/>
          <a:stretch>
            <a:fillRect/>
          </a:stretch>
        </p:blipFill>
        <p:spPr>
          <a:xfrm>
            <a:off x="1899666" y="8065008"/>
            <a:ext cx="658368" cy="658368"/>
          </a:xfrm>
          <a:prstGeom prst="rect">
            <a:avLst/>
          </a:prstGeom>
        </p:spPr>
      </p:pic>
      <p:sp>
        <p:nvSpPr>
          <p:cNvPr id="50" name="Text 41"/>
          <p:cNvSpPr/>
          <p:nvPr/>
        </p:nvSpPr>
        <p:spPr>
          <a:xfrm>
            <a:off x="17465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Research</a:t>
            </a:r>
            <a:endParaRPr lang="en-US" sz="640"/>
          </a:p>
        </p:txBody>
      </p:sp>
      <p:pic>
        <p:nvPicPr>
          <p:cNvPr id="51" name="Image 7" descr="Numeracy Link"/>
          <p:cNvPicPr>
            <a:picLocks noChangeAspect="1"/>
          </p:cNvPicPr>
          <p:nvPr/>
        </p:nvPicPr>
        <p:blipFill>
          <a:blip r:embed="rId6"/>
          <a:stretch>
            <a:fillRect/>
          </a:stretch>
        </p:blipFill>
        <p:spPr>
          <a:xfrm>
            <a:off x="2699766" y="8065008"/>
            <a:ext cx="658368" cy="658368"/>
          </a:xfrm>
          <a:prstGeom prst="rect">
            <a:avLst/>
          </a:prstGeom>
        </p:spPr>
      </p:pic>
      <p:sp>
        <p:nvSpPr>
          <p:cNvPr id="52" name="Text 42"/>
          <p:cNvSpPr/>
          <p:nvPr/>
        </p:nvSpPr>
        <p:spPr>
          <a:xfrm>
            <a:off x="25466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0F7BA8"/>
                </a:solidFill>
                <a:latin typeface="Calibri" pitchFamily="34" charset="0"/>
                <a:ea typeface="Calibri" pitchFamily="34" charset="-122"/>
                <a:cs typeface="Calibri" pitchFamily="34" charset="-120"/>
              </a:rPr>
              <a:t>Numeracy Link</a:t>
            </a:r>
            <a:endParaRPr lang="en-US" sz="640"/>
          </a:p>
        </p:txBody>
      </p:sp>
      <p:pic>
        <p:nvPicPr>
          <p:cNvPr id="53" name="Image 8" descr="Hard-working"/>
          <p:cNvPicPr>
            <a:picLocks noChangeAspect="1"/>
          </p:cNvPicPr>
          <p:nvPr/>
        </p:nvPicPr>
        <p:blipFill>
          <a:blip r:embed="rId7"/>
          <a:stretch>
            <a:fillRect/>
          </a:stretch>
        </p:blipFill>
        <p:spPr>
          <a:xfrm>
            <a:off x="3526352" y="8065008"/>
            <a:ext cx="605396" cy="658368"/>
          </a:xfrm>
          <a:prstGeom prst="rect">
            <a:avLst/>
          </a:prstGeom>
        </p:spPr>
      </p:pic>
      <p:sp>
        <p:nvSpPr>
          <p:cNvPr id="54" name="Text 43"/>
          <p:cNvSpPr/>
          <p:nvPr/>
        </p:nvSpPr>
        <p:spPr>
          <a:xfrm>
            <a:off x="33467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6E7A86"/>
                </a:solidFill>
                <a:latin typeface="Calibri" pitchFamily="34" charset="0"/>
                <a:ea typeface="Calibri" pitchFamily="34" charset="-122"/>
                <a:cs typeface="Calibri" pitchFamily="34" charset="-120"/>
              </a:rPr>
              <a:t>Hard-working</a:t>
            </a:r>
            <a:endParaRPr lang="en-US" sz="640"/>
          </a:p>
        </p:txBody>
      </p:sp>
      <p:pic>
        <p:nvPicPr>
          <p:cNvPr id="55" name="Image 9" descr="Creating"/>
          <p:cNvPicPr>
            <a:picLocks noChangeAspect="1"/>
          </p:cNvPicPr>
          <p:nvPr/>
        </p:nvPicPr>
        <p:blipFill>
          <a:blip r:embed="rId8"/>
          <a:stretch>
            <a:fillRect/>
          </a:stretch>
        </p:blipFill>
        <p:spPr>
          <a:xfrm>
            <a:off x="4235056" y="8065008"/>
            <a:ext cx="788187" cy="658368"/>
          </a:xfrm>
          <a:prstGeom prst="rect">
            <a:avLst/>
          </a:prstGeom>
        </p:spPr>
      </p:pic>
      <p:sp>
        <p:nvSpPr>
          <p:cNvPr id="56" name="Text 44"/>
          <p:cNvSpPr/>
          <p:nvPr/>
        </p:nvSpPr>
        <p:spPr>
          <a:xfrm>
            <a:off x="41468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6E7A86"/>
                </a:solidFill>
                <a:latin typeface="Calibri" pitchFamily="34" charset="0"/>
                <a:ea typeface="Calibri" pitchFamily="34" charset="-122"/>
                <a:cs typeface="Calibri" pitchFamily="34" charset="-120"/>
              </a:rPr>
              <a:t>Creating</a:t>
            </a:r>
            <a:endParaRPr lang="en-US" sz="640"/>
          </a:p>
        </p:txBody>
      </p:sp>
      <p:pic>
        <p:nvPicPr>
          <p:cNvPr id="57" name="Image 10" descr="Realising"/>
          <p:cNvPicPr>
            <a:picLocks noChangeAspect="1"/>
          </p:cNvPicPr>
          <p:nvPr/>
        </p:nvPicPr>
        <p:blipFill>
          <a:blip r:embed="rId9"/>
          <a:stretch>
            <a:fillRect/>
          </a:stretch>
        </p:blipFill>
        <p:spPr>
          <a:xfrm>
            <a:off x="5029840" y="8065008"/>
            <a:ext cx="798820" cy="658368"/>
          </a:xfrm>
          <a:prstGeom prst="rect">
            <a:avLst/>
          </a:prstGeom>
        </p:spPr>
      </p:pic>
      <p:sp>
        <p:nvSpPr>
          <p:cNvPr id="58" name="Text 45"/>
          <p:cNvSpPr/>
          <p:nvPr/>
        </p:nvSpPr>
        <p:spPr>
          <a:xfrm>
            <a:off x="49469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6E7A86"/>
                </a:solidFill>
                <a:latin typeface="Calibri" pitchFamily="34" charset="0"/>
                <a:ea typeface="Calibri" pitchFamily="34" charset="-122"/>
                <a:cs typeface="Calibri" pitchFamily="34" charset="-120"/>
              </a:rPr>
              <a:t>Realising</a:t>
            </a:r>
            <a:endParaRPr lang="en-US" sz="640"/>
          </a:p>
        </p:txBody>
      </p:sp>
      <p:pic>
        <p:nvPicPr>
          <p:cNvPr id="59" name="Image 11" descr="Data Literacy"/>
          <p:cNvPicPr>
            <a:picLocks noChangeAspect="1"/>
          </p:cNvPicPr>
          <p:nvPr/>
        </p:nvPicPr>
        <p:blipFill>
          <a:blip r:embed="rId10"/>
          <a:stretch>
            <a:fillRect/>
          </a:stretch>
        </p:blipFill>
        <p:spPr>
          <a:xfrm>
            <a:off x="5898222" y="8065008"/>
            <a:ext cx="662256" cy="658368"/>
          </a:xfrm>
          <a:prstGeom prst="rect">
            <a:avLst/>
          </a:prstGeom>
        </p:spPr>
      </p:pic>
      <p:sp>
        <p:nvSpPr>
          <p:cNvPr id="60" name="Text 46"/>
          <p:cNvSpPr/>
          <p:nvPr/>
        </p:nvSpPr>
        <p:spPr>
          <a:xfrm>
            <a:off x="5747004" y="8750808"/>
            <a:ext cx="964692" cy="384048"/>
          </a:xfrm>
          <a:prstGeom prst="rect">
            <a:avLst/>
          </a:prstGeom>
          <a:noFill/>
          <a:ln/>
        </p:spPr>
        <p:txBody>
          <a:bodyPr wrap="square" lIns="0" tIns="0" rIns="0" bIns="0" rtlCol="0" anchor="t"/>
          <a:lstStyle/>
          <a:p>
            <a:pPr marL="0" indent="0" algn="ctr">
              <a:lnSpc>
                <a:spcPct val="88000"/>
              </a:lnSpc>
              <a:buNone/>
            </a:pPr>
            <a:r>
              <a:rPr lang="en-US" sz="640" b="1">
                <a:solidFill>
                  <a:srgbClr val="1C4E70"/>
                </a:solidFill>
                <a:latin typeface="Calibri" pitchFamily="34" charset="0"/>
                <a:ea typeface="Calibri" pitchFamily="34" charset="-122"/>
                <a:cs typeface="Calibri" pitchFamily="34" charset="-120"/>
              </a:rPr>
              <a:t>Data Literacy</a:t>
            </a:r>
            <a:endParaRPr lang="en-US" sz="640"/>
          </a:p>
        </p:txBody>
      </p:sp>
      <p:sp>
        <p:nvSpPr>
          <p:cNvPr id="70" name="Source Frame"/>
          <p:cNvSpPr/>
          <p:nvPr/>
        </p:nvSpPr>
        <p:spPr>
          <a:xfrm>
            <a:off x="4680000" y="2194560"/>
            <a:ext cx="1580000" cy="1440000"/>
          </a:xfrm>
          <a:prstGeom prst="roundRect">
            <a:avLst>
              <a:gd name="adj" fmla="val 4930"/>
            </a:avLst>
          </a:prstGeom>
          <a:solidFill>
            <a:srgbClr val="FFFFFF"/>
          </a:solidFill>
          <a:ln w="12700">
            <a:solidFill>
              <a:srgbClr val="0F7BA8"/>
            </a:solidFill>
            <a:prstDash val="solid"/>
          </a:ln>
        </p:spPr>
        <p:txBody>
          <a:bodyPr/>
          <a:lstStyle/>
          <a:p>
            <a:endParaRPr lang="en-AE"/>
          </a:p>
        </p:txBody>
      </p:sp>
      <p:sp>
        <p:nvSpPr>
          <p:cNvPr id="73" name="Source Eyebrow"/>
          <p:cNvSpPr/>
          <p:nvPr/>
        </p:nvSpPr>
        <p:spPr>
          <a:xfrm>
            <a:off x="4700000" y="2250000"/>
            <a:ext cx="1540000" cy="150000"/>
          </a:xfrm>
          <a:prstGeom prst="rect">
            <a:avLst/>
          </a:prstGeom>
          <a:noFill/>
          <a:ln/>
        </p:spPr>
        <p:txBody>
          <a:bodyPr wrap="square" lIns="0" tIns="0" rIns="0" bIns="0" rtlCol="0" anchor="ctr"/>
          <a:lstStyle/>
          <a:p>
            <a:pPr marL="0" indent="0" algn="ctr">
              <a:buNone/>
            </a:pPr>
            <a:r>
              <a:rPr lang="en-US" sz="700" b="1" kern="0" spc="120">
                <a:solidFill>
                  <a:srgbClr val="0F7BA8"/>
                </a:solidFill>
                <a:latin typeface="Calibri" pitchFamily="34" charset="0"/>
                <a:ea typeface="Calibri" pitchFamily="34" charset="-122"/>
                <a:cs typeface="Calibri" pitchFamily="34" charset="-120"/>
              </a:rPr>
              <a:t>SEE IT IN ACTION</a:t>
            </a:r>
            <a:endParaRPr lang="en-US" sz="700"/>
          </a:p>
        </p:txBody>
      </p:sp>
      <p:pic>
        <p:nvPicPr>
          <p:cNvPr id="71" name="Source Image" descr="Query filtering matching records in a table"/>
          <p:cNvPicPr>
            <a:picLocks noChangeAspect="1"/>
          </p:cNvPicPr>
          <p:nvPr/>
        </p:nvPicPr>
        <p:blipFill>
          <a:blip r:embed="rId11"/>
          <a:srcRect l="14000" r="11731"/>
          <a:stretch>
            <a:fillRect/>
          </a:stretch>
        </p:blipFill>
        <p:spPr>
          <a:xfrm>
            <a:off x="4876000" y="2450000"/>
            <a:ext cx="1188000" cy="1080000"/>
          </a:xfrm>
          <a:prstGeom prst="rect">
            <a:avLst/>
          </a:prstGeom>
        </p:spPr>
      </p:pic>
      <p:sp>
        <p:nvSpPr>
          <p:cNvPr id="72" name="Source Caption"/>
          <p:cNvSpPr/>
          <p:nvPr/>
        </p:nvSpPr>
        <p:spPr>
          <a:xfrm>
            <a:off x="4660000" y="3690000"/>
            <a:ext cx="1620000" cy="410000"/>
          </a:xfrm>
          <a:prstGeom prst="rect">
            <a:avLst/>
          </a:prstGeom>
          <a:noFill/>
          <a:ln/>
        </p:spPr>
        <p:txBody>
          <a:bodyPr wrap="square" lIns="0" tIns="0" rIns="0" bIns="0" rtlCol="0" anchor="t"/>
          <a:lstStyle/>
          <a:p>
            <a:pPr marL="0" indent="0" algn="ctr">
              <a:lnSpc>
                <a:spcPct val="96000"/>
              </a:lnSpc>
              <a:buNone/>
            </a:pPr>
            <a:r>
              <a:rPr lang="en-US" sz="680" i="1">
                <a:solidFill>
                  <a:srgbClr val="5A6B76"/>
                </a:solidFill>
                <a:latin typeface="Calibri" pitchFamily="34" charset="0"/>
                <a:ea typeface="Calibri" pitchFamily="34" charset="-122"/>
                <a:cs typeface="Calibri" pitchFamily="34" charset="-120"/>
              </a:rPr>
              <a:t>Price &gt; 10000 · sort ascending</a:t>
            </a:r>
          </a:p>
          <a:p>
            <a:pPr marL="0" indent="0" algn="ctr">
              <a:lnSpc>
                <a:spcPct val="96000"/>
              </a:lnSpc>
              <a:buNone/>
            </a:pPr>
            <a:endParaRPr lang="en-US" sz="680" i="1">
              <a:solidFill>
                <a:srgbClr val="5A6B76"/>
              </a:solidFill>
              <a:latin typeface="Calibri" pitchFamily="34" charset="0"/>
              <a:ea typeface="Calibri" pitchFamily="34" charset="-122"/>
              <a:cs typeface="Calibri"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eapons Research Bank">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90000"/>
            <a:ext cx="1645920" cy="26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4 · QUERY CRITERIA</a:t>
            </a:r>
            <a:endParaRPr lang="en-US" sz="1100"/>
          </a:p>
        </p:txBody>
      </p:sp>
      <p:sp>
        <p:nvSpPr>
          <p:cNvPr id="5" name="Pill"/>
          <p:cNvSpPr/>
          <p:nvPr/>
        </p:nvSpPr>
        <p:spPr>
          <a:xfrm>
            <a:off x="4617720" y="552000"/>
            <a:ext cx="1783080" cy="384048"/>
          </a:xfrm>
          <a:prstGeom prst="roundRect">
            <a:avLst>
              <a:gd name="adj" fmla="val 19048"/>
            </a:avLst>
          </a:prstGeom>
          <a:solidFill>
            <a:srgbClr val="B8862B"/>
          </a:solid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Research Bank</a:t>
            </a:r>
            <a:endParaRPr lang="en-US" sz="1100"/>
          </a:p>
        </p:txBody>
      </p:sp>
      <p:sp>
        <p:nvSpPr>
          <p:cNvPr id="6" name="Title"/>
          <p:cNvSpPr/>
          <p:nvPr/>
        </p:nvSpPr>
        <p:spPr>
          <a:xfrm>
            <a:off x="457200" y="920000"/>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Query Criteria &amp; Operators</a:t>
            </a:r>
            <a:endParaRPr lang="en-US" sz="2500"/>
          </a:p>
        </p:txBody>
      </p:sp>
      <p:sp>
        <p:nvSpPr>
          <p:cNvPr id="7" name="Intro"/>
          <p:cNvSpPr/>
          <p:nvPr/>
        </p:nvSpPr>
        <p:spPr>
          <a:xfrm>
            <a:off x="457200" y="1500000"/>
            <a:ext cx="5943600" cy="50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Criteria tell a query which records to return. Combine operators and wildcards to filter your data precisely.</a:t>
            </a:r>
            <a:endParaRPr lang="en-US" sz="1150"/>
          </a:p>
        </p:txBody>
      </p:sp>
      <p:sp>
        <p:nvSpPr>
          <p:cNvPr id="10" name="LAND Header"/>
          <p:cNvSpPr/>
          <p:nvPr/>
        </p:nvSpPr>
        <p:spPr>
          <a:xfrm>
            <a:off x="457200" y="2020000"/>
            <a:ext cx="5943600" cy="440000"/>
          </a:xfrm>
          <a:prstGeom prst="roundRect">
            <a:avLst>
              <a:gd name="adj" fmla="val 14000"/>
            </a:avLst>
          </a:prstGeom>
          <a:solidFill>
            <a:srgbClr val="B8862B"/>
          </a:solidFill>
          <a:ln/>
        </p:spPr>
        <p:txBody>
          <a:bodyPr wrap="square" lIns="200000" tIns="0" rIns="200000" bIns="0" rtlCol="0" anchor="ctr"/>
          <a:lstStyle/>
          <a:p>
            <a:pPr marL="0" indent="0">
              <a:buNone/>
            </a:pPr>
            <a:r>
              <a:rPr lang="en-US" sz="1250" b="1" spc="120">
                <a:solidFill>
                  <a:srgbClr val="FFFFFF"/>
                </a:solidFill>
                <a:latin typeface="Calibri" pitchFamily="34" charset="0"/>
                <a:ea typeface="Calibri" pitchFamily="34" charset="-122"/>
                <a:cs typeface="Calibri" pitchFamily="34" charset="-120"/>
              </a:rPr>
              <a:t>COMPARISON OPERATORS</a:t>
            </a:r>
            <a:r>
              <a:rPr lang="en-US" sz="1050">
                <a:solidFill>
                  <a:srgbClr val="EAF5FB"/>
                </a:solidFill>
                <a:latin typeface="Calibri" pitchFamily="34" charset="0"/>
                <a:ea typeface="Calibri" pitchFamily="34" charset="-122"/>
                <a:cs typeface="Calibri" pitchFamily="34" charset="-120"/>
              </a:rPr>
              <a:t>   ·   test one value against another</a:t>
            </a:r>
          </a:p>
        </p:txBody>
      </p:sp>
      <p:sp>
        <p:nvSpPr>
          <p:cNvPr id="11" name="Tanks Card"/>
          <p:cNvSpPr/>
          <p:nvPr/>
        </p:nvSpPr>
        <p:spPr>
          <a:xfrm>
            <a:off x="457200" y="250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12" name="Tanks Accent"/>
          <p:cNvSpPr/>
          <p:nvPr/>
        </p:nvSpPr>
        <p:spPr>
          <a:xfrm>
            <a:off x="457200" y="2500000"/>
            <a:ext cx="90000" cy="420000"/>
          </a:xfrm>
          <a:prstGeom prst="round2SameRect">
            <a:avLst>
              <a:gd name="adj1" fmla="val 50000"/>
              <a:gd name="adj2" fmla="val 0"/>
            </a:avLst>
          </a:prstGeom>
          <a:solidFill>
            <a:srgbClr val="B8862B"/>
          </a:solidFill>
          <a:ln/>
        </p:spPr>
        <p:txBody>
          <a:bodyPr/>
          <a:lstStyle/>
          <a:p>
            <a:endParaRPr lang="en-AE"/>
          </a:p>
        </p:txBody>
      </p:sp>
      <p:sp>
        <p:nvSpPr>
          <p:cNvPr id="13" name="Tanks Text"/>
          <p:cNvSpPr/>
          <p:nvPr/>
        </p:nvSpPr>
        <p:spPr>
          <a:xfrm>
            <a:off x="717200" y="250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&gt;  and  &lt;</a:t>
            </a:r>
            <a:r>
              <a:rPr lang="en-US" sz="1050">
                <a:solidFill>
                  <a:srgbClr val="21323D"/>
                </a:solidFill>
                <a:latin typeface="Calibri" pitchFamily="34" charset="0"/>
                <a:ea typeface="Calibri" pitchFamily="34" charset="-122"/>
                <a:cs typeface="Calibri" pitchFamily="34" charset="-120"/>
              </a:rPr>
              <a:t>  —  Greater than or less than, e.g. Price &gt; 10000.</a:t>
            </a:r>
          </a:p>
        </p:txBody>
      </p:sp>
      <p:sp>
        <p:nvSpPr>
          <p:cNvPr id="15" name="Flamethrowers Card"/>
          <p:cNvSpPr/>
          <p:nvPr/>
        </p:nvSpPr>
        <p:spPr>
          <a:xfrm>
            <a:off x="457200" y="297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16" name="Flamethrowers Accent"/>
          <p:cNvSpPr/>
          <p:nvPr/>
        </p:nvSpPr>
        <p:spPr>
          <a:xfrm>
            <a:off x="457200" y="2970000"/>
            <a:ext cx="90000" cy="420000"/>
          </a:xfrm>
          <a:prstGeom prst="round2SameRect">
            <a:avLst>
              <a:gd name="adj1" fmla="val 50000"/>
              <a:gd name="adj2" fmla="val 0"/>
            </a:avLst>
          </a:prstGeom>
          <a:solidFill>
            <a:srgbClr val="B8862B"/>
          </a:solidFill>
          <a:ln/>
        </p:spPr>
        <p:txBody>
          <a:bodyPr/>
          <a:lstStyle/>
          <a:p>
            <a:endParaRPr lang="en-AE"/>
          </a:p>
        </p:txBody>
      </p:sp>
      <p:sp>
        <p:nvSpPr>
          <p:cNvPr id="17" name="Flamethrowers Text"/>
          <p:cNvSpPr/>
          <p:nvPr/>
        </p:nvSpPr>
        <p:spPr>
          <a:xfrm>
            <a:off x="717200" y="297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&gt;=  and  &lt;=</a:t>
            </a:r>
            <a:r>
              <a:rPr lang="en-US" sz="1050">
                <a:solidFill>
                  <a:srgbClr val="21323D"/>
                </a:solidFill>
                <a:latin typeface="Calibri" pitchFamily="34" charset="0"/>
                <a:ea typeface="Calibri" pitchFamily="34" charset="-122"/>
                <a:cs typeface="Calibri" pitchFamily="34" charset="-120"/>
              </a:rPr>
              <a:t>  —  Includes the boundary value in the match too.</a:t>
            </a:r>
          </a:p>
        </p:txBody>
      </p:sp>
      <p:sp>
        <p:nvSpPr>
          <p:cNvPr id="19" name="Barbed Wire &amp; Land Mines Card"/>
          <p:cNvSpPr/>
          <p:nvPr/>
        </p:nvSpPr>
        <p:spPr>
          <a:xfrm>
            <a:off x="457200" y="344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20" name="Barbed Wire &amp; Land Mines Accent"/>
          <p:cNvSpPr/>
          <p:nvPr/>
        </p:nvSpPr>
        <p:spPr>
          <a:xfrm>
            <a:off x="457200" y="3440000"/>
            <a:ext cx="90000" cy="420000"/>
          </a:xfrm>
          <a:prstGeom prst="round2SameRect">
            <a:avLst>
              <a:gd name="adj1" fmla="val 50000"/>
              <a:gd name="adj2" fmla="val 0"/>
            </a:avLst>
          </a:prstGeom>
          <a:solidFill>
            <a:srgbClr val="B8862B"/>
          </a:solidFill>
          <a:ln/>
        </p:spPr>
        <p:txBody>
          <a:bodyPr/>
          <a:lstStyle/>
          <a:p>
            <a:endParaRPr lang="en-AE"/>
          </a:p>
        </p:txBody>
      </p:sp>
      <p:sp>
        <p:nvSpPr>
          <p:cNvPr id="21" name="Barbed Wire &amp; Land Mines Text"/>
          <p:cNvSpPr/>
          <p:nvPr/>
        </p:nvSpPr>
        <p:spPr>
          <a:xfrm>
            <a:off x="717200" y="344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&lt;&gt;</a:t>
            </a:r>
            <a:r>
              <a:rPr lang="en-US" sz="1050">
                <a:solidFill>
                  <a:srgbClr val="21323D"/>
                </a:solidFill>
                <a:latin typeface="Calibri" pitchFamily="34" charset="0"/>
                <a:ea typeface="Calibri" pitchFamily="34" charset="-122"/>
                <a:cs typeface="Calibri" pitchFamily="34" charset="-120"/>
              </a:rPr>
              <a:t>  —  Not equal to, e.g. Make &lt;&gt; 'Ford'.</a:t>
            </a:r>
          </a:p>
        </p:txBody>
      </p:sp>
      <p:sp>
        <p:nvSpPr>
          <p:cNvPr id="23" name="Heavy Artillery Card"/>
          <p:cNvSpPr/>
          <p:nvPr/>
        </p:nvSpPr>
        <p:spPr>
          <a:xfrm>
            <a:off x="457200" y="391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24" name="Heavy Artillery Accent"/>
          <p:cNvSpPr/>
          <p:nvPr/>
        </p:nvSpPr>
        <p:spPr>
          <a:xfrm>
            <a:off x="457200" y="3910000"/>
            <a:ext cx="90000" cy="420000"/>
          </a:xfrm>
          <a:prstGeom prst="round2SameRect">
            <a:avLst>
              <a:gd name="adj1" fmla="val 50000"/>
              <a:gd name="adj2" fmla="val 0"/>
            </a:avLst>
          </a:prstGeom>
          <a:solidFill>
            <a:srgbClr val="B8862B"/>
          </a:solidFill>
          <a:ln/>
        </p:spPr>
        <p:txBody>
          <a:bodyPr/>
          <a:lstStyle/>
          <a:p>
            <a:endParaRPr lang="en-AE"/>
          </a:p>
        </p:txBody>
      </p:sp>
      <p:sp>
        <p:nvSpPr>
          <p:cNvPr id="25" name="Heavy Artillery Text"/>
          <p:cNvSpPr/>
          <p:nvPr/>
        </p:nvSpPr>
        <p:spPr>
          <a:xfrm>
            <a:off x="717200" y="391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Between</a:t>
            </a:r>
            <a:r>
              <a:rPr lang="en-US" sz="1050">
                <a:solidFill>
                  <a:srgbClr val="21323D"/>
                </a:solidFill>
                <a:latin typeface="Calibri" pitchFamily="34" charset="0"/>
                <a:ea typeface="Calibri" pitchFamily="34" charset="-122"/>
                <a:cs typeface="Calibri" pitchFamily="34" charset="-120"/>
              </a:rPr>
              <a:t>  —  A value range, e.g. Between 2015 And 2020.</a:t>
            </a:r>
          </a:p>
        </p:txBody>
      </p:sp>
      <p:sp>
        <p:nvSpPr>
          <p:cNvPr id="27" name="SEA Header"/>
          <p:cNvSpPr/>
          <p:nvPr/>
        </p:nvSpPr>
        <p:spPr>
          <a:xfrm>
            <a:off x="457200" y="4430000"/>
            <a:ext cx="5943600" cy="440000"/>
          </a:xfrm>
          <a:prstGeom prst="roundRect">
            <a:avLst>
              <a:gd name="adj" fmla="val 14000"/>
            </a:avLst>
          </a:prstGeom>
          <a:solidFill>
            <a:srgbClr val="0F7BA8"/>
          </a:solidFill>
          <a:ln/>
        </p:spPr>
        <p:txBody>
          <a:bodyPr wrap="square" lIns="200000" tIns="0" rIns="200000" bIns="0" rtlCol="0" anchor="ctr"/>
          <a:lstStyle/>
          <a:p>
            <a:pPr marL="0" indent="0">
              <a:buNone/>
            </a:pPr>
            <a:r>
              <a:rPr lang="en-US" sz="1250" b="1" spc="120">
                <a:solidFill>
                  <a:srgbClr val="FFFFFF"/>
                </a:solidFill>
                <a:latin typeface="Calibri" pitchFamily="34" charset="0"/>
                <a:ea typeface="Calibri" pitchFamily="34" charset="-122"/>
                <a:cs typeface="Calibri" pitchFamily="34" charset="-120"/>
              </a:rPr>
              <a:t>TEXT &amp; WILDCARDS</a:t>
            </a:r>
            <a:r>
              <a:rPr lang="en-US" sz="1050">
                <a:solidFill>
                  <a:srgbClr val="EAF5FB"/>
                </a:solidFill>
                <a:latin typeface="Calibri" pitchFamily="34" charset="0"/>
                <a:ea typeface="Calibri" pitchFamily="34" charset="-122"/>
                <a:cs typeface="Calibri" pitchFamily="34" charset="-120"/>
              </a:rPr>
              <a:t>   ·   match words and patterns</a:t>
            </a:r>
          </a:p>
        </p:txBody>
      </p:sp>
      <p:sp>
        <p:nvSpPr>
          <p:cNvPr id="28" name="U-Boats Card"/>
          <p:cNvSpPr/>
          <p:nvPr/>
        </p:nvSpPr>
        <p:spPr>
          <a:xfrm>
            <a:off x="457200" y="491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29" name="U-Boats Accent"/>
          <p:cNvSpPr/>
          <p:nvPr/>
        </p:nvSpPr>
        <p:spPr>
          <a:xfrm>
            <a:off x="457200" y="4910000"/>
            <a:ext cx="90000" cy="420000"/>
          </a:xfrm>
          <a:prstGeom prst="round2SameRect">
            <a:avLst>
              <a:gd name="adj1" fmla="val 50000"/>
              <a:gd name="adj2" fmla="val 0"/>
            </a:avLst>
          </a:prstGeom>
          <a:solidFill>
            <a:srgbClr val="0F7BA8"/>
          </a:solidFill>
          <a:ln/>
        </p:spPr>
        <p:txBody>
          <a:bodyPr/>
          <a:lstStyle/>
          <a:p>
            <a:endParaRPr lang="en-AE"/>
          </a:p>
        </p:txBody>
      </p:sp>
      <p:sp>
        <p:nvSpPr>
          <p:cNvPr id="30" name="U-Boats Text"/>
          <p:cNvSpPr/>
          <p:nvPr/>
        </p:nvSpPr>
        <p:spPr>
          <a:xfrm>
            <a:off x="717200" y="491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Like</a:t>
            </a:r>
            <a:r>
              <a:rPr lang="en-US" sz="1050">
                <a:solidFill>
                  <a:srgbClr val="21323D"/>
                </a:solidFill>
                <a:latin typeface="Calibri" pitchFamily="34" charset="0"/>
                <a:ea typeface="Calibri" pitchFamily="34" charset="-122"/>
                <a:cs typeface="Calibri" pitchFamily="34" charset="-120"/>
              </a:rPr>
              <a:t>  —  Pattern match on text, e.g. Like 'Toy*'.</a:t>
            </a:r>
          </a:p>
        </p:txBody>
      </p:sp>
      <p:sp>
        <p:nvSpPr>
          <p:cNvPr id="32" name="Battleships &amp; Dreadnoughts Card"/>
          <p:cNvSpPr/>
          <p:nvPr/>
        </p:nvSpPr>
        <p:spPr>
          <a:xfrm>
            <a:off x="457200" y="538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33" name="Battleships &amp; Dreadnoughts Accent"/>
          <p:cNvSpPr/>
          <p:nvPr/>
        </p:nvSpPr>
        <p:spPr>
          <a:xfrm>
            <a:off x="457200" y="5380000"/>
            <a:ext cx="90000" cy="420000"/>
          </a:xfrm>
          <a:prstGeom prst="round2SameRect">
            <a:avLst>
              <a:gd name="adj1" fmla="val 50000"/>
              <a:gd name="adj2" fmla="val 0"/>
            </a:avLst>
          </a:prstGeom>
          <a:solidFill>
            <a:srgbClr val="0F7BA8"/>
          </a:solidFill>
          <a:ln/>
        </p:spPr>
        <p:txBody>
          <a:bodyPr/>
          <a:lstStyle/>
          <a:p>
            <a:endParaRPr lang="en-AE"/>
          </a:p>
        </p:txBody>
      </p:sp>
      <p:sp>
        <p:nvSpPr>
          <p:cNvPr id="34" name="Battleships &amp; Dreadnoughts Text"/>
          <p:cNvSpPr/>
          <p:nvPr/>
        </p:nvSpPr>
        <p:spPr>
          <a:xfrm>
            <a:off x="717200" y="538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 and ?</a:t>
            </a:r>
            <a:r>
              <a:rPr lang="en-US" sz="1050">
                <a:solidFill>
                  <a:srgbClr val="21323D"/>
                </a:solidFill>
                <a:latin typeface="Calibri" pitchFamily="34" charset="0"/>
                <a:ea typeface="Calibri" pitchFamily="34" charset="-122"/>
                <a:cs typeface="Calibri" pitchFamily="34" charset="-120"/>
              </a:rPr>
              <a:t>  —  * matches any characters; ? matches one character.</a:t>
            </a:r>
          </a:p>
        </p:txBody>
      </p:sp>
      <p:sp>
        <p:nvSpPr>
          <p:cNvPr id="36" name="AIR Header"/>
          <p:cNvSpPr/>
          <p:nvPr/>
        </p:nvSpPr>
        <p:spPr>
          <a:xfrm>
            <a:off x="457200" y="5900000"/>
            <a:ext cx="5943600" cy="440000"/>
          </a:xfrm>
          <a:prstGeom prst="roundRect">
            <a:avLst>
              <a:gd name="adj" fmla="val 14000"/>
            </a:avLst>
          </a:prstGeom>
          <a:solidFill>
            <a:srgbClr val="159BD2"/>
          </a:solidFill>
          <a:ln/>
        </p:spPr>
        <p:txBody>
          <a:bodyPr wrap="square" lIns="200000" tIns="0" rIns="200000" bIns="0" rtlCol="0" anchor="ctr"/>
          <a:lstStyle/>
          <a:p>
            <a:pPr marL="0" indent="0">
              <a:buNone/>
            </a:pPr>
            <a:r>
              <a:rPr lang="en-US" sz="1250" b="1" spc="120">
                <a:solidFill>
                  <a:srgbClr val="FFFFFF"/>
                </a:solidFill>
                <a:latin typeface="Calibri" pitchFamily="34" charset="0"/>
                <a:ea typeface="Calibri" pitchFamily="34" charset="-122"/>
                <a:cs typeface="Calibri" pitchFamily="34" charset="-120"/>
              </a:rPr>
              <a:t>COMBINING CONDITIONS</a:t>
            </a:r>
            <a:r>
              <a:rPr lang="en-US" sz="1050">
                <a:solidFill>
                  <a:srgbClr val="EAF5FB"/>
                </a:solidFill>
                <a:latin typeface="Calibri" pitchFamily="34" charset="0"/>
                <a:ea typeface="Calibri" pitchFamily="34" charset="-122"/>
                <a:cs typeface="Calibri" pitchFamily="34" charset="-120"/>
              </a:rPr>
              <a:t>   ·   use And / Or to refine results</a:t>
            </a:r>
          </a:p>
        </p:txBody>
      </p:sp>
      <p:sp>
        <p:nvSpPr>
          <p:cNvPr id="37" name="Fighter Planes Card"/>
          <p:cNvSpPr/>
          <p:nvPr/>
        </p:nvSpPr>
        <p:spPr>
          <a:xfrm>
            <a:off x="457200" y="638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38" name="Fighter Planes Accent"/>
          <p:cNvSpPr/>
          <p:nvPr/>
        </p:nvSpPr>
        <p:spPr>
          <a:xfrm>
            <a:off x="457200" y="6380000"/>
            <a:ext cx="90000" cy="420000"/>
          </a:xfrm>
          <a:prstGeom prst="round2SameRect">
            <a:avLst>
              <a:gd name="adj1" fmla="val 50000"/>
              <a:gd name="adj2" fmla="val 0"/>
            </a:avLst>
          </a:prstGeom>
          <a:solidFill>
            <a:srgbClr val="159BD2"/>
          </a:solidFill>
          <a:ln/>
        </p:spPr>
        <p:txBody>
          <a:bodyPr/>
          <a:lstStyle/>
          <a:p>
            <a:endParaRPr lang="en-AE"/>
          </a:p>
        </p:txBody>
      </p:sp>
      <p:sp>
        <p:nvSpPr>
          <p:cNvPr id="39" name="Fighter Planes Text"/>
          <p:cNvSpPr/>
          <p:nvPr/>
        </p:nvSpPr>
        <p:spPr>
          <a:xfrm>
            <a:off x="717200" y="638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And</a:t>
            </a:r>
            <a:r>
              <a:rPr lang="en-US" sz="1050">
                <a:solidFill>
                  <a:srgbClr val="21323D"/>
                </a:solidFill>
                <a:latin typeface="Calibri" pitchFamily="34" charset="0"/>
                <a:ea typeface="Calibri" pitchFamily="34" charset="-122"/>
                <a:cs typeface="Calibri" pitchFamily="34" charset="-120"/>
              </a:rPr>
              <a:t>  —  Both conditions must be true, on the same row.</a:t>
            </a:r>
          </a:p>
        </p:txBody>
      </p:sp>
      <p:sp>
        <p:nvSpPr>
          <p:cNvPr id="41" name="Zeppelins &amp; Bombers Card"/>
          <p:cNvSpPr/>
          <p:nvPr/>
        </p:nvSpPr>
        <p:spPr>
          <a:xfrm>
            <a:off x="457200" y="6850000"/>
            <a:ext cx="5943600" cy="420000"/>
          </a:xfrm>
          <a:prstGeom prst="roundRect">
            <a:avLst>
              <a:gd name="adj" fmla="val 12000"/>
            </a:avLst>
          </a:prstGeom>
          <a:solidFill>
            <a:srgbClr val="F4FBFE"/>
          </a:solidFill>
          <a:ln w="12700">
            <a:solidFill>
              <a:srgbClr val="D7EBF5"/>
            </a:solidFill>
          </a:ln>
        </p:spPr>
        <p:txBody>
          <a:bodyPr/>
          <a:lstStyle/>
          <a:p>
            <a:endParaRPr lang="en-AE"/>
          </a:p>
        </p:txBody>
      </p:sp>
      <p:sp>
        <p:nvSpPr>
          <p:cNvPr id="42" name="Zeppelins &amp; Bombers Accent"/>
          <p:cNvSpPr/>
          <p:nvPr/>
        </p:nvSpPr>
        <p:spPr>
          <a:xfrm>
            <a:off x="457200" y="6850000"/>
            <a:ext cx="90000" cy="420000"/>
          </a:xfrm>
          <a:prstGeom prst="round2SameRect">
            <a:avLst>
              <a:gd name="adj1" fmla="val 50000"/>
              <a:gd name="adj2" fmla="val 0"/>
            </a:avLst>
          </a:prstGeom>
          <a:solidFill>
            <a:srgbClr val="159BD2"/>
          </a:solidFill>
          <a:ln/>
        </p:spPr>
        <p:txBody>
          <a:bodyPr/>
          <a:lstStyle/>
          <a:p>
            <a:endParaRPr lang="en-AE"/>
          </a:p>
        </p:txBody>
      </p:sp>
      <p:sp>
        <p:nvSpPr>
          <p:cNvPr id="43" name="Zeppelins &amp; Bombers Text"/>
          <p:cNvSpPr/>
          <p:nvPr/>
        </p:nvSpPr>
        <p:spPr>
          <a:xfrm>
            <a:off x="717200" y="6850000"/>
            <a:ext cx="5483600" cy="420000"/>
          </a:xfrm>
          <a:prstGeom prst="rect">
            <a:avLst/>
          </a:prstGeom>
          <a:noFill/>
          <a:ln/>
        </p:spPr>
        <p:txBody>
          <a:bodyPr wrap="square" lIns="0" tIns="0" rIns="0" bIns="0" rtlCol="0" anchor="ctr"/>
          <a:lstStyle/>
          <a:p>
            <a:pPr marL="0" indent="0">
              <a:buNone/>
            </a:pPr>
            <a:r>
              <a:rPr lang="en-US" sz="1200" b="1">
                <a:solidFill>
                  <a:srgbClr val="10324B"/>
                </a:solidFill>
                <a:latin typeface="Georgia" pitchFamily="34" charset="0"/>
                <a:ea typeface="Georgia" pitchFamily="34" charset="-122"/>
                <a:cs typeface="Georgia" pitchFamily="34" charset="-120"/>
              </a:rPr>
              <a:t>Or</a:t>
            </a:r>
            <a:r>
              <a:rPr lang="en-US" sz="1050">
                <a:solidFill>
                  <a:srgbClr val="21323D"/>
                </a:solidFill>
                <a:latin typeface="Calibri" pitchFamily="34" charset="0"/>
                <a:ea typeface="Calibri" pitchFamily="34" charset="-122"/>
                <a:cs typeface="Calibri" pitchFamily="34" charset="-120"/>
              </a:rPr>
              <a:t>  —  Either condition can be true, on the next row.</a:t>
            </a:r>
          </a:p>
        </p:txBody>
      </p:sp>
      <p:pic>
        <p:nvPicPr>
          <p:cNvPr id="70" name="Detente Photo"/>
          <p:cNvPicPr>
            <a:picLocks noChangeAspect="1"/>
          </p:cNvPicPr>
          <p:nvPr/>
        </p:nvPicPr>
        <p:blipFill>
          <a:blip r:embed="rId4"/>
          <a:srcRect t="32376" b="32376"/>
          <a:stretch>
            <a:fillRect/>
          </a:stretch>
        </p:blipFill>
        <p:spPr>
          <a:xfrm>
            <a:off x="457200" y="7360000"/>
            <a:ext cx="5943600" cy="1170000"/>
          </a:xfrm>
          <a:prstGeom prst="rect">
            <a:avLst/>
          </a:prstGeom>
        </p:spPr>
      </p:pic>
      <p:sp>
        <p:nvSpPr>
          <p:cNvPr id="72" name="Photo Caption"/>
          <p:cNvSpPr/>
          <p:nvPr/>
        </p:nvSpPr>
        <p:spPr>
          <a:xfrm>
            <a:off x="457200" y="8545000"/>
            <a:ext cx="5943600" cy="150000"/>
          </a:xfrm>
          <a:prstGeom prst="rect">
            <a:avLst/>
          </a:prstGeom>
          <a:noFill/>
          <a:ln/>
        </p:spPr>
        <p:txBody>
          <a:bodyPr wrap="square" lIns="0" tIns="0" rIns="0" bIns="0" rtlCol="0" anchor="t"/>
          <a:lstStyle/>
          <a:p>
            <a:pPr marL="0" indent="0" algn="ctr">
              <a:buNone/>
            </a:pPr>
            <a:r>
              <a:rPr lang="en-US" sz="750" i="1">
                <a:solidFill>
                  <a:srgbClr val="5A6B76"/>
                </a:solidFill>
                <a:latin typeface="Georgia" pitchFamily="34" charset="0"/>
                <a:ea typeface="Georgia" pitchFamily="34" charset="-122"/>
                <a:cs typeface="Georgia" pitchFamily="34" charset="-120"/>
              </a:rPr>
              <a:t>Well-chosen criteria return exactly the records you need.</a:t>
            </a:r>
            <a:endParaRPr lang="en-US" sz="7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arving Up the Map">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4 · QUERIES</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Query Toolkit</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Sorting &amp; Summarising Data</a:t>
            </a:r>
            <a:endParaRPr lang="en-US" sz="2400"/>
          </a:p>
        </p:txBody>
      </p:sp>
      <p:sp>
        <p:nvSpPr>
          <p:cNvPr id="8" name="Intro"/>
          <p:cNvSpPr/>
          <p:nvPr/>
        </p:nvSpPr>
        <p:spPr>
          <a:xfrm>
            <a:off x="457200" y="1500000"/>
            <a:ext cx="5943600" cy="60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Beyond simple filters, queries can sort, summarise and calculate to turn raw records into answers.</a:t>
            </a:r>
            <a:endParaRPr lang="en-US" sz="1200"/>
          </a:p>
        </p:txBody>
      </p:sp>
      <p:sp>
        <p:nvSpPr>
          <p:cNvPr id="10" name="Card A BG"/>
          <p:cNvSpPr/>
          <p:nvPr/>
        </p:nvSpPr>
        <p:spPr>
          <a:xfrm>
            <a:off x="4572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200000"/>
            <a:ext cx="80000" cy="2010000"/>
          </a:xfrm>
          <a:prstGeom prst="rect">
            <a:avLst/>
          </a:prstGeom>
          <a:solidFill>
            <a:srgbClr val="159BD2"/>
          </a:solidFill>
          <a:ln/>
        </p:spPr>
        <p:txBody>
          <a:bodyPr/>
          <a:lstStyle/>
          <a:p>
            <a:endParaRPr lang="en-AE"/>
          </a:p>
        </p:txBody>
      </p:sp>
      <p:sp>
        <p:nvSpPr>
          <p:cNvPr id="12" name="Card A Text"/>
          <p:cNvSpPr/>
          <p:nvPr/>
        </p:nvSpPr>
        <p:spPr>
          <a:xfrm>
            <a:off x="6772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Sort</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Order results</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Set Ascending or Descending in the Sort row to order your records.</a:t>
            </a:r>
          </a:p>
        </p:txBody>
      </p:sp>
      <p:sp>
        <p:nvSpPr>
          <p:cNvPr id="20" name="Card B BG"/>
          <p:cNvSpPr/>
          <p:nvPr/>
        </p:nvSpPr>
        <p:spPr>
          <a:xfrm>
            <a:off x="3530800" y="220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200000"/>
            <a:ext cx="80000" cy="2010000"/>
          </a:xfrm>
          <a:prstGeom prst="rect">
            <a:avLst/>
          </a:prstGeom>
          <a:solidFill>
            <a:srgbClr val="159BD2"/>
          </a:solidFill>
          <a:ln/>
        </p:spPr>
        <p:txBody>
          <a:bodyPr/>
          <a:lstStyle/>
          <a:p>
            <a:endParaRPr lang="en-AE"/>
          </a:p>
        </p:txBody>
      </p:sp>
      <p:sp>
        <p:nvSpPr>
          <p:cNvPr id="22" name="Card B Text"/>
          <p:cNvSpPr/>
          <p:nvPr/>
        </p:nvSpPr>
        <p:spPr>
          <a:xfrm>
            <a:off x="3750800" y="236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Show</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Display or hide</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Untick the Show box to filter on a field without displaying it in results.</a:t>
            </a:r>
          </a:p>
        </p:txBody>
      </p:sp>
      <p:sp>
        <p:nvSpPr>
          <p:cNvPr id="30" name="Card C BG"/>
          <p:cNvSpPr/>
          <p:nvPr/>
        </p:nvSpPr>
        <p:spPr>
          <a:xfrm>
            <a:off x="4572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4330000"/>
            <a:ext cx="80000" cy="2010000"/>
          </a:xfrm>
          <a:prstGeom prst="rect">
            <a:avLst/>
          </a:prstGeom>
          <a:solidFill>
            <a:srgbClr val="159BD2"/>
          </a:solidFill>
          <a:ln/>
        </p:spPr>
        <p:txBody>
          <a:bodyPr/>
          <a:lstStyle/>
          <a:p>
            <a:endParaRPr lang="en-AE"/>
          </a:p>
        </p:txBody>
      </p:sp>
      <p:sp>
        <p:nvSpPr>
          <p:cNvPr id="32" name="Card C Text"/>
          <p:cNvSpPr/>
          <p:nvPr/>
        </p:nvSpPr>
        <p:spPr>
          <a:xfrm>
            <a:off x="6772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Totals</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Summarise data</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Turn on Totals to Count, Sum or Average records grouped by a field.</a:t>
            </a:r>
          </a:p>
        </p:txBody>
      </p:sp>
      <p:sp>
        <p:nvSpPr>
          <p:cNvPr id="40" name="Card D BG"/>
          <p:cNvSpPr/>
          <p:nvPr/>
        </p:nvSpPr>
        <p:spPr>
          <a:xfrm>
            <a:off x="3530800" y="4330000"/>
            <a:ext cx="2870000" cy="201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4330000"/>
            <a:ext cx="80000" cy="2010000"/>
          </a:xfrm>
          <a:prstGeom prst="rect">
            <a:avLst/>
          </a:prstGeom>
          <a:solidFill>
            <a:srgbClr val="159BD2"/>
          </a:solidFill>
          <a:ln/>
        </p:spPr>
        <p:txBody>
          <a:bodyPr/>
          <a:lstStyle/>
          <a:p>
            <a:endParaRPr lang="en-AE"/>
          </a:p>
        </p:txBody>
      </p:sp>
      <p:sp>
        <p:nvSpPr>
          <p:cNvPr id="42" name="Card D Text"/>
          <p:cNvSpPr/>
          <p:nvPr/>
        </p:nvSpPr>
        <p:spPr>
          <a:xfrm>
            <a:off x="3750800" y="4490000"/>
            <a:ext cx="2470000" cy="1700000"/>
          </a:xfrm>
          <a:prstGeom prst="rect">
            <a:avLst/>
          </a:prstGeom>
          <a:noFill/>
          <a:ln/>
        </p:spPr>
        <p:txBody>
          <a:bodyPr wrap="square" lIns="0" tIns="0" rIns="0" bIns="0" rtlCol="0" anchor="t"/>
          <a:lstStyle/>
          <a:p>
            <a:pPr marL="0" indent="0">
              <a:buNone/>
            </a:pPr>
            <a:r>
              <a:rPr lang="en-US" sz="1350" b="1">
                <a:solidFill>
                  <a:srgbClr val="10324B"/>
                </a:solidFill>
                <a:latin typeface="Georgia" pitchFamily="34" charset="0"/>
                <a:ea typeface="Georgia" pitchFamily="34" charset="-122"/>
                <a:cs typeface="Georgia" pitchFamily="34" charset="-120"/>
              </a:rPr>
              <a:t>Calculated</a:t>
            </a:r>
          </a:p>
          <a:p>
            <a:pPr marL="0" indent="0">
              <a:spcBef>
                <a:spcPts val="200"/>
              </a:spcBef>
              <a:buNone/>
            </a:pPr>
            <a:r>
              <a:rPr lang="en-US" sz="1000" b="1" spc="40">
                <a:solidFill>
                  <a:srgbClr val="0F7BA8"/>
                </a:solidFill>
                <a:latin typeface="Calibri" pitchFamily="34" charset="0"/>
                <a:ea typeface="Calibri" pitchFamily="34" charset="-122"/>
                <a:cs typeface="Calibri" pitchFamily="34" charset="-120"/>
              </a:rPr>
              <a:t>New fields</a:t>
            </a:r>
          </a:p>
          <a:p>
            <a:pPr marL="0" indent="0">
              <a:spcBef>
                <a:spcPts val="500"/>
              </a:spcBef>
              <a:buNone/>
            </a:pPr>
            <a:r>
              <a:rPr lang="en-US" sz="1050">
                <a:solidFill>
                  <a:srgbClr val="21323D"/>
                </a:solidFill>
                <a:latin typeface="Calibri" pitchFamily="34" charset="0"/>
                <a:ea typeface="Calibri" pitchFamily="34" charset="-122"/>
                <a:cs typeface="Calibri" pitchFamily="34" charset="-120"/>
              </a:rPr>
              <a:t>Create a calculated field, e.g. Profit: [Price]-[Cost], right in the grid.</a:t>
            </a:r>
          </a:p>
        </p:txBody>
      </p:sp>
      <p:sp>
        <p:nvSpPr>
          <p:cNvPr id="50" name="Fact Band"/>
          <p:cNvSpPr/>
          <p:nvPr/>
        </p:nvSpPr>
        <p:spPr>
          <a:xfrm>
            <a:off x="0" y="6650000"/>
            <a:ext cx="6858000" cy="1900000"/>
          </a:xfrm>
          <a:prstGeom prst="rect">
            <a:avLst/>
          </a:prstGeom>
          <a:solidFill>
            <a:srgbClr val="EAF5FB"/>
          </a:solidFill>
          <a:ln/>
        </p:spPr>
        <p:txBody>
          <a:bodyPr/>
          <a:lstStyle/>
          <a:p>
            <a:endParaRPr lang="en-AE"/>
          </a:p>
        </p:txBody>
      </p:sp>
      <p:sp>
        <p:nvSpPr>
          <p:cNvPr id="51" name="Fact Text"/>
          <p:cNvSpPr/>
          <p:nvPr/>
        </p:nvSpPr>
        <p:spPr>
          <a:xfrm>
            <a:off x="2980000" y="6830000"/>
            <a:ext cx="3420000" cy="16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SAVING</a:t>
            </a:r>
          </a:p>
          <a:p>
            <a:pPr marL="0" indent="0">
              <a:spcBef>
                <a:spcPts val="400"/>
              </a:spcBef>
              <a:buNone/>
            </a:pPr>
            <a:r>
              <a:rPr lang="en-US" sz="850" i="1">
                <a:solidFill>
                  <a:srgbClr val="5A6B76"/>
                </a:solidFill>
                <a:latin typeface="Calibri" pitchFamily="34" charset="0"/>
                <a:ea typeface="Calibri" pitchFamily="34" charset="-122"/>
                <a:cs typeface="Calibri" pitchFamily="34" charset="-120"/>
              </a:rPr>
              <a:t>Save each query with a clear name, e.g. qryCarsOver10000.</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Names starting with qry keep queries easy to find.</a:t>
            </a:r>
          </a:p>
          <a:p>
            <a:pPr marL="0" indent="0">
              <a:spcBef>
                <a:spcPts val="400"/>
              </a:spcBef>
              <a:buNone/>
            </a:pPr>
            <a:r>
              <a:rPr lang="en-US" sz="1050">
                <a:solidFill>
                  <a:srgbClr val="10324B"/>
                </a:solidFill>
                <a:latin typeface="Calibri" pitchFamily="34" charset="0"/>
                <a:ea typeface="Calibri" pitchFamily="34" charset="-122"/>
                <a:cs typeface="Calibri" pitchFamily="34" charset="-120"/>
              </a:rPr>
              <a:t>A saved query shows live data, so re-running it reflects the latest records.</a:t>
            </a:r>
            <a:endParaRPr lang="en-US" sz="1150"/>
          </a:p>
        </p:txBody>
      </p:sp>
      <p:pic>
        <p:nvPicPr>
          <p:cNvPr id="52" name="Source Photo" descr="Data table sorted with a totals row"/>
          <p:cNvPicPr>
            <a:picLocks noChangeAspect="1"/>
          </p:cNvPicPr>
          <p:nvPr/>
        </p:nvPicPr>
        <p:blipFill>
          <a:blip r:embed="rId4"/>
          <a:stretch>
            <a:fillRect/>
          </a:stretch>
        </p:blipFill>
        <p:spPr>
          <a:xfrm>
            <a:off x="457200" y="6892858"/>
            <a:ext cx="2360000" cy="1414283"/>
          </a:xfrm>
          <a:prstGeom prst="rect">
            <a:avLst/>
          </a:prstGeom>
          <a:ln w="12700">
            <a:solidFill>
              <a:srgbClr val="0F7BA8"/>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Worked Example: Source A">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Eyebrow"/>
          <p:cNvSpPr/>
          <p:nvPr/>
        </p:nvSpPr>
        <p:spPr>
          <a:xfrm>
            <a:off x="457200" y="420624"/>
            <a:ext cx="42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5 · FORMS</a:t>
            </a:r>
            <a:endParaRPr lang="en-US" sz="1100"/>
          </a:p>
        </p:txBody>
      </p:sp>
      <p:sp>
        <p:nvSpPr>
          <p:cNvPr id="4" name="Pill BG"/>
          <p:cNvSpPr/>
          <p:nvPr/>
        </p:nvSpPr>
        <p:spPr>
          <a:xfrm>
            <a:off x="4900000" y="384048"/>
            <a:ext cx="150080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Worked Example</a:t>
            </a:r>
            <a:endParaRPr lang="en-US" sz="1100"/>
          </a:p>
        </p:txBody>
      </p:sp>
      <p:sp>
        <p:nvSpPr>
          <p:cNvPr id="5" name="Title"/>
          <p:cNvSpPr/>
          <p:nvPr/>
        </p:nvSpPr>
        <p:spPr>
          <a:xfrm>
            <a:off x="457200" y="792555"/>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Forms: Entering Data with Ease</a:t>
            </a:r>
            <a:endParaRPr lang="en-US" sz="2500"/>
          </a:p>
        </p:txBody>
      </p:sp>
      <p:sp>
        <p:nvSpPr>
          <p:cNvPr id="6" name="Source Band BG"/>
          <p:cNvSpPr/>
          <p:nvPr/>
        </p:nvSpPr>
        <p:spPr>
          <a:xfrm>
            <a:off x="457200" y="1460000"/>
            <a:ext cx="5943600" cy="1640000"/>
          </a:xfrm>
          <a:prstGeom prst="roundRect">
            <a:avLst>
              <a:gd name="adj" fmla="val 4000"/>
            </a:avLst>
          </a:prstGeom>
          <a:solidFill>
            <a:srgbClr val="EAF5FB"/>
          </a:solidFill>
          <a:ln/>
        </p:spPr>
        <p:txBody>
          <a:bodyPr/>
          <a:lstStyle/>
          <a:p>
            <a:endParaRPr lang="en-AE"/>
          </a:p>
        </p:txBody>
      </p:sp>
      <p:pic>
        <p:nvPicPr>
          <p:cNvPr id="7" name="Source Image" descr="Data entry form with input fields"/>
          <p:cNvPicPr>
            <a:picLocks noChangeAspect="1"/>
          </p:cNvPicPr>
          <p:nvPr/>
        </p:nvPicPr>
        <p:blipFill>
          <a:blip r:embed="rId3"/>
          <a:stretch>
            <a:fillRect/>
          </a:stretch>
        </p:blipFill>
        <p:spPr>
          <a:xfrm>
            <a:off x="954833" y="1610000"/>
            <a:ext cx="1670332" cy="1340000"/>
          </a:xfrm>
          <a:prstGeom prst="rect">
            <a:avLst/>
          </a:prstGeom>
          <a:ln w="12700">
            <a:solidFill>
              <a:srgbClr val="0F7BA8"/>
            </a:solidFill>
          </a:ln>
        </p:spPr>
      </p:pic>
      <p:sp>
        <p:nvSpPr>
          <p:cNvPr id="8" name="Source Text"/>
          <p:cNvSpPr/>
          <p:nvPr/>
        </p:nvSpPr>
        <p:spPr>
          <a:xfrm>
            <a:off x="3110000" y="1590000"/>
            <a:ext cx="3160000" cy="1400000"/>
          </a:xfrm>
          <a:prstGeom prst="rect">
            <a:avLst/>
          </a:prstGeom>
          <a:noFill/>
          <a:ln/>
        </p:spPr>
        <p:txBody>
          <a:bodyPr wrap="square" lIns="0" tIns="0" rIns="0" bIns="0" rtlCol="0" anchor="ctr"/>
          <a:lstStyle/>
          <a:p>
            <a:pPr marL="0" indent="0">
              <a:buNone/>
            </a:pPr>
            <a:r>
              <a:rPr lang="en-US" sz="900" b="1" kern="0" spc="150">
                <a:solidFill>
                  <a:srgbClr val="0F7BA8"/>
                </a:solidFill>
                <a:latin typeface="Calibri" pitchFamily="34" charset="0"/>
                <a:ea typeface="Calibri" pitchFamily="34" charset="-122"/>
                <a:cs typeface="Calibri" pitchFamily="34" charset="-120"/>
              </a:rPr>
              <a:t>TWO WAYS TO BUILD</a:t>
            </a:r>
          </a:p>
          <a:p>
            <a:pPr marL="0" indent="0">
              <a:spcBef>
                <a:spcPts val="400"/>
              </a:spcBef>
              <a:buNone/>
            </a:pPr>
            <a:r>
              <a:rPr lang="en-US" sz="950" i="1">
                <a:solidFill>
                  <a:srgbClr val="5A6B76"/>
                </a:solidFill>
                <a:latin typeface="Calibri" pitchFamily="34" charset="0"/>
                <a:ea typeface="Calibri" pitchFamily="34" charset="-122"/>
                <a:cs typeface="Calibri" pitchFamily="34" charset="-120"/>
              </a:rPr>
              <a:t>The Form Wizard builds a form fast.</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Design View gives you full control.</a:t>
            </a:r>
          </a:p>
          <a:p>
            <a:pPr marL="0" indent="0">
              <a:spcBef>
                <a:spcPts val="500"/>
              </a:spcBef>
              <a:buNone/>
            </a:pPr>
            <a:r>
              <a:rPr lang="en-US" sz="950" b="1">
                <a:solidFill>
                  <a:srgbClr val="10324B"/>
                </a:solidFill>
                <a:latin typeface="Calibri" pitchFamily="34" charset="0"/>
                <a:ea typeface="Calibri" pitchFamily="34" charset="-122"/>
                <a:cs typeface="Calibri" pitchFamily="34" charset="-120"/>
              </a:rPr>
              <a:t>Both edit the same underlying form.</a:t>
            </a:r>
          </a:p>
        </p:txBody>
      </p:sp>
      <p:sp>
        <p:nvSpPr>
          <p:cNvPr id="20" name="Card 1 BG"/>
          <p:cNvSpPr/>
          <p:nvPr/>
        </p:nvSpPr>
        <p:spPr>
          <a:xfrm>
            <a:off x="457200" y="3250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21" name="Card 1 Accent"/>
          <p:cNvSpPr/>
          <p:nvPr/>
        </p:nvSpPr>
        <p:spPr>
          <a:xfrm>
            <a:off x="457200" y="3250000"/>
            <a:ext cx="100584" cy="1245000"/>
          </a:xfrm>
          <a:prstGeom prst="rect">
            <a:avLst/>
          </a:prstGeom>
          <a:solidFill>
            <a:srgbClr val="159BD2"/>
          </a:solidFill>
          <a:ln/>
        </p:spPr>
        <p:txBody>
          <a:bodyPr/>
          <a:lstStyle/>
          <a:p>
            <a:endParaRPr lang="en-AE"/>
          </a:p>
        </p:txBody>
      </p:sp>
      <p:sp>
        <p:nvSpPr>
          <p:cNvPr id="22" name="Card 1 Text"/>
          <p:cNvSpPr/>
          <p:nvPr/>
        </p:nvSpPr>
        <p:spPr>
          <a:xfrm>
            <a:off x="700000" y="3390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1 · CHOOSE THE SOURCE</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Set tblCars as the record source so the form shows the car fields.</a:t>
            </a:r>
          </a:p>
        </p:txBody>
      </p:sp>
      <p:sp>
        <p:nvSpPr>
          <p:cNvPr id="30" name="Card 2 BG"/>
          <p:cNvSpPr/>
          <p:nvPr/>
        </p:nvSpPr>
        <p:spPr>
          <a:xfrm>
            <a:off x="457200" y="4615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31" name="Card 2 Accent"/>
          <p:cNvSpPr/>
          <p:nvPr/>
        </p:nvSpPr>
        <p:spPr>
          <a:xfrm>
            <a:off x="457200" y="4615000"/>
            <a:ext cx="100584" cy="1245000"/>
          </a:xfrm>
          <a:prstGeom prst="rect">
            <a:avLst/>
          </a:prstGeom>
          <a:solidFill>
            <a:srgbClr val="0F7BA8"/>
          </a:solidFill>
          <a:ln/>
        </p:spPr>
        <p:txBody>
          <a:bodyPr/>
          <a:lstStyle/>
          <a:p>
            <a:endParaRPr lang="en-AE"/>
          </a:p>
        </p:txBody>
      </p:sp>
      <p:sp>
        <p:nvSpPr>
          <p:cNvPr id="32" name="Card 2 Text"/>
          <p:cNvSpPr/>
          <p:nvPr/>
        </p:nvSpPr>
        <p:spPr>
          <a:xfrm>
            <a:off x="700000" y="4755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2 · PICK THE FIELDS</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Add Make, Model, Year and Price to the form layout.</a:t>
            </a:r>
          </a:p>
        </p:txBody>
      </p:sp>
      <p:sp>
        <p:nvSpPr>
          <p:cNvPr id="40" name="Card 3 BG"/>
          <p:cNvSpPr/>
          <p:nvPr/>
        </p:nvSpPr>
        <p:spPr>
          <a:xfrm>
            <a:off x="457200" y="5980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41" name="Card 3 Accent"/>
          <p:cNvSpPr/>
          <p:nvPr/>
        </p:nvSpPr>
        <p:spPr>
          <a:xfrm>
            <a:off x="457200" y="5980000"/>
            <a:ext cx="100584" cy="1245000"/>
          </a:xfrm>
          <a:prstGeom prst="rect">
            <a:avLst/>
          </a:prstGeom>
          <a:solidFill>
            <a:srgbClr val="B8862B"/>
          </a:solidFill>
          <a:ln/>
        </p:spPr>
        <p:txBody>
          <a:bodyPr/>
          <a:lstStyle/>
          <a:p>
            <a:endParaRPr lang="en-AE"/>
          </a:p>
        </p:txBody>
      </p:sp>
      <p:sp>
        <p:nvSpPr>
          <p:cNvPr id="42" name="Card 3 Text"/>
          <p:cNvSpPr/>
          <p:nvPr/>
        </p:nvSpPr>
        <p:spPr>
          <a:xfrm>
            <a:off x="700000" y="6120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3 · ARRANGE CONTROLS</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Line up labels and text boxes so the form is clear and easy to read.</a:t>
            </a:r>
          </a:p>
        </p:txBody>
      </p:sp>
      <p:sp>
        <p:nvSpPr>
          <p:cNvPr id="50" name="Card 4 BG"/>
          <p:cNvSpPr/>
          <p:nvPr/>
        </p:nvSpPr>
        <p:spPr>
          <a:xfrm>
            <a:off x="457200" y="7345000"/>
            <a:ext cx="5943600" cy="1245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51" name="Card 4 Accent"/>
          <p:cNvSpPr/>
          <p:nvPr/>
        </p:nvSpPr>
        <p:spPr>
          <a:xfrm>
            <a:off x="457200" y="7345000"/>
            <a:ext cx="100584" cy="1245000"/>
          </a:xfrm>
          <a:prstGeom prst="rect">
            <a:avLst/>
          </a:prstGeom>
          <a:solidFill>
            <a:srgbClr val="10324B"/>
          </a:solidFill>
          <a:ln/>
        </p:spPr>
        <p:txBody>
          <a:bodyPr/>
          <a:lstStyle/>
          <a:p>
            <a:endParaRPr lang="en-AE"/>
          </a:p>
        </p:txBody>
      </p:sp>
      <p:sp>
        <p:nvSpPr>
          <p:cNvPr id="52" name="Card 4 Text"/>
          <p:cNvSpPr/>
          <p:nvPr/>
        </p:nvSpPr>
        <p:spPr>
          <a:xfrm>
            <a:off x="700000" y="7485000"/>
            <a:ext cx="5500000" cy="1000000"/>
          </a:xfrm>
          <a:prstGeom prst="rect">
            <a:avLst/>
          </a:prstGeom>
          <a:noFill/>
          <a:ln/>
        </p:spPr>
        <p:txBody>
          <a:bodyPr wrap="square" lIns="0" tIns="0" rIns="0" bIns="0" rtlCol="0" anchor="t"/>
          <a:lstStyle/>
          <a:p>
            <a:pPr marL="0" indent="0">
              <a:buNone/>
            </a:pPr>
            <a:r>
              <a:rPr lang="en-US" sz="1150" b="1">
                <a:solidFill>
                  <a:srgbClr val="0F7BA8"/>
                </a:solidFill>
                <a:latin typeface="Georgia" pitchFamily="34" charset="0"/>
                <a:ea typeface="Georgia" pitchFamily="34" charset="-122"/>
                <a:cs typeface="Georgia" pitchFamily="34" charset="-120"/>
              </a:rPr>
              <a:t>4 · ADD NAVIGATION</a:t>
            </a:r>
          </a:p>
          <a:p>
            <a:pPr marL="0" indent="0">
              <a:spcBef>
                <a:spcPts val="300"/>
              </a:spcBef>
              <a:buNone/>
            </a:pPr>
            <a:r>
              <a:rPr lang="en-US" sz="1000">
                <a:solidFill>
                  <a:srgbClr val="21323D"/>
                </a:solidFill>
                <a:latin typeface="Calibri" pitchFamily="34" charset="0"/>
                <a:ea typeface="Calibri" pitchFamily="34" charset="-122"/>
                <a:cs typeface="Calibri" pitchFamily="34" charset="-120"/>
              </a:rPr>
              <a:t>Use the record buttons to move through, add and save cars.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324B"/>
        </a:solidFill>
        <a:effectLst/>
      </p:bgPr>
    </p:bg>
    <p:spTree>
      <p:nvGrpSpPr>
        <p:cNvPr id="1" name=""/>
        <p:cNvGrpSpPr/>
        <p:nvPr/>
      </p:nvGrpSpPr>
      <p:grpSpPr>
        <a:xfrm>
          <a:off x="0" y="0"/>
          <a:ext cx="0" cy="0"/>
          <a:chOff x="0" y="0"/>
          <a:chExt cx="0" cy="0"/>
        </a:xfrm>
      </p:grpSpPr>
      <p:sp>
        <p:nvSpPr>
          <p:cNvPr id="2" name="Shape 0"/>
          <p:cNvSpPr/>
          <p:nvPr/>
        </p:nvSpPr>
        <p:spPr>
          <a:xfrm>
            <a:off x="0" y="3246120"/>
            <a:ext cx="6858000" cy="32004"/>
          </a:xfrm>
          <a:prstGeom prst="rect">
            <a:avLst/>
          </a:prstGeom>
          <a:solidFill>
            <a:srgbClr val="159BD2"/>
          </a:solidFill>
          <a:ln/>
        </p:spPr>
        <p:txBody>
          <a:bodyPr/>
          <a:lstStyle/>
          <a:p>
            <a:endParaRPr lang="en-AE"/>
          </a:p>
        </p:txBody>
      </p:sp>
      <p:sp>
        <p:nvSpPr>
          <p:cNvPr id="3" name="Text 1"/>
          <p:cNvSpPr/>
          <p:nvPr/>
        </p:nvSpPr>
        <p:spPr>
          <a:xfrm>
            <a:off x="548640" y="105156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MODULES 5 &amp; 6 · FORMS &amp; REPORTS</a:t>
            </a:r>
            <a:endParaRPr lang="en-US" sz="1200"/>
          </a:p>
        </p:txBody>
      </p:sp>
      <p:sp>
        <p:nvSpPr>
          <p:cNvPr id="4" name="Text 2"/>
          <p:cNvSpPr/>
          <p:nvPr/>
        </p:nvSpPr>
        <p:spPr>
          <a:xfrm>
            <a:off x="457200" y="1417320"/>
            <a:ext cx="5943600" cy="1371600"/>
          </a:xfrm>
          <a:prstGeom prst="rect">
            <a:avLst/>
          </a:prstGeom>
          <a:noFill/>
          <a:ln/>
        </p:spPr>
        <p:txBody>
          <a:bodyPr wrap="square" lIns="0" tIns="0" rIns="0" bIns="0" rtlCol="0" anchor="ctr"/>
          <a:lstStyle/>
          <a:p>
            <a:pPr marL="0" indent="0" algn="ctr">
              <a:lnSpc>
                <a:spcPct val="95000"/>
              </a:lnSpc>
              <a:buNone/>
            </a:pPr>
            <a:r>
              <a:rPr lang="en-US" sz="3800" b="1">
                <a:solidFill>
                  <a:srgbClr val="FFFFFF"/>
                </a:solidFill>
                <a:latin typeface="Georgia" pitchFamily="34" charset="0"/>
                <a:ea typeface="Georgia" pitchFamily="34" charset="-122"/>
                <a:cs typeface="Georgia" pitchFamily="34" charset="-120"/>
              </a:rPr>
              <a:t>Forms &amp; Reports</a:t>
            </a:r>
            <a:endParaRPr lang="en-US" sz="3800"/>
          </a:p>
          <a:p>
            <a:pPr marL="0" indent="0" algn="ctr">
              <a:lnSpc>
                <a:spcPct val="95000"/>
              </a:lnSpc>
              <a:buNone/>
            </a:pPr>
            <a:endParaRPr lang="en-US" sz="3800"/>
          </a:p>
        </p:txBody>
      </p:sp>
      <p:sp>
        <p:nvSpPr>
          <p:cNvPr id="5" name="Shape 3"/>
          <p:cNvSpPr/>
          <p:nvPr/>
        </p:nvSpPr>
        <p:spPr>
          <a:xfrm>
            <a:off x="1005840" y="3749040"/>
            <a:ext cx="1965960" cy="777240"/>
          </a:xfrm>
          <a:prstGeom prst="roundRect">
            <a:avLst>
              <a:gd name="adj" fmla="val 9412"/>
            </a:avLst>
          </a:prstGeom>
          <a:solidFill>
            <a:srgbClr val="EAF4FA"/>
          </a:solidFill>
          <a:ln w="12700">
            <a:solidFill>
              <a:srgbClr val="2E84AE"/>
            </a:solidFill>
            <a:prstDash val="solid"/>
          </a:ln>
        </p:spPr>
        <p:txBody>
          <a:bodyPr/>
          <a:lstStyle/>
          <a:p>
            <a:endParaRPr lang="en-AE"/>
          </a:p>
        </p:txBody>
      </p:sp>
      <p:sp>
        <p:nvSpPr>
          <p:cNvPr id="6" name="Text 4"/>
          <p:cNvSpPr/>
          <p:nvPr/>
        </p:nvSpPr>
        <p:spPr>
          <a:xfrm>
            <a:off x="1005840" y="3749040"/>
            <a:ext cx="1965960" cy="777240"/>
          </a:xfrm>
          <a:prstGeom prst="rect">
            <a:avLst/>
          </a:prstGeom>
          <a:noFill/>
          <a:ln/>
        </p:spPr>
        <p:txBody>
          <a:bodyPr wrap="square" lIns="0" tIns="0" rIns="0" bIns="0" rtlCol="0" anchor="ctr"/>
          <a:lstStyle/>
          <a:p>
            <a:pPr marL="0" indent="0" algn="ctr">
              <a:buNone/>
            </a:pPr>
            <a:r>
              <a:rPr lang="en-US" sz="1300" b="1">
                <a:solidFill>
                  <a:srgbClr val="1C4E70"/>
                </a:solidFill>
                <a:latin typeface="Georgia" pitchFamily="34" charset="0"/>
                <a:ea typeface="Georgia" pitchFamily="34" charset="-122"/>
                <a:cs typeface="Georgia" pitchFamily="34" charset="-120"/>
              </a:rPr>
              <a:t>FORM</a:t>
            </a:r>
            <a:endParaRPr lang="en-US" sz="1300"/>
          </a:p>
        </p:txBody>
      </p:sp>
      <p:sp>
        <p:nvSpPr>
          <p:cNvPr id="7" name="Shape 5"/>
          <p:cNvSpPr/>
          <p:nvPr/>
        </p:nvSpPr>
        <p:spPr>
          <a:xfrm>
            <a:off x="3081528" y="3991356"/>
            <a:ext cx="694944" cy="292608"/>
          </a:xfrm>
          <a:prstGeom prst="rightArrow">
            <a:avLst/>
          </a:prstGeom>
          <a:solidFill>
            <a:srgbClr val="159BD2"/>
          </a:solidFill>
          <a:ln/>
        </p:spPr>
        <p:txBody>
          <a:bodyPr/>
          <a:lstStyle/>
          <a:p>
            <a:endParaRPr lang="en-AE"/>
          </a:p>
        </p:txBody>
      </p:sp>
      <p:sp>
        <p:nvSpPr>
          <p:cNvPr id="8" name="Shape 6"/>
          <p:cNvSpPr/>
          <p:nvPr/>
        </p:nvSpPr>
        <p:spPr>
          <a:xfrm>
            <a:off x="3886200" y="3749040"/>
            <a:ext cx="1965960" cy="777240"/>
          </a:xfrm>
          <a:prstGeom prst="roundRect">
            <a:avLst>
              <a:gd name="adj" fmla="val 9412"/>
            </a:avLst>
          </a:prstGeom>
          <a:solidFill>
            <a:srgbClr val="FBF3EA"/>
          </a:solidFill>
          <a:ln w="12700">
            <a:solidFill>
              <a:srgbClr val="B8862B"/>
            </a:solidFill>
            <a:prstDash val="solid"/>
          </a:ln>
        </p:spPr>
        <p:txBody>
          <a:bodyPr/>
          <a:lstStyle/>
          <a:p>
            <a:endParaRPr lang="en-AE"/>
          </a:p>
        </p:txBody>
      </p:sp>
      <p:sp>
        <p:nvSpPr>
          <p:cNvPr id="9" name="Text 7"/>
          <p:cNvSpPr/>
          <p:nvPr/>
        </p:nvSpPr>
        <p:spPr>
          <a:xfrm>
            <a:off x="3886200" y="3749040"/>
            <a:ext cx="1965960" cy="777240"/>
          </a:xfrm>
          <a:prstGeom prst="rect">
            <a:avLst/>
          </a:prstGeom>
          <a:noFill/>
          <a:ln/>
        </p:spPr>
        <p:txBody>
          <a:bodyPr wrap="square" lIns="0" tIns="0" rIns="0" bIns="0" rtlCol="0" anchor="ctr"/>
          <a:lstStyle/>
          <a:p>
            <a:pPr marL="0" indent="0" algn="ctr">
              <a:buNone/>
            </a:pPr>
            <a:r>
              <a:rPr lang="en-US" sz="1300" b="1">
                <a:solidFill>
                  <a:srgbClr val="8A5A18"/>
                </a:solidFill>
                <a:latin typeface="Georgia" pitchFamily="34" charset="0"/>
                <a:ea typeface="Georgia" pitchFamily="34" charset="-122"/>
                <a:cs typeface="Georgia" pitchFamily="34" charset="-120"/>
              </a:rPr>
              <a:t>REPORT</a:t>
            </a:r>
            <a:endParaRPr lang="en-US" sz="1300"/>
          </a:p>
        </p:txBody>
      </p:sp>
      <p:sp>
        <p:nvSpPr>
          <p:cNvPr id="10" name="Text 8"/>
          <p:cNvSpPr/>
          <p:nvPr/>
        </p:nvSpPr>
        <p:spPr>
          <a:xfrm>
            <a:off x="822960" y="4754880"/>
            <a:ext cx="5212080" cy="548640"/>
          </a:xfrm>
          <a:prstGeom prst="rect">
            <a:avLst/>
          </a:prstGeom>
          <a:noFill/>
          <a:ln/>
        </p:spPr>
        <p:txBody>
          <a:bodyPr wrap="square" lIns="0" tIns="0" rIns="0" bIns="0" rtlCol="0" anchor="ctr"/>
          <a:lstStyle/>
          <a:p>
            <a:pPr marL="0" indent="0" algn="ctr">
              <a:buNone/>
            </a:pPr>
            <a:r>
              <a:rPr lang="en-US" sz="1600" i="1">
                <a:solidFill>
                  <a:srgbClr val="CFE9F5"/>
                </a:solidFill>
                <a:latin typeface="Georgia" pitchFamily="34" charset="0"/>
                <a:ea typeface="Georgia" pitchFamily="34" charset="-122"/>
                <a:cs typeface="Georgia" pitchFamily="34" charset="-120"/>
              </a:rPr>
              <a:t>Capture data cleanly with forms, then present it professionally with reports.</a:t>
            </a:r>
            <a:endParaRPr lang="en-US" sz="1600"/>
          </a:p>
        </p:txBody>
      </p:sp>
      <p:sp>
        <p:nvSpPr>
          <p:cNvPr id="11" name="Text 9"/>
          <p:cNvSpPr/>
          <p:nvPr/>
        </p:nvSpPr>
        <p:spPr>
          <a:xfrm>
            <a:off x="822960" y="5486400"/>
            <a:ext cx="5212080" cy="64008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Design forms for easy data entry, then build reports to group, summarise and print.</a:t>
            </a:r>
            <a:endParaRPr lang="en-US" sz="1250"/>
          </a:p>
        </p:txBody>
      </p:sp>
      <p:sp>
        <p:nvSpPr>
          <p:cNvPr id="12" name="Shape 10"/>
          <p:cNvSpPr/>
          <p:nvPr/>
        </p:nvSpPr>
        <p:spPr>
          <a:xfrm>
            <a:off x="1293876" y="6848856"/>
            <a:ext cx="978408" cy="978408"/>
          </a:xfrm>
          <a:prstGeom prst="ellipse">
            <a:avLst/>
          </a:prstGeom>
          <a:solidFill>
            <a:srgbClr val="FFFFFF"/>
          </a:solidFill>
          <a:ln/>
        </p:spPr>
        <p:txBody>
          <a:bodyPr/>
          <a:lstStyle/>
          <a:p>
            <a:endParaRPr lang="en-AE"/>
          </a:p>
        </p:txBody>
      </p:sp>
      <p:pic>
        <p:nvPicPr>
          <p:cNvPr id="13" name="Image 0" descr="/agent/turn10/workspace/assets/badges/23.png"/>
          <p:cNvPicPr>
            <a:picLocks noChangeAspect="1"/>
          </p:cNvPicPr>
          <p:nvPr/>
        </p:nvPicPr>
        <p:blipFill>
          <a:blip r:embed="rId3"/>
          <a:stretch>
            <a:fillRect/>
          </a:stretch>
        </p:blipFill>
        <p:spPr>
          <a:xfrm>
            <a:off x="1348740" y="7012305"/>
            <a:ext cx="868680" cy="651510"/>
          </a:xfrm>
          <a:prstGeom prst="rect">
            <a:avLst/>
          </a:prstGeom>
        </p:spPr>
      </p:pic>
      <p:sp>
        <p:nvSpPr>
          <p:cNvPr id="14" name="Text 11"/>
          <p:cNvSpPr/>
          <p:nvPr/>
        </p:nvSpPr>
        <p:spPr>
          <a:xfrm>
            <a:off x="102870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Entry</a:t>
            </a:r>
            <a:endParaRPr lang="en-US" sz="900"/>
          </a:p>
        </p:txBody>
      </p:sp>
      <p:sp>
        <p:nvSpPr>
          <p:cNvPr id="15" name="Shape 12"/>
          <p:cNvSpPr/>
          <p:nvPr/>
        </p:nvSpPr>
        <p:spPr>
          <a:xfrm>
            <a:off x="2939796" y="6848856"/>
            <a:ext cx="978408" cy="978408"/>
          </a:xfrm>
          <a:prstGeom prst="ellipse">
            <a:avLst/>
          </a:prstGeom>
          <a:solidFill>
            <a:srgbClr val="FFFFFF"/>
          </a:solidFill>
          <a:ln/>
        </p:spPr>
        <p:txBody>
          <a:bodyPr/>
          <a:lstStyle/>
          <a:p>
            <a:endParaRPr lang="en-AE"/>
          </a:p>
        </p:txBody>
      </p:sp>
      <p:pic>
        <p:nvPicPr>
          <p:cNvPr id="16" name="Image 1" descr="/agent/turn10/workspace/assets/badges/29.png"/>
          <p:cNvPicPr>
            <a:picLocks noChangeAspect="1"/>
          </p:cNvPicPr>
          <p:nvPr/>
        </p:nvPicPr>
        <p:blipFill>
          <a:blip r:embed="rId4"/>
          <a:stretch>
            <a:fillRect/>
          </a:stretch>
        </p:blipFill>
        <p:spPr>
          <a:xfrm>
            <a:off x="2994660" y="7009892"/>
            <a:ext cx="868680" cy="656336"/>
          </a:xfrm>
          <a:prstGeom prst="rect">
            <a:avLst/>
          </a:prstGeom>
        </p:spPr>
      </p:pic>
      <p:sp>
        <p:nvSpPr>
          <p:cNvPr id="17" name="Text 13"/>
          <p:cNvSpPr/>
          <p:nvPr/>
        </p:nvSpPr>
        <p:spPr>
          <a:xfrm>
            <a:off x="267462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Grouping</a:t>
            </a:r>
            <a:endParaRPr lang="en-US" sz="900"/>
          </a:p>
        </p:txBody>
      </p:sp>
      <p:sp>
        <p:nvSpPr>
          <p:cNvPr id="18" name="Shape 14"/>
          <p:cNvSpPr/>
          <p:nvPr/>
        </p:nvSpPr>
        <p:spPr>
          <a:xfrm>
            <a:off x="4585716" y="6848856"/>
            <a:ext cx="978408" cy="978408"/>
          </a:xfrm>
          <a:prstGeom prst="ellipse">
            <a:avLst/>
          </a:prstGeom>
          <a:solidFill>
            <a:srgbClr val="FFFFFF"/>
          </a:solidFill>
          <a:ln/>
        </p:spPr>
        <p:txBody>
          <a:bodyPr/>
          <a:lstStyle/>
          <a:p>
            <a:endParaRPr lang="en-AE"/>
          </a:p>
        </p:txBody>
      </p:sp>
      <p:pic>
        <p:nvPicPr>
          <p:cNvPr id="19" name="Image 2" descr="/agent/turn10/workspace/assets/badges/32.png"/>
          <p:cNvPicPr>
            <a:picLocks noChangeAspect="1"/>
          </p:cNvPicPr>
          <p:nvPr/>
        </p:nvPicPr>
        <p:blipFill>
          <a:blip r:embed="rId5"/>
          <a:stretch>
            <a:fillRect/>
          </a:stretch>
        </p:blipFill>
        <p:spPr>
          <a:xfrm>
            <a:off x="4640580" y="6906265"/>
            <a:ext cx="868680" cy="863590"/>
          </a:xfrm>
          <a:prstGeom prst="rect">
            <a:avLst/>
          </a:prstGeom>
        </p:spPr>
      </p:pic>
      <p:sp>
        <p:nvSpPr>
          <p:cNvPr id="20" name="Text 15"/>
          <p:cNvSpPr/>
          <p:nvPr/>
        </p:nvSpPr>
        <p:spPr>
          <a:xfrm>
            <a:off x="4320540" y="7818120"/>
            <a:ext cx="1508760" cy="365760"/>
          </a:xfrm>
          <a:prstGeom prst="rect">
            <a:avLst/>
          </a:prstGeom>
          <a:noFill/>
          <a:ln/>
        </p:spPr>
        <p:txBody>
          <a:bodyPr wrap="square" lIns="0" tIns="0" rIns="0" bIns="0" rtlCol="0" anchor="ctr"/>
          <a:lstStyle/>
          <a:p>
            <a:pPr marL="0" indent="0" algn="ctr">
              <a:lnSpc>
                <a:spcPct val="95000"/>
              </a:lnSpc>
              <a:buNone/>
            </a:pPr>
            <a:r>
              <a:rPr lang="en-US" sz="900" b="1">
                <a:solidFill>
                  <a:srgbClr val="BFE6F6"/>
                </a:solidFill>
                <a:latin typeface="Calibri" pitchFamily="34" charset="0"/>
                <a:ea typeface="Calibri" pitchFamily="34" charset="-122"/>
                <a:cs typeface="Calibri" pitchFamily="34" charset="-120"/>
              </a:rPr>
              <a:t>Printing</a:t>
            </a:r>
            <a:endParaRPr lang="en-US" sz="900"/>
          </a:p>
        </p:txBody>
      </p:sp>
      <p:sp>
        <p:nvSpPr>
          <p:cNvPr id="22" name="Text 17">
            <a:hlinkClick r:id="rId6"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a:solidFill>
                  <a:srgbClr val="7FC7E6"/>
                </a:solidFill>
                <a:latin typeface="Calibri" pitchFamily="34" charset="0"/>
                <a:ea typeface="Calibri" pitchFamily="34" charset="-122"/>
                <a:cs typeface="Calibri" pitchFamily="34" charset="-120"/>
                <a:hlinkClick r:id="rId6" action="ppaction://hlinksldjump" tooltip="Back to roadmap">
                  <a:extLst>
                    <a:ext uri="{A12FA001-AC4F-418D-AE19-62706E023703}">
                      <ahyp:hlinkClr xmlns:ahyp="http://schemas.microsoft.com/office/drawing/2018/hyperlinkcolor" val="tx"/>
                    </a:ext>
                  </a:extLst>
                </a:hlinkClick>
              </a:rPr>
              <a:t>◂ Roadmap</a:t>
            </a:r>
            <a:endParaRPr lang="en-US" sz="10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Life in the Trenches">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90000"/>
            <a:ext cx="1645920" cy="26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5 · FORMS</a:t>
            </a:r>
            <a:endParaRPr lang="en-US" sz="1100"/>
          </a:p>
        </p:txBody>
      </p:sp>
      <p:sp>
        <p:nvSpPr>
          <p:cNvPr id="5" name="Pill"/>
          <p:cNvSpPr/>
          <p:nvPr/>
        </p:nvSpPr>
        <p:spPr>
          <a:xfrm>
            <a:off x="4617720" y="552000"/>
            <a:ext cx="178308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Define It</a:t>
            </a:r>
            <a:endParaRPr lang="en-US" sz="1100"/>
          </a:p>
        </p:txBody>
      </p:sp>
      <p:sp>
        <p:nvSpPr>
          <p:cNvPr id="6" name="Title"/>
          <p:cNvSpPr/>
          <p:nvPr/>
        </p:nvSpPr>
        <p:spPr>
          <a:xfrm>
            <a:off x="457200" y="920000"/>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Form Controls &amp; Properties</a:t>
            </a:r>
            <a:endParaRPr lang="en-US" sz="2500"/>
          </a:p>
        </p:txBody>
      </p:sp>
      <p:sp>
        <p:nvSpPr>
          <p:cNvPr id="7" name="Intro"/>
          <p:cNvSpPr/>
          <p:nvPr/>
        </p:nvSpPr>
        <p:spPr>
          <a:xfrm>
            <a:off x="457200" y="1500000"/>
            <a:ext cx="5943600" cy="45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Forms give you a friendly window for adding, editing and viewing records one at a time.</a:t>
            </a:r>
            <a:endParaRPr lang="en-US" sz="1150"/>
          </a:p>
        </p:txBody>
      </p:sp>
      <p:sp>
        <p:nvSpPr>
          <p:cNvPr id="10" name="Card A"/>
          <p:cNvSpPr/>
          <p:nvPr/>
        </p:nvSpPr>
        <p:spPr>
          <a:xfrm>
            <a:off x="4572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010000"/>
            <a:ext cx="80000" cy="1450000"/>
          </a:xfrm>
          <a:prstGeom prst="rect">
            <a:avLst/>
          </a:prstGeom>
          <a:solidFill>
            <a:srgbClr val="159BD2"/>
          </a:solidFill>
          <a:ln/>
        </p:spPr>
        <p:txBody>
          <a:bodyPr/>
          <a:lstStyle/>
          <a:p>
            <a:endParaRPr lang="en-AE"/>
          </a:p>
        </p:txBody>
      </p:sp>
      <p:sp>
        <p:nvSpPr>
          <p:cNvPr id="12" name="Card A Text"/>
          <p:cNvSpPr/>
          <p:nvPr/>
        </p:nvSpPr>
        <p:spPr>
          <a:xfrm>
            <a:off x="6572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TEXT BOX</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Bound control</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Displays and edits one field from the table, such as Make or Price.</a:t>
            </a:r>
          </a:p>
        </p:txBody>
      </p:sp>
      <p:sp>
        <p:nvSpPr>
          <p:cNvPr id="20" name="Card B"/>
          <p:cNvSpPr/>
          <p:nvPr/>
        </p:nvSpPr>
        <p:spPr>
          <a:xfrm>
            <a:off x="35308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010000"/>
            <a:ext cx="80000" cy="1450000"/>
          </a:xfrm>
          <a:prstGeom prst="rect">
            <a:avLst/>
          </a:prstGeom>
          <a:solidFill>
            <a:srgbClr val="159BD2"/>
          </a:solidFill>
          <a:ln/>
        </p:spPr>
        <p:txBody>
          <a:bodyPr/>
          <a:lstStyle/>
          <a:p>
            <a:endParaRPr lang="en-AE"/>
          </a:p>
        </p:txBody>
      </p:sp>
      <p:sp>
        <p:nvSpPr>
          <p:cNvPr id="22" name="Card B Text"/>
          <p:cNvSpPr/>
          <p:nvPr/>
        </p:nvSpPr>
        <p:spPr>
          <a:xfrm>
            <a:off x="37308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LABEL</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Caption</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Fixed text that names a field so users know what to type.</a:t>
            </a:r>
          </a:p>
        </p:txBody>
      </p:sp>
      <p:sp>
        <p:nvSpPr>
          <p:cNvPr id="30" name="Card C"/>
          <p:cNvSpPr/>
          <p:nvPr/>
        </p:nvSpPr>
        <p:spPr>
          <a:xfrm>
            <a:off x="4572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3600000"/>
            <a:ext cx="80000" cy="1450000"/>
          </a:xfrm>
          <a:prstGeom prst="rect">
            <a:avLst/>
          </a:prstGeom>
          <a:solidFill>
            <a:srgbClr val="159BD2"/>
          </a:solidFill>
          <a:ln/>
        </p:spPr>
        <p:txBody>
          <a:bodyPr/>
          <a:lstStyle/>
          <a:p>
            <a:endParaRPr lang="en-AE"/>
          </a:p>
        </p:txBody>
      </p:sp>
      <p:sp>
        <p:nvSpPr>
          <p:cNvPr id="32" name="Card C Text"/>
          <p:cNvSpPr/>
          <p:nvPr/>
        </p:nvSpPr>
        <p:spPr>
          <a:xfrm>
            <a:off x="6572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COMBO BOX</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Drop-down</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Lets users pick a value from a list instead of typing it.</a:t>
            </a:r>
          </a:p>
        </p:txBody>
      </p:sp>
      <p:sp>
        <p:nvSpPr>
          <p:cNvPr id="40" name="Card D"/>
          <p:cNvSpPr/>
          <p:nvPr/>
        </p:nvSpPr>
        <p:spPr>
          <a:xfrm>
            <a:off x="35308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3600000"/>
            <a:ext cx="80000" cy="1450000"/>
          </a:xfrm>
          <a:prstGeom prst="rect">
            <a:avLst/>
          </a:prstGeom>
          <a:solidFill>
            <a:srgbClr val="159BD2"/>
          </a:solidFill>
          <a:ln/>
        </p:spPr>
        <p:txBody>
          <a:bodyPr/>
          <a:lstStyle/>
          <a:p>
            <a:endParaRPr lang="en-AE"/>
          </a:p>
        </p:txBody>
      </p:sp>
      <p:sp>
        <p:nvSpPr>
          <p:cNvPr id="42" name="Card D Text"/>
          <p:cNvSpPr/>
          <p:nvPr/>
        </p:nvSpPr>
        <p:spPr>
          <a:xfrm>
            <a:off x="37308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RECORD SOURCE</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The table</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The table or query the form reads and writes, such as tblCars.</a:t>
            </a:r>
          </a:p>
        </p:txBody>
      </p:sp>
      <p:sp>
        <p:nvSpPr>
          <p:cNvPr id="70" name="Card E"/>
          <p:cNvSpPr/>
          <p:nvPr/>
        </p:nvSpPr>
        <p:spPr>
          <a:xfrm>
            <a:off x="4572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71" name="Card E Accent"/>
          <p:cNvSpPr/>
          <p:nvPr/>
        </p:nvSpPr>
        <p:spPr>
          <a:xfrm>
            <a:off x="457200" y="5190000"/>
            <a:ext cx="80000" cy="1450000"/>
          </a:xfrm>
          <a:prstGeom prst="rect">
            <a:avLst/>
          </a:prstGeom>
          <a:solidFill>
            <a:srgbClr val="159BD2"/>
          </a:solidFill>
          <a:ln/>
        </p:spPr>
        <p:txBody>
          <a:bodyPr/>
          <a:lstStyle/>
          <a:p>
            <a:endParaRPr lang="en-AE"/>
          </a:p>
        </p:txBody>
      </p:sp>
      <p:sp>
        <p:nvSpPr>
          <p:cNvPr id="72" name="Card E Text"/>
          <p:cNvSpPr/>
          <p:nvPr/>
        </p:nvSpPr>
        <p:spPr>
          <a:xfrm>
            <a:off x="6572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COMMAND BUTTON</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Actions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Runs an action such as Save Record or move to the next record.</a:t>
            </a:r>
          </a:p>
        </p:txBody>
      </p:sp>
      <p:sp>
        <p:nvSpPr>
          <p:cNvPr id="80" name="Card F"/>
          <p:cNvSpPr/>
          <p:nvPr/>
        </p:nvSpPr>
        <p:spPr>
          <a:xfrm>
            <a:off x="35308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81" name="Card F Accent"/>
          <p:cNvSpPr/>
          <p:nvPr/>
        </p:nvSpPr>
        <p:spPr>
          <a:xfrm>
            <a:off x="3530800" y="5190000"/>
            <a:ext cx="80000" cy="1450000"/>
          </a:xfrm>
          <a:prstGeom prst="rect">
            <a:avLst/>
          </a:prstGeom>
          <a:solidFill>
            <a:srgbClr val="159BD2"/>
          </a:solidFill>
          <a:ln/>
        </p:spPr>
        <p:txBody>
          <a:bodyPr/>
          <a:lstStyle/>
          <a:p>
            <a:endParaRPr lang="en-AE"/>
          </a:p>
        </p:txBody>
      </p:sp>
      <p:sp>
        <p:nvSpPr>
          <p:cNvPr id="82" name="Card F Text"/>
          <p:cNvSpPr/>
          <p:nvPr/>
        </p:nvSpPr>
        <p:spPr>
          <a:xfrm>
            <a:off x="37308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FORM PROPERTIES</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Fine-tuning</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Set titles, tab order and default view to make data entry quick and clear.</a:t>
            </a:r>
          </a:p>
        </p:txBody>
      </p:sp>
      <p:sp>
        <p:nvSpPr>
          <p:cNvPr id="50" name="Task Band"/>
          <p:cNvSpPr/>
          <p:nvPr/>
        </p:nvSpPr>
        <p:spPr>
          <a:xfrm>
            <a:off x="457200" y="6800000"/>
            <a:ext cx="5943600" cy="1500000"/>
          </a:xfrm>
          <a:prstGeom prst="roundRect">
            <a:avLst>
              <a:gd name="adj" fmla="val 5000"/>
            </a:avLst>
          </a:prstGeom>
          <a:solidFill>
            <a:srgbClr val="10324B"/>
          </a:solidFill>
          <a:ln/>
        </p:spPr>
        <p:txBody>
          <a:bodyPr/>
          <a:lstStyle/>
          <a:p>
            <a:endParaRPr lang="en-AE"/>
          </a:p>
        </p:txBody>
      </p:sp>
      <p:sp>
        <p:nvSpPr>
          <p:cNvPr id="51" name="Task Text"/>
          <p:cNvSpPr/>
          <p:nvPr/>
        </p:nvSpPr>
        <p:spPr>
          <a:xfrm>
            <a:off x="700000" y="6980000"/>
            <a:ext cx="5450000" cy="1160000"/>
          </a:xfrm>
          <a:prstGeom prst="rect">
            <a:avLst/>
          </a:prstGeom>
          <a:noFill/>
          <a:ln/>
        </p:spPr>
        <p:txBody>
          <a:bodyPr wrap="square" lIns="0" tIns="0" rIns="0" bIns="0" rtlCol="0" anchor="t"/>
          <a:lstStyle/>
          <a:p>
            <a:pPr marL="0" indent="0">
              <a:buNone/>
            </a:pPr>
            <a:r>
              <a:rPr lang="en-US" sz="1000" b="1" kern="0" spc="150">
                <a:solidFill>
                  <a:srgbClr val="7FC7E6"/>
                </a:solidFill>
                <a:latin typeface="Calibri" pitchFamily="34" charset="0"/>
                <a:ea typeface="Calibri" pitchFamily="34" charset="-122"/>
                <a:cs typeface="Calibri" pitchFamily="34" charset="-120"/>
              </a:rPr>
              <a:t>REMEMBER</a:t>
            </a:r>
          </a:p>
          <a:p>
            <a:pPr marL="0" indent="0">
              <a:spcBef>
                <a:spcPts val="500"/>
              </a:spcBef>
              <a:buNone/>
            </a:pPr>
            <a:r>
              <a:rPr lang="en-US" sz="1150">
                <a:solidFill>
                  <a:srgbClr val="FFFFFF"/>
                </a:solidFill>
                <a:latin typeface="Calibri" pitchFamily="34" charset="0"/>
                <a:ea typeface="Calibri" pitchFamily="34" charset="-122"/>
                <a:cs typeface="Calibri" pitchFamily="34" charset="-120"/>
              </a:rPr>
              <a:t>Bind each control to the right field, or your data will save to the wrong place.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
          <p:cNvSpPr/>
          <p:nvPr/>
        </p:nvSpPr>
        <p:spPr>
          <a:xfrm>
            <a:off x="0" y="0"/>
            <a:ext cx="6858000" cy="146304"/>
          </a:xfrm>
          <a:prstGeom prst="rect">
            <a:avLst/>
          </a:prstGeom>
          <a:solidFill>
            <a:srgbClr val="159BD2"/>
          </a:solidFill>
          <a:ln/>
        </p:spPr>
        <p:txBody>
          <a:bodyPr/>
          <a:lstStyle/>
          <a:p>
            <a:endParaRPr lang="en-AE"/>
          </a:p>
        </p:txBody>
      </p:sp>
      <p:sp>
        <p:nvSpPr>
          <p:cNvPr id="3" name="tb"/>
          <p:cNvSpPr/>
          <p:nvPr/>
        </p:nvSpPr>
        <p:spPr>
          <a:xfrm>
            <a:off x="457200" y="420624"/>
            <a:ext cx="4300000" cy="274320"/>
          </a:xfrm>
          <a:prstGeom prst="rect">
            <a:avLst/>
          </a:prstGeom>
          <a:noFill/>
          <a:ln/>
        </p:spPr>
        <p:txBody>
          <a:bodyPr wrap="square" lIns="0" tIns="0" rIns="0" bIns="0" rtlCol="0" anchor="ctr"/>
          <a:lstStyle/>
          <a:p>
            <a:pPr marL="0" indent="0">
              <a:buNone/>
            </a:pPr>
            <a:r>
              <a:rPr lang="en-US" sz="1100" b="1" kern="0" spc="200">
                <a:solidFill>
                  <a:srgbClr val="0F7BA8"/>
                </a:solidFill>
                <a:latin typeface="Calibri" pitchFamily="34" charset="0"/>
                <a:ea typeface="Calibri" pitchFamily="34" charset="-122"/>
                <a:cs typeface="Calibri" pitchFamily="34" charset="-120"/>
              </a:rPr>
              <a:t>MODULE 6  ·  REPORTS</a:t>
            </a:r>
          </a:p>
        </p:txBody>
      </p:sp>
      <p:sp>
        <p:nvSpPr>
          <p:cNvPr id="4" name="rr"/>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5" name="tb"/>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Teams Assignment</a:t>
            </a:r>
          </a:p>
        </p:txBody>
      </p:sp>
      <p:sp>
        <p:nvSpPr>
          <p:cNvPr id="6" name="tb"/>
          <p:cNvSpPr/>
          <p:nvPr/>
        </p:nvSpPr>
        <p:spPr>
          <a:xfrm>
            <a:off x="457200" y="676656"/>
            <a:ext cx="4000000" cy="760000"/>
          </a:xfrm>
          <a:prstGeom prst="rect">
            <a:avLst/>
          </a:prstGeom>
          <a:noFill/>
          <a:ln/>
        </p:spPr>
        <p:txBody>
          <a:bodyPr wrap="square" lIns="0" tIns="0" rIns="0" bIns="0" rtlCol="0" anchor="t"/>
          <a:lstStyle/>
          <a:p>
            <a:pPr marL="0" indent="0">
              <a:buNone/>
            </a:pPr>
            <a:r>
              <a:rPr lang="en-US" sz="2200" b="1">
                <a:solidFill>
                  <a:srgbClr val="10324B"/>
                </a:solidFill>
                <a:latin typeface="Georgia" pitchFamily="34" charset="0"/>
                <a:ea typeface="Georgia" pitchFamily="34" charset="-122"/>
                <a:cs typeface="Georgia" pitchFamily="34" charset="-120"/>
              </a:rPr>
              <a:t>Ways to Build a Report</a:t>
            </a:r>
          </a:p>
        </p:txBody>
      </p:sp>
      <p:sp>
        <p:nvSpPr>
          <p:cNvPr id="7" name="tb"/>
          <p:cNvSpPr/>
          <p:nvPr/>
        </p:nvSpPr>
        <p:spPr>
          <a:xfrm>
            <a:off x="457200" y="1480000"/>
            <a:ext cx="5943600" cy="470000"/>
          </a:xfrm>
          <a:prstGeom prst="rect">
            <a:avLst/>
          </a:prstGeom>
          <a:noFill/>
          <a:ln/>
        </p:spPr>
        <p:txBody>
          <a:bodyPr wrap="square" lIns="0" tIns="0" rIns="0" bIns="0" rtlCol="0" anchor="t"/>
          <a:lstStyle/>
          <a:p>
            <a:pPr marL="0" indent="0">
              <a:lnSpc>
                <a:spcPct val="104000"/>
              </a:lnSpc>
              <a:buNone/>
            </a:pPr>
            <a:r>
              <a:rPr lang="en-US" sz="1100">
                <a:solidFill>
                  <a:srgbClr val="21323D"/>
                </a:solidFill>
                <a:latin typeface="Calibri" pitchFamily="34" charset="0"/>
                <a:ea typeface="Calibri" pitchFamily="34" charset="-122"/>
                <a:cs typeface="Calibri" pitchFamily="34" charset="-120"/>
              </a:rPr>
              <a:t>Reports turn your data into a printable, professional document. Access gives you several ways to build them.</a:t>
            </a:r>
          </a:p>
        </p:txBody>
      </p:sp>
      <p:sp>
        <p:nvSpPr>
          <p:cNvPr id="8" name="rr"/>
          <p:cNvSpPr/>
          <p:nvPr/>
        </p:nvSpPr>
        <p:spPr>
          <a:xfrm>
            <a:off x="457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9" name="r"/>
          <p:cNvSpPr/>
          <p:nvPr/>
        </p:nvSpPr>
        <p:spPr>
          <a:xfrm>
            <a:off x="457200" y="2000000"/>
            <a:ext cx="70000" cy="780000"/>
          </a:xfrm>
          <a:prstGeom prst="rect">
            <a:avLst/>
          </a:prstGeom>
          <a:solidFill>
            <a:srgbClr val="159BD2"/>
          </a:solidFill>
          <a:ln/>
        </p:spPr>
        <p:txBody>
          <a:bodyPr/>
          <a:lstStyle/>
          <a:p>
            <a:endParaRPr lang="en-AE"/>
          </a:p>
        </p:txBody>
      </p:sp>
      <p:sp>
        <p:nvSpPr>
          <p:cNvPr id="10" name="tb"/>
          <p:cNvSpPr/>
          <p:nvPr/>
        </p:nvSpPr>
        <p:spPr>
          <a:xfrm>
            <a:off x="637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Report Wizard</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Guides you step by step to pick fields, grouping and layout.</a:t>
            </a:r>
          </a:p>
        </p:txBody>
      </p:sp>
      <p:sp>
        <p:nvSpPr>
          <p:cNvPr id="11" name="rr"/>
          <p:cNvSpPr/>
          <p:nvPr/>
        </p:nvSpPr>
        <p:spPr>
          <a:xfrm>
            <a:off x="3529200" y="200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2" name="r"/>
          <p:cNvSpPr/>
          <p:nvPr/>
        </p:nvSpPr>
        <p:spPr>
          <a:xfrm>
            <a:off x="3529200" y="2000000"/>
            <a:ext cx="70000" cy="780000"/>
          </a:xfrm>
          <a:prstGeom prst="rect">
            <a:avLst/>
          </a:prstGeom>
          <a:solidFill>
            <a:srgbClr val="159BD2"/>
          </a:solidFill>
          <a:ln/>
        </p:spPr>
        <p:txBody>
          <a:bodyPr/>
          <a:lstStyle/>
          <a:p>
            <a:endParaRPr lang="en-AE"/>
          </a:p>
        </p:txBody>
      </p:sp>
      <p:sp>
        <p:nvSpPr>
          <p:cNvPr id="13" name="tb"/>
          <p:cNvSpPr/>
          <p:nvPr/>
        </p:nvSpPr>
        <p:spPr>
          <a:xfrm>
            <a:off x="3709200" y="200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Design View</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Build a report by hand for full control over every section.</a:t>
            </a:r>
          </a:p>
        </p:txBody>
      </p:sp>
      <p:sp>
        <p:nvSpPr>
          <p:cNvPr id="14" name="rr"/>
          <p:cNvSpPr/>
          <p:nvPr/>
        </p:nvSpPr>
        <p:spPr>
          <a:xfrm>
            <a:off x="457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5" name="r"/>
          <p:cNvSpPr/>
          <p:nvPr/>
        </p:nvSpPr>
        <p:spPr>
          <a:xfrm>
            <a:off x="457200" y="2840000"/>
            <a:ext cx="70000" cy="780000"/>
          </a:xfrm>
          <a:prstGeom prst="rect">
            <a:avLst/>
          </a:prstGeom>
          <a:solidFill>
            <a:srgbClr val="159BD2"/>
          </a:solidFill>
          <a:ln/>
        </p:spPr>
        <p:txBody>
          <a:bodyPr/>
          <a:lstStyle/>
          <a:p>
            <a:endParaRPr lang="en-AE"/>
          </a:p>
        </p:txBody>
      </p:sp>
      <p:sp>
        <p:nvSpPr>
          <p:cNvPr id="16" name="tb"/>
          <p:cNvSpPr/>
          <p:nvPr/>
        </p:nvSpPr>
        <p:spPr>
          <a:xfrm>
            <a:off x="637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From a Query</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Base a report on a query so it shows only the records you need.</a:t>
            </a:r>
          </a:p>
        </p:txBody>
      </p:sp>
      <p:sp>
        <p:nvSpPr>
          <p:cNvPr id="17" name="rr"/>
          <p:cNvSpPr/>
          <p:nvPr/>
        </p:nvSpPr>
        <p:spPr>
          <a:xfrm>
            <a:off x="3529200" y="284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18" name="r"/>
          <p:cNvSpPr/>
          <p:nvPr/>
        </p:nvSpPr>
        <p:spPr>
          <a:xfrm>
            <a:off x="3529200" y="2840000"/>
            <a:ext cx="70000" cy="780000"/>
          </a:xfrm>
          <a:prstGeom prst="rect">
            <a:avLst/>
          </a:prstGeom>
          <a:solidFill>
            <a:srgbClr val="159BD2"/>
          </a:solidFill>
          <a:ln/>
        </p:spPr>
        <p:txBody>
          <a:bodyPr/>
          <a:lstStyle/>
          <a:p>
            <a:endParaRPr lang="en-AE"/>
          </a:p>
        </p:txBody>
      </p:sp>
      <p:sp>
        <p:nvSpPr>
          <p:cNvPr id="19" name="tb"/>
          <p:cNvSpPr/>
          <p:nvPr/>
        </p:nvSpPr>
        <p:spPr>
          <a:xfrm>
            <a:off x="3709200" y="284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Grouping</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Group records, such as by Make, to organise the printout.</a:t>
            </a:r>
          </a:p>
        </p:txBody>
      </p:sp>
      <p:sp>
        <p:nvSpPr>
          <p:cNvPr id="20" name="rr"/>
          <p:cNvSpPr/>
          <p:nvPr/>
        </p:nvSpPr>
        <p:spPr>
          <a:xfrm>
            <a:off x="457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1" name="r"/>
          <p:cNvSpPr/>
          <p:nvPr/>
        </p:nvSpPr>
        <p:spPr>
          <a:xfrm>
            <a:off x="457200" y="3680000"/>
            <a:ext cx="70000" cy="780000"/>
          </a:xfrm>
          <a:prstGeom prst="rect">
            <a:avLst/>
          </a:prstGeom>
          <a:solidFill>
            <a:srgbClr val="159BD2"/>
          </a:solidFill>
          <a:ln/>
        </p:spPr>
        <p:txBody>
          <a:bodyPr/>
          <a:lstStyle/>
          <a:p>
            <a:endParaRPr lang="en-AE"/>
          </a:p>
        </p:txBody>
      </p:sp>
      <p:sp>
        <p:nvSpPr>
          <p:cNvPr id="22" name="tb"/>
          <p:cNvSpPr/>
          <p:nvPr/>
        </p:nvSpPr>
        <p:spPr>
          <a:xfrm>
            <a:off x="637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Sorting</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Order records, such as Price low to high, before printing.</a:t>
            </a:r>
          </a:p>
        </p:txBody>
      </p:sp>
      <p:sp>
        <p:nvSpPr>
          <p:cNvPr id="23" name="rr"/>
          <p:cNvSpPr/>
          <p:nvPr/>
        </p:nvSpPr>
        <p:spPr>
          <a:xfrm>
            <a:off x="3529200" y="3680000"/>
            <a:ext cx="2871600" cy="780000"/>
          </a:xfrm>
          <a:prstGeom prst="roundRect">
            <a:avLst>
              <a:gd name="adj" fmla="val 6000"/>
            </a:avLst>
          </a:prstGeom>
          <a:solidFill>
            <a:srgbClr val="F4FBFE"/>
          </a:solidFill>
          <a:ln w="12700">
            <a:solidFill>
              <a:srgbClr val="D7EBF5"/>
            </a:solidFill>
            <a:prstDash val="solid"/>
          </a:ln>
        </p:spPr>
        <p:txBody>
          <a:bodyPr/>
          <a:lstStyle/>
          <a:p>
            <a:endParaRPr lang="en-AE"/>
          </a:p>
        </p:txBody>
      </p:sp>
      <p:sp>
        <p:nvSpPr>
          <p:cNvPr id="24" name="r"/>
          <p:cNvSpPr/>
          <p:nvPr/>
        </p:nvSpPr>
        <p:spPr>
          <a:xfrm>
            <a:off x="3529200" y="3680000"/>
            <a:ext cx="70000" cy="780000"/>
          </a:xfrm>
          <a:prstGeom prst="rect">
            <a:avLst/>
          </a:prstGeom>
          <a:solidFill>
            <a:srgbClr val="159BD2"/>
          </a:solidFill>
          <a:ln/>
        </p:spPr>
        <p:txBody>
          <a:bodyPr/>
          <a:lstStyle/>
          <a:p>
            <a:endParaRPr lang="en-AE"/>
          </a:p>
        </p:txBody>
      </p:sp>
      <p:sp>
        <p:nvSpPr>
          <p:cNvPr id="25" name="tb"/>
          <p:cNvSpPr/>
          <p:nvPr/>
        </p:nvSpPr>
        <p:spPr>
          <a:xfrm>
            <a:off x="3709200" y="3680000"/>
            <a:ext cx="2571600" cy="780000"/>
          </a:xfrm>
          <a:prstGeom prst="rect">
            <a:avLst/>
          </a:prstGeom>
          <a:noFill/>
          <a:ln/>
        </p:spPr>
        <p:txBody>
          <a:bodyPr wrap="square" lIns="0" tIns="0" rIns="0" bIns="0" rtlCol="0" anchor="ctr"/>
          <a:lstStyle/>
          <a:p>
            <a:pPr marL="0" indent="0">
              <a:buNone/>
            </a:pPr>
            <a:r>
              <a:rPr lang="en-US" sz="1000" b="1">
                <a:solidFill>
                  <a:srgbClr val="0F7BA8"/>
                </a:solidFill>
                <a:latin typeface="Georgia" pitchFamily="34" charset="0"/>
                <a:ea typeface="Georgia" pitchFamily="34" charset="-122"/>
                <a:cs typeface="Georgia" pitchFamily="34" charset="-120"/>
              </a:rPr>
              <a:t>Totals</a:t>
            </a:r>
          </a:p>
          <a:p>
            <a:pPr marL="0" indent="0">
              <a:lnSpc>
                <a:spcPct val="100000"/>
              </a:lnSpc>
              <a:buNone/>
            </a:pPr>
            <a:r>
              <a:rPr lang="en-US" sz="880">
                <a:solidFill>
                  <a:srgbClr val="21323D"/>
                </a:solidFill>
                <a:latin typeface="Calibri" pitchFamily="34" charset="0"/>
                <a:ea typeface="Calibri" pitchFamily="34" charset="-122"/>
                <a:cs typeface="Calibri" pitchFamily="34" charset="-120"/>
              </a:rPr>
              <a:t>Add counts and sums in the group or report footer.</a:t>
            </a:r>
          </a:p>
        </p:txBody>
      </p:sp>
      <p:sp>
        <p:nvSpPr>
          <p:cNvPr id="26" name="rr"/>
          <p:cNvSpPr/>
          <p:nvPr/>
        </p:nvSpPr>
        <p:spPr>
          <a:xfrm>
            <a:off x="457200" y="4640000"/>
            <a:ext cx="5943600" cy="2360000"/>
          </a:xfrm>
          <a:prstGeom prst="roundRect">
            <a:avLst>
              <a:gd name="adj" fmla="val 4000"/>
            </a:avLst>
          </a:prstGeom>
          <a:solidFill>
            <a:srgbClr val="F3F6F8"/>
          </a:solidFill>
          <a:ln w="12700">
            <a:solidFill>
              <a:srgbClr val="D7EBF5"/>
            </a:solidFill>
            <a:prstDash val="solid"/>
          </a:ln>
        </p:spPr>
        <p:txBody>
          <a:bodyPr/>
          <a:lstStyle/>
          <a:p>
            <a:endParaRPr lang="en-AE"/>
          </a:p>
        </p:txBody>
      </p:sp>
      <p:sp>
        <p:nvSpPr>
          <p:cNvPr id="27" name="r"/>
          <p:cNvSpPr/>
          <p:nvPr/>
        </p:nvSpPr>
        <p:spPr>
          <a:xfrm>
            <a:off x="457200" y="4640000"/>
            <a:ext cx="100584" cy="2360000"/>
          </a:xfrm>
          <a:prstGeom prst="rect">
            <a:avLst/>
          </a:prstGeom>
          <a:solidFill>
            <a:srgbClr val="159BD2"/>
          </a:solidFill>
          <a:ln/>
        </p:spPr>
        <p:txBody>
          <a:bodyPr/>
          <a:lstStyle/>
          <a:p>
            <a:endParaRPr lang="en-AE"/>
          </a:p>
        </p:txBody>
      </p:sp>
      <p:sp>
        <p:nvSpPr>
          <p:cNvPr id="28" name="tb"/>
          <p:cNvSpPr/>
          <p:nvPr/>
        </p:nvSpPr>
        <p:spPr>
          <a:xfrm>
            <a:off x="700000" y="4790000"/>
            <a:ext cx="5450000" cy="250000"/>
          </a:xfrm>
          <a:prstGeom prst="rect">
            <a:avLst/>
          </a:prstGeom>
          <a:noFill/>
          <a:ln/>
        </p:spPr>
        <p:txBody>
          <a:bodyPr wrap="square" lIns="0" tIns="0" rIns="0" bIns="0" rtlCol="0" anchor="ctr"/>
          <a:lstStyle/>
          <a:p>
            <a:pPr marL="0" indent="0">
              <a:buNone/>
            </a:pPr>
            <a:r>
              <a:rPr lang="en-US" sz="1000" b="1" kern="0" spc="150">
                <a:solidFill>
                  <a:srgbClr val="0F7BA8"/>
                </a:solidFill>
                <a:latin typeface="Calibri" pitchFamily="34" charset="0"/>
                <a:ea typeface="Calibri" pitchFamily="34" charset="-122"/>
                <a:cs typeface="Calibri" pitchFamily="34" charset="-120"/>
              </a:rPr>
              <a:t>KEY VOCABULARY</a:t>
            </a:r>
          </a:p>
        </p:txBody>
      </p:sp>
      <p:sp>
        <p:nvSpPr>
          <p:cNvPr id="29" name="tb"/>
          <p:cNvSpPr/>
          <p:nvPr/>
        </p:nvSpPr>
        <p:spPr>
          <a:xfrm>
            <a:off x="700000" y="511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Detail section</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Shows one row per record from the table or query.</a:t>
            </a:r>
          </a:p>
        </p:txBody>
      </p:sp>
      <p:sp>
        <p:nvSpPr>
          <p:cNvPr id="30" name="tb"/>
          <p:cNvSpPr/>
          <p:nvPr/>
        </p:nvSpPr>
        <p:spPr>
          <a:xfrm>
            <a:off x="700000" y="569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Group header</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Labels each group, such as a Make like Toyota.</a:t>
            </a:r>
          </a:p>
        </p:txBody>
      </p:sp>
      <p:sp>
        <p:nvSpPr>
          <p:cNvPr id="31" name="tb"/>
          <p:cNvSpPr/>
          <p:nvPr/>
        </p:nvSpPr>
        <p:spPr>
          <a:xfrm>
            <a:off x="700000" y="6270000"/>
            <a:ext cx="5500000" cy="520000"/>
          </a:xfrm>
          <a:prstGeom prst="rect">
            <a:avLst/>
          </a:prstGeom>
          <a:noFill/>
          <a:ln/>
        </p:spPr>
        <p:txBody>
          <a:bodyPr wrap="square" lIns="0" tIns="0" rIns="0" bIns="0" rtlCol="0" anchor="t"/>
          <a:lstStyle/>
          <a:p>
            <a:pPr marL="0" indent="0">
              <a:buNone/>
            </a:pPr>
            <a:r>
              <a:rPr lang="en-US" sz="1000" b="1">
                <a:solidFill>
                  <a:srgbClr val="0F7BA8"/>
                </a:solidFill>
                <a:latin typeface="Georgia" pitchFamily="34" charset="0"/>
                <a:ea typeface="Georgia" pitchFamily="34" charset="-122"/>
                <a:cs typeface="Georgia" pitchFamily="34" charset="-120"/>
              </a:rPr>
              <a:t>Report footer</a:t>
            </a:r>
          </a:p>
          <a:p>
            <a:pPr marL="0" indent="0">
              <a:lnSpc>
                <a:spcPct val="100000"/>
              </a:lnSpc>
              <a:buNone/>
            </a:pPr>
            <a:r>
              <a:rPr lang="en-US" sz="1050">
                <a:solidFill>
                  <a:srgbClr val="21323D"/>
                </a:solidFill>
                <a:latin typeface="Calibri" pitchFamily="34" charset="0"/>
                <a:ea typeface="Calibri" pitchFamily="34" charset="-122"/>
                <a:cs typeface="Calibri" pitchFamily="34" charset="-120"/>
              </a:rPr>
              <a:t>Holds grand totals, such as the total number of cars.</a:t>
            </a:r>
          </a:p>
        </p:txBody>
      </p:sp>
      <p:sp>
        <p:nvSpPr>
          <p:cNvPr id="902" name="Source Band"/>
          <p:cNvSpPr/>
          <p:nvPr/>
        </p:nvSpPr>
        <p:spPr>
          <a:xfrm>
            <a:off x="0" y="7050000"/>
            <a:ext cx="6858000" cy="1900000"/>
          </a:xfrm>
          <a:prstGeom prst="rect">
            <a:avLst/>
          </a:prstGeom>
          <a:solidFill>
            <a:srgbClr val="EAF5FB"/>
          </a:solidFill>
          <a:ln/>
        </p:spPr>
        <p:txBody>
          <a:bodyPr/>
          <a:lstStyle/>
          <a:p>
            <a:endParaRPr lang="en-AE"/>
          </a:p>
        </p:txBody>
      </p:sp>
      <p:pic>
        <p:nvPicPr>
          <p:cNvPr id="900" name="Photo"/>
          <p:cNvPicPr>
            <a:picLocks noChangeAspect="1"/>
          </p:cNvPicPr>
          <p:nvPr/>
        </p:nvPicPr>
        <p:blipFill>
          <a:blip r:embed="rId3"/>
          <a:stretch>
            <a:fillRect/>
          </a:stretch>
        </p:blipFill>
        <p:spPr>
          <a:xfrm>
            <a:off x="457200" y="7220000"/>
            <a:ext cx="2360000" cy="1560000"/>
          </a:xfrm>
          <a:prstGeom prst="rect">
            <a:avLst/>
          </a:prstGeom>
          <a:ln w="12700">
            <a:solidFill>
              <a:srgbClr val="0F7BA8"/>
            </a:solidFill>
          </a:ln>
        </p:spPr>
      </p:pic>
      <p:sp>
        <p:nvSpPr>
          <p:cNvPr id="901" name="Photo Caption"/>
          <p:cNvSpPr/>
          <p:nvPr/>
        </p:nvSpPr>
        <p:spPr>
          <a:xfrm>
            <a:off x="2980000" y="7220000"/>
            <a:ext cx="3420000" cy="162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TRY IT · BUILD A CARS REPORT</a:t>
            </a:r>
          </a:p>
          <a:p>
            <a:pPr marL="0" indent="0">
              <a:spcBef>
                <a:spcPts val="400"/>
              </a:spcBef>
              <a:buNone/>
            </a:pPr>
            <a:r>
              <a:rPr lang="en-US" sz="850" i="1">
                <a:solidFill>
                  <a:srgbClr val="5A6B76"/>
                </a:solidFill>
                <a:latin typeface="Calibri" pitchFamily="34" charset="0"/>
                <a:ea typeface="Calibri" pitchFamily="34" charset="-122"/>
                <a:cs typeface="Calibri" pitchFamily="34" charset="-120"/>
              </a:rPr>
              <a:t>Use the Report Wizard on tblCars and group the records by Make.</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Access lays out every car neatly under its Make heading.</a:t>
            </a:r>
          </a:p>
          <a:p>
            <a:pPr marL="0" indent="0">
              <a:spcBef>
                <a:spcPts val="400"/>
              </a:spcBef>
              <a:buNone/>
            </a:pPr>
            <a:r>
              <a:rPr lang="en-US" sz="1000">
                <a:solidFill>
                  <a:srgbClr val="10324B"/>
                </a:solidFill>
                <a:latin typeface="Calibri" pitchFamily="34" charset="0"/>
                <a:ea typeface="Calibri" pitchFamily="34" charset="-122"/>
                <a:cs typeface="Calibri" pitchFamily="34" charset="-120"/>
              </a:rPr>
              <a:t>Add a total in the footer to count how many cars are in stock.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Medicine Photos">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Eyebrow"/>
          <p:cNvSpPr/>
          <p:nvPr/>
        </p:nvSpPr>
        <p:spPr>
          <a:xfrm>
            <a:off x="457200" y="420624"/>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6 · WORKED EXAMPLE</a:t>
            </a:r>
            <a:endParaRPr lang="en-US" sz="1100"/>
          </a:p>
        </p:txBody>
      </p:sp>
      <p:sp>
        <p:nvSpPr>
          <p:cNvPr id="4" name="Pill"/>
          <p:cNvSpPr/>
          <p:nvPr/>
        </p:nvSpPr>
        <p:spPr>
          <a:xfrm>
            <a:off x="4400000" y="384048"/>
            <a:ext cx="200080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Worked Example</a:t>
            </a:r>
            <a:endParaRPr lang="en-US" sz="1100"/>
          </a:p>
        </p:txBody>
      </p:sp>
      <p:sp>
        <p:nvSpPr>
          <p:cNvPr id="5" name="Title"/>
          <p:cNvSpPr/>
          <p:nvPr/>
        </p:nvSpPr>
        <p:spPr>
          <a:xfrm>
            <a:off x="457200" y="792555"/>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Worked Example: A Grouped Cars Report</a:t>
            </a:r>
            <a:endParaRPr lang="en-US" sz="2500" dirty="0"/>
          </a:p>
        </p:txBody>
      </p:sp>
      <p:sp>
        <p:nvSpPr>
          <p:cNvPr id="6" name="Intro"/>
          <p:cNvSpPr/>
          <p:nvPr/>
        </p:nvSpPr>
        <p:spPr>
          <a:xfrm>
            <a:off x="457200" y="1560000"/>
            <a:ext cx="5943600" cy="38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See how a grouped report is built from tblCars. Study the layout and the callout, then follow the steps below.</a:t>
            </a:r>
            <a:endParaRPr lang="en-US" sz="1150"/>
          </a:p>
        </p:txBody>
      </p:sp>
      <p:pic>
        <p:nvPicPr>
          <p:cNvPr id="10" name="Source Photo" descr="Grouped database report with subtotals and totals"/>
          <p:cNvPicPr>
            <a:picLocks noChangeAspect="1"/>
          </p:cNvPicPr>
          <p:nvPr/>
        </p:nvPicPr>
        <p:blipFill>
          <a:blip r:embed="rId3"/>
          <a:stretch>
            <a:fillRect/>
          </a:stretch>
        </p:blipFill>
        <p:spPr>
          <a:xfrm>
            <a:off x="1018640" y="1950000"/>
            <a:ext cx="1577119" cy="1600000"/>
          </a:xfrm>
          <a:prstGeom prst="rect">
            <a:avLst/>
          </a:prstGeom>
          <a:ln w="12700">
            <a:solidFill>
              <a:srgbClr val="0F7BA8"/>
            </a:solidFill>
          </a:ln>
        </p:spPr>
      </p:pic>
      <p:sp>
        <p:nvSpPr>
          <p:cNvPr id="14" name="Source Caption"/>
          <p:cNvSpPr/>
          <p:nvPr/>
        </p:nvSpPr>
        <p:spPr>
          <a:xfrm>
            <a:off x="457200" y="3590000"/>
            <a:ext cx="2700000" cy="380000"/>
          </a:xfrm>
          <a:prstGeom prst="rect">
            <a:avLst/>
          </a:prstGeom>
          <a:noFill/>
          <a:ln/>
        </p:spPr>
        <p:txBody>
          <a:bodyPr wrap="square" lIns="0" tIns="0" rIns="0" bIns="0" rtlCol="0" anchor="t"/>
          <a:lstStyle/>
          <a:p>
            <a:pPr marL="0" indent="0">
              <a:lnSpc>
                <a:spcPct val="100000"/>
              </a:lnSpc>
              <a:buNone/>
            </a:pPr>
            <a:r>
              <a:rPr lang="en-US" sz="800" i="1">
                <a:solidFill>
                  <a:srgbClr val="5A6B76"/>
                </a:solidFill>
                <a:latin typeface="Calibri" pitchFamily="34" charset="0"/>
                <a:ea typeface="Calibri" pitchFamily="34" charset="-122"/>
                <a:cs typeface="Calibri" pitchFamily="34" charset="-120"/>
              </a:rPr>
              <a:t>rptCars</a:t>
            </a:r>
          </a:p>
          <a:p>
            <a:pPr marL="0" indent="0">
              <a:spcBef>
                <a:spcPts val="200"/>
              </a:spcBef>
              <a:buNone/>
            </a:pPr>
            <a:r>
              <a:rPr lang="en-US" sz="700" i="1">
                <a:solidFill>
                  <a:srgbClr val="8A97A0"/>
                </a:solidFill>
                <a:latin typeface="Calibri" pitchFamily="34" charset="0"/>
                <a:ea typeface="Calibri" pitchFamily="34" charset="-122"/>
                <a:cs typeface="Calibri" pitchFamily="34" charset="-120"/>
              </a:rPr>
              <a:t>Grouped by Make, sorted by Price, with a count of cars shown in each group footer.</a:t>
            </a:r>
          </a:p>
        </p:txBody>
      </p:sp>
      <p:sp>
        <p:nvSpPr>
          <p:cNvPr id="11" name="Card 1 Heading"/>
          <p:cNvSpPr/>
          <p:nvPr/>
        </p:nvSpPr>
        <p:spPr>
          <a:xfrm>
            <a:off x="3300000" y="1980000"/>
            <a:ext cx="3100000" cy="350000"/>
          </a:xfrm>
          <a:prstGeom prst="rect">
            <a:avLst/>
          </a:prstGeom>
          <a:noFill/>
          <a:ln/>
        </p:spPr>
        <p:txBody>
          <a:bodyPr wrap="square" lIns="0" tIns="0" rIns="0" bIns="0" rtlCol="0" anchor="ctr"/>
          <a:lstStyle/>
          <a:p>
            <a:pPr marL="0" indent="0">
              <a:buNone/>
            </a:pPr>
            <a:r>
              <a:rPr lang="en-US" sz="1400" b="1">
                <a:solidFill>
                  <a:srgbClr val="10324B"/>
                </a:solidFill>
                <a:latin typeface="Georgia" pitchFamily="34" charset="0"/>
                <a:ea typeface="Georgia" pitchFamily="34" charset="-122"/>
                <a:cs typeface="Georgia" pitchFamily="34" charset="-120"/>
              </a:rPr>
              <a:t>How to Build It</a:t>
            </a:r>
            <a:endParaRPr lang="en-US" sz="1400"/>
          </a:p>
        </p:txBody>
      </p:sp>
      <p:sp>
        <p:nvSpPr>
          <p:cNvPr id="12" name="Card 1 Body"/>
          <p:cNvSpPr/>
          <p:nvPr/>
        </p:nvSpPr>
        <p:spPr>
          <a:xfrm>
            <a:off x="3300000" y="2330000"/>
            <a:ext cx="3100000" cy="1420000"/>
          </a:xfrm>
          <a:prstGeom prst="rect">
            <a:avLst/>
          </a:prstGeom>
          <a:noFill/>
          <a:ln/>
        </p:spPr>
        <p:txBody>
          <a:bodyPr wrap="square" lIns="0" tIns="0" rIns="0" bIns="0" rtlCol="0" anchor="t"/>
          <a:lstStyle/>
          <a:p>
            <a:pPr marL="171450" indent="-171450">
              <a:buFont typeface="Arial" pitchFamily="34" charset="0"/>
              <a:buChar char="•"/>
            </a:pPr>
            <a:r>
              <a:rPr lang="en-US" sz="1050">
                <a:solidFill>
                  <a:srgbClr val="21323D"/>
                </a:solidFill>
                <a:latin typeface="Calibri" pitchFamily="34" charset="0"/>
                <a:ea typeface="Calibri" pitchFamily="34" charset="-122"/>
                <a:cs typeface="Calibri" pitchFamily="34" charset="-120"/>
              </a:rPr>
              <a:t>Select tblCars as the record source.</a:t>
            </a:r>
          </a:p>
          <a:p>
            <a:pPr marL="171450" indent="-171450">
              <a:buFont typeface="Arial" pitchFamily="34" charset="0"/>
              <a:buChar char="•"/>
            </a:pPr>
            <a:r>
              <a:rPr lang="en-US" sz="1050">
                <a:solidFill>
                  <a:srgbClr val="21323D"/>
                </a:solidFill>
                <a:latin typeface="Calibri" pitchFamily="34" charset="0"/>
                <a:ea typeface="Calibri" pitchFamily="34" charset="-122"/>
                <a:cs typeface="Calibri" pitchFamily="34" charset="-120"/>
              </a:rPr>
              <a:t>In the Report Wizard, group the records by Make.</a:t>
            </a:r>
          </a:p>
          <a:p>
            <a:pPr marL="171450" indent="-171450">
              <a:buFont typeface="Arial" pitchFamily="34" charset="0"/>
              <a:buChar char="•"/>
            </a:pPr>
            <a:r>
              <a:rPr lang="en-US" sz="1050">
                <a:solidFill>
                  <a:srgbClr val="21323D"/>
                </a:solidFill>
                <a:latin typeface="Calibri" pitchFamily="34" charset="0"/>
                <a:ea typeface="Calibri" pitchFamily="34" charset="-122"/>
                <a:cs typeface="Calibri" pitchFamily="34" charset="-120"/>
              </a:rPr>
              <a:t>Sort the detail rows by Price.</a:t>
            </a:r>
          </a:p>
          <a:p>
            <a:pPr marL="171450" indent="-171450">
              <a:buFont typeface="Arial" pitchFamily="34" charset="0"/>
              <a:buChar char="•"/>
            </a:pPr>
            <a:r>
              <a:rPr lang="en-US" sz="1050">
                <a:solidFill>
                  <a:srgbClr val="21323D"/>
                </a:solidFill>
                <a:latin typeface="Calibri" pitchFamily="34" charset="0"/>
                <a:ea typeface="Calibri" pitchFamily="34" charset="-122"/>
                <a:cs typeface="Calibri" pitchFamily="34" charset="-120"/>
              </a:rPr>
              <a:t>Add a count in each group footer.</a:t>
            </a:r>
          </a:p>
        </p:txBody>
      </p:sp>
      <p:sp>
        <p:nvSpPr>
          <p:cNvPr id="50" name="Writing Frame Panel"/>
          <p:cNvSpPr/>
          <p:nvPr/>
        </p:nvSpPr>
        <p:spPr>
          <a:xfrm>
            <a:off x="457200" y="3980000"/>
            <a:ext cx="5943600" cy="4470000"/>
          </a:xfrm>
          <a:prstGeom prst="roundRect">
            <a:avLst>
              <a:gd name="adj" fmla="val 4000"/>
            </a:avLst>
          </a:prstGeom>
          <a:solidFill>
            <a:srgbClr val="F4FBFE"/>
          </a:solidFill>
          <a:ln w="12700">
            <a:solidFill>
              <a:srgbClr val="C9E3F2"/>
            </a:solidFill>
          </a:ln>
        </p:spPr>
        <p:txBody>
          <a:bodyPr/>
          <a:lstStyle/>
          <a:p>
            <a:endParaRPr lang="en-AE"/>
          </a:p>
        </p:txBody>
      </p:sp>
      <p:sp>
        <p:nvSpPr>
          <p:cNvPr id="51" name="Frame Question"/>
          <p:cNvSpPr/>
          <p:nvPr/>
        </p:nvSpPr>
        <p:spPr>
          <a:xfrm>
            <a:off x="742200" y="4180000"/>
            <a:ext cx="5373600" cy="720000"/>
          </a:xfrm>
          <a:prstGeom prst="rect">
            <a:avLst/>
          </a:prstGeom>
          <a:noFill/>
          <a:ln/>
        </p:spPr>
        <p:txBody>
          <a:bodyPr wrap="square" lIns="0" tIns="0" rIns="0" bIns="0" rtlCol="0" anchor="t"/>
          <a:lstStyle/>
          <a:p>
            <a:pPr marL="0" indent="0">
              <a:buNone/>
            </a:pPr>
            <a:r>
              <a:rPr lang="en-US" sz="1000" b="1" spc="200">
                <a:solidFill>
                  <a:srgbClr val="0F7BA8"/>
                </a:solidFill>
                <a:latin typeface="Calibri" pitchFamily="34" charset="0"/>
                <a:ea typeface="Calibri" pitchFamily="34" charset="-122"/>
                <a:cs typeface="Calibri" pitchFamily="34" charset="-120"/>
              </a:rPr>
              <a:t>THE STRUCTURE</a:t>
            </a:r>
          </a:p>
          <a:p>
            <a:pPr marL="0" indent="0">
              <a:buNone/>
            </a:pPr>
            <a:r>
              <a:rPr lang="en-US" sz="1400" b="1">
                <a:solidFill>
                  <a:srgbClr val="10324B"/>
                </a:solidFill>
                <a:latin typeface="Georgia" pitchFamily="34" charset="0"/>
                <a:ea typeface="Georgia" pitchFamily="34" charset="-122"/>
                <a:cs typeface="Georgia" pitchFamily="34" charset="-120"/>
              </a:rPr>
              <a:t>How is every report organised?</a:t>
            </a:r>
          </a:p>
        </p:txBody>
      </p:sp>
      <p:sp>
        <p:nvSpPr>
          <p:cNvPr id="52" name="Frame Scaffold"/>
          <p:cNvSpPr/>
          <p:nvPr/>
        </p:nvSpPr>
        <p:spPr>
          <a:xfrm>
            <a:off x="742200" y="4980000"/>
            <a:ext cx="5373600" cy="2520000"/>
          </a:xfrm>
          <a:prstGeom prst="rect">
            <a:avLst/>
          </a:prstGeom>
          <a:noFill/>
          <a:ln/>
        </p:spPr>
        <p:txBody>
          <a:bodyPr wrap="square" lIns="0" tIns="0" rIns="0" bIns="0" rtlCol="0" anchor="t"/>
          <a:lstStyle/>
          <a:p>
            <a:pPr marL="0" indent="0">
              <a:buNone/>
            </a:pPr>
            <a:r>
              <a:rPr lang="en-US" sz="1050" b="1">
                <a:solidFill>
                  <a:srgbClr val="21323D"/>
                </a:solidFill>
                <a:latin typeface="Calibri" pitchFamily="34" charset="0"/>
                <a:ea typeface="Calibri" pitchFamily="34" charset="-122"/>
                <a:cs typeface="Calibri" pitchFamily="34" charset="-120"/>
              </a:rPr>
              <a:t>Every report has the same sections:</a:t>
            </a:r>
          </a:p>
          <a:p>
            <a:pPr marL="0" indent="0">
              <a:spcBef>
                <a:spcPts val="700"/>
              </a:spcBef>
              <a:buNone/>
            </a:pPr>
            <a:r>
              <a:rPr lang="en-US" sz="1050">
                <a:solidFill>
                  <a:srgbClr val="21323D"/>
                </a:solidFill>
                <a:latin typeface="Calibri" pitchFamily="34" charset="0"/>
                <a:ea typeface="Calibri" pitchFamily="34" charset="-122"/>
                <a:cs typeface="Calibri" pitchFamily="34" charset="-120"/>
              </a:rPr>
              <a:t>1. </a:t>
            </a:r>
            <a:r>
              <a:rPr lang="en-US" sz="1050" b="1">
                <a:solidFill>
                  <a:srgbClr val="0F7BA8"/>
                </a:solidFill>
                <a:latin typeface="Calibri" pitchFamily="34" charset="0"/>
                <a:ea typeface="Calibri" pitchFamily="34" charset="-122"/>
                <a:cs typeface="Calibri" pitchFamily="34" charset="-120"/>
              </a:rPr>
              <a:t>Header — </a:t>
            </a:r>
            <a:r>
              <a:rPr lang="en-US" sz="1050">
                <a:solidFill>
                  <a:srgbClr val="21323D"/>
                </a:solidFill>
                <a:latin typeface="Calibri" pitchFamily="34" charset="0"/>
                <a:ea typeface="Calibri" pitchFamily="34" charset="-122"/>
                <a:cs typeface="Calibri" pitchFamily="34" charset="-120"/>
              </a:rPr>
              <a:t>The report header shows the title, such as Cars in Stock.</a:t>
            </a:r>
          </a:p>
          <a:p>
            <a:pPr marL="0" indent="0">
              <a:spcBef>
                <a:spcPts val="700"/>
              </a:spcBef>
              <a:buNone/>
            </a:pPr>
            <a:r>
              <a:rPr lang="en-US" sz="1050">
                <a:solidFill>
                  <a:srgbClr val="21323D"/>
                </a:solidFill>
                <a:latin typeface="Calibri" pitchFamily="34" charset="0"/>
                <a:ea typeface="Calibri" pitchFamily="34" charset="-122"/>
                <a:cs typeface="Calibri" pitchFamily="34" charset="-120"/>
              </a:rPr>
              <a:t>2. </a:t>
            </a:r>
            <a:r>
              <a:rPr lang="en-US" sz="1050" b="1">
                <a:solidFill>
                  <a:srgbClr val="0F7BA8"/>
                </a:solidFill>
                <a:latin typeface="Calibri" pitchFamily="34" charset="0"/>
                <a:ea typeface="Calibri" pitchFamily="34" charset="-122"/>
                <a:cs typeface="Calibri" pitchFamily="34" charset="-120"/>
              </a:rPr>
              <a:t>Groups — </a:t>
            </a:r>
            <a:r>
              <a:rPr lang="en-US" sz="1050">
                <a:solidFill>
                  <a:srgbClr val="21323D"/>
                </a:solidFill>
                <a:latin typeface="Calibri" pitchFamily="34" charset="0"/>
                <a:ea typeface="Calibri" pitchFamily="34" charset="-122"/>
                <a:cs typeface="Calibri" pitchFamily="34" charset="-120"/>
              </a:rPr>
              <a:t>Each group header names a Make and starts a new block.</a:t>
            </a:r>
          </a:p>
          <a:p>
            <a:pPr marL="0" indent="0">
              <a:spcBef>
                <a:spcPts val="700"/>
              </a:spcBef>
              <a:buNone/>
            </a:pPr>
            <a:r>
              <a:rPr lang="en-US" sz="1050">
                <a:solidFill>
                  <a:srgbClr val="21323D"/>
                </a:solidFill>
                <a:latin typeface="Calibri" pitchFamily="34" charset="0"/>
                <a:ea typeface="Calibri" pitchFamily="34" charset="-122"/>
                <a:cs typeface="Calibri" pitchFamily="34" charset="-120"/>
              </a:rPr>
              <a:t>3. </a:t>
            </a:r>
            <a:r>
              <a:rPr lang="en-US" sz="1050" b="1">
                <a:solidFill>
                  <a:srgbClr val="0F7BA8"/>
                </a:solidFill>
                <a:latin typeface="Calibri" pitchFamily="34" charset="0"/>
                <a:ea typeface="Calibri" pitchFamily="34" charset="-122"/>
                <a:cs typeface="Calibri" pitchFamily="34" charset="-120"/>
              </a:rPr>
              <a:t>Detail — </a:t>
            </a:r>
            <a:r>
              <a:rPr lang="en-US" sz="1050">
                <a:solidFill>
                  <a:srgbClr val="21323D"/>
                </a:solidFill>
                <a:latin typeface="Calibri" pitchFamily="34" charset="0"/>
                <a:ea typeface="Calibri" pitchFamily="34" charset="-122"/>
                <a:cs typeface="Calibri" pitchFamily="34" charset="-120"/>
              </a:rPr>
              <a:t>The detail section lists each car under its Make.</a:t>
            </a:r>
          </a:p>
          <a:p>
            <a:pPr marL="0" indent="0">
              <a:spcBef>
                <a:spcPts val="700"/>
              </a:spcBef>
              <a:buNone/>
            </a:pPr>
            <a:r>
              <a:rPr lang="en-US" sz="1050">
                <a:solidFill>
                  <a:srgbClr val="21323D"/>
                </a:solidFill>
                <a:latin typeface="Calibri" pitchFamily="34" charset="0"/>
                <a:ea typeface="Calibri" pitchFamily="34" charset="-122"/>
                <a:cs typeface="Calibri" pitchFamily="34" charset="-120"/>
              </a:rPr>
              <a:t>4. </a:t>
            </a:r>
            <a:r>
              <a:rPr lang="en-US" sz="1050" b="1">
                <a:solidFill>
                  <a:srgbClr val="0F7BA8"/>
                </a:solidFill>
                <a:latin typeface="Calibri" pitchFamily="34" charset="0"/>
                <a:ea typeface="Calibri" pitchFamily="34" charset="-122"/>
                <a:cs typeface="Calibri" pitchFamily="34" charset="-120"/>
              </a:rPr>
              <a:t>Footer — </a:t>
            </a:r>
            <a:r>
              <a:rPr lang="en-US" sz="1050">
                <a:solidFill>
                  <a:srgbClr val="21323D"/>
                </a:solidFill>
                <a:latin typeface="Calibri" pitchFamily="34" charset="0"/>
                <a:ea typeface="Calibri" pitchFamily="34" charset="-122"/>
                <a:cs typeface="Calibri" pitchFamily="34" charset="-120"/>
              </a:rPr>
              <a:t>Group and report footers hold counts and totals.</a:t>
            </a:r>
          </a:p>
        </p:txBody>
      </p:sp>
      <p:sp>
        <p:nvSpPr>
          <p:cNvPr id="53" name="Word Bank"/>
          <p:cNvSpPr/>
          <p:nvPr/>
        </p:nvSpPr>
        <p:spPr>
          <a:xfrm>
            <a:off x="742200" y="7560000"/>
            <a:ext cx="5373600" cy="780000"/>
          </a:xfrm>
          <a:prstGeom prst="roundRect">
            <a:avLst>
              <a:gd name="adj" fmla="val 10000"/>
            </a:avLst>
          </a:prstGeom>
          <a:solidFill>
            <a:srgbClr val="EAF6FC"/>
          </a:solidFill>
          <a:ln/>
        </p:spPr>
        <p:txBody>
          <a:bodyPr wrap="square" lIns="91440" tIns="45720" rIns="91440" bIns="45720" rtlCol="0" anchor="ctr"/>
          <a:lstStyle/>
          <a:p>
            <a:pPr marL="0" indent="0">
              <a:buNone/>
            </a:pPr>
            <a:r>
              <a:rPr lang="en-US" sz="1000" b="1">
                <a:solidFill>
                  <a:srgbClr val="10324B"/>
                </a:solidFill>
                <a:latin typeface="Calibri" pitchFamily="34" charset="0"/>
                <a:ea typeface="Calibri" pitchFamily="34" charset="-122"/>
                <a:cs typeface="Calibri" pitchFamily="34" charset="-120"/>
              </a:rPr>
              <a:t>Key sections: </a:t>
            </a:r>
            <a:r>
              <a:rPr lang="en-US" sz="1000">
                <a:solidFill>
                  <a:srgbClr val="21323D"/>
                </a:solidFill>
                <a:latin typeface="Calibri" pitchFamily="34" charset="0"/>
                <a:ea typeface="Calibri" pitchFamily="34" charset="-122"/>
                <a:cs typeface="Calibri" pitchFamily="34" charset="-120"/>
              </a:rPr>
              <a:t>Report header  ·  Group header  ·  Detail  ·  Group footer  ·  Report footer</a:t>
            </a:r>
          </a:p>
          <a:p>
            <a:pPr marL="0" indent="0">
              <a:spcBef>
                <a:spcPts val="300"/>
              </a:spcBef>
              <a:buNone/>
            </a:pPr>
            <a:r>
              <a:rPr lang="en-US" sz="1000" b="1" i="1">
                <a:solidFill>
                  <a:srgbClr val="0F7BA8"/>
                </a:solidFill>
                <a:latin typeface="Calibri" pitchFamily="34" charset="0"/>
                <a:ea typeface="Calibri" pitchFamily="34" charset="-122"/>
                <a:cs typeface="Calibri" pitchFamily="34" charset="-120"/>
              </a:rPr>
              <a:t>Challenge: which section would show the total number of cars?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Life in the Trenches">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90000"/>
            <a:ext cx="1645920" cy="26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6 · REPORT DESIGN</a:t>
            </a:r>
            <a:endParaRPr lang="en-US" sz="1100"/>
          </a:p>
        </p:txBody>
      </p:sp>
      <p:sp>
        <p:nvSpPr>
          <p:cNvPr id="5" name="Pill"/>
          <p:cNvSpPr/>
          <p:nvPr/>
        </p:nvSpPr>
        <p:spPr>
          <a:xfrm>
            <a:off x="4617720" y="552000"/>
            <a:ext cx="178308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Sequence It</a:t>
            </a:r>
            <a:endParaRPr lang="en-US" sz="1100"/>
          </a:p>
        </p:txBody>
      </p:sp>
      <p:sp>
        <p:nvSpPr>
          <p:cNvPr id="6" name="Title"/>
          <p:cNvSpPr/>
          <p:nvPr/>
        </p:nvSpPr>
        <p:spPr>
          <a:xfrm>
            <a:off x="457200" y="920000"/>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Report Formatting &amp; Layout</a:t>
            </a:r>
            <a:endParaRPr lang="en-US" sz="2500"/>
          </a:p>
        </p:txBody>
      </p:sp>
      <p:sp>
        <p:nvSpPr>
          <p:cNvPr id="7" name="Intro"/>
          <p:cNvSpPr/>
          <p:nvPr/>
        </p:nvSpPr>
        <p:spPr>
          <a:xfrm>
            <a:off x="457200" y="1500000"/>
            <a:ext cx="5943600" cy="45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A few key settings control how tidy and readable your printed report looks.</a:t>
            </a:r>
            <a:endParaRPr lang="en-US" sz="1150"/>
          </a:p>
        </p:txBody>
      </p:sp>
      <p:sp>
        <p:nvSpPr>
          <p:cNvPr id="10" name="Card A"/>
          <p:cNvSpPr/>
          <p:nvPr/>
        </p:nvSpPr>
        <p:spPr>
          <a:xfrm>
            <a:off x="4572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010000"/>
            <a:ext cx="80000" cy="1450000"/>
          </a:xfrm>
          <a:prstGeom prst="rect">
            <a:avLst/>
          </a:prstGeom>
          <a:solidFill>
            <a:srgbClr val="159BD2"/>
          </a:solidFill>
          <a:ln/>
        </p:spPr>
        <p:txBody>
          <a:bodyPr/>
          <a:lstStyle/>
          <a:p>
            <a:endParaRPr lang="en-AE"/>
          </a:p>
        </p:txBody>
      </p:sp>
      <p:sp>
        <p:nvSpPr>
          <p:cNvPr id="12" name="Card A Text"/>
          <p:cNvSpPr/>
          <p:nvPr/>
        </p:nvSpPr>
        <p:spPr>
          <a:xfrm>
            <a:off x="6572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PAGE SETUP</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Size &amp; margins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Choose portrait or landscape and set margins so nothing is cut off.</a:t>
            </a:r>
          </a:p>
        </p:txBody>
      </p:sp>
      <p:sp>
        <p:nvSpPr>
          <p:cNvPr id="20" name="Card B"/>
          <p:cNvSpPr/>
          <p:nvPr/>
        </p:nvSpPr>
        <p:spPr>
          <a:xfrm>
            <a:off x="35308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010000"/>
            <a:ext cx="80000" cy="1450000"/>
          </a:xfrm>
          <a:prstGeom prst="rect">
            <a:avLst/>
          </a:prstGeom>
          <a:solidFill>
            <a:srgbClr val="159BD2"/>
          </a:solidFill>
          <a:ln/>
        </p:spPr>
        <p:txBody>
          <a:bodyPr/>
          <a:lstStyle/>
          <a:p>
            <a:endParaRPr lang="en-AE"/>
          </a:p>
        </p:txBody>
      </p:sp>
      <p:sp>
        <p:nvSpPr>
          <p:cNvPr id="22" name="Card B Text"/>
          <p:cNvSpPr/>
          <p:nvPr/>
        </p:nvSpPr>
        <p:spPr>
          <a:xfrm>
            <a:off x="37308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COLUMN WIDTHS</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Fit the data</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Widen columns so long values like Model names are not clipped.</a:t>
            </a:r>
          </a:p>
        </p:txBody>
      </p:sp>
      <p:sp>
        <p:nvSpPr>
          <p:cNvPr id="30" name="Card C"/>
          <p:cNvSpPr/>
          <p:nvPr/>
        </p:nvSpPr>
        <p:spPr>
          <a:xfrm>
            <a:off x="4572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3600000"/>
            <a:ext cx="80000" cy="1450000"/>
          </a:xfrm>
          <a:prstGeom prst="rect">
            <a:avLst/>
          </a:prstGeom>
          <a:solidFill>
            <a:srgbClr val="159BD2"/>
          </a:solidFill>
          <a:ln/>
        </p:spPr>
        <p:txBody>
          <a:bodyPr/>
          <a:lstStyle/>
          <a:p>
            <a:endParaRPr lang="en-AE"/>
          </a:p>
        </p:txBody>
      </p:sp>
      <p:sp>
        <p:nvSpPr>
          <p:cNvPr id="32" name="Card C Text"/>
          <p:cNvSpPr/>
          <p:nvPr/>
        </p:nvSpPr>
        <p:spPr>
          <a:xfrm>
            <a:off x="6572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GROUPING</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Organise</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Group records by a field, such as Make, to break up the list.</a:t>
            </a:r>
          </a:p>
        </p:txBody>
      </p:sp>
      <p:sp>
        <p:nvSpPr>
          <p:cNvPr id="40" name="Card D"/>
          <p:cNvSpPr/>
          <p:nvPr/>
        </p:nvSpPr>
        <p:spPr>
          <a:xfrm>
            <a:off x="35308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3600000"/>
            <a:ext cx="80000" cy="1450000"/>
          </a:xfrm>
          <a:prstGeom prst="rect">
            <a:avLst/>
          </a:prstGeom>
          <a:solidFill>
            <a:srgbClr val="159BD2"/>
          </a:solidFill>
          <a:ln/>
        </p:spPr>
        <p:txBody>
          <a:bodyPr/>
          <a:lstStyle/>
          <a:p>
            <a:endParaRPr lang="en-AE"/>
          </a:p>
        </p:txBody>
      </p:sp>
      <p:sp>
        <p:nvSpPr>
          <p:cNvPr id="42" name="Card D Text"/>
          <p:cNvSpPr/>
          <p:nvPr/>
        </p:nvSpPr>
        <p:spPr>
          <a:xfrm>
            <a:off x="37308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SORTING</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Order</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Sort within each group, such as Price from low to high.</a:t>
            </a:r>
          </a:p>
        </p:txBody>
      </p:sp>
      <p:sp>
        <p:nvSpPr>
          <p:cNvPr id="70" name="Card E"/>
          <p:cNvSpPr/>
          <p:nvPr/>
        </p:nvSpPr>
        <p:spPr>
          <a:xfrm>
            <a:off x="4572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71" name="Card E Accent"/>
          <p:cNvSpPr/>
          <p:nvPr/>
        </p:nvSpPr>
        <p:spPr>
          <a:xfrm>
            <a:off x="457200" y="5190000"/>
            <a:ext cx="80000" cy="1450000"/>
          </a:xfrm>
          <a:prstGeom prst="rect">
            <a:avLst/>
          </a:prstGeom>
          <a:solidFill>
            <a:srgbClr val="159BD2"/>
          </a:solidFill>
          <a:ln/>
        </p:spPr>
        <p:txBody>
          <a:bodyPr/>
          <a:lstStyle/>
          <a:p>
            <a:endParaRPr lang="en-AE"/>
          </a:p>
        </p:txBody>
      </p:sp>
      <p:sp>
        <p:nvSpPr>
          <p:cNvPr id="72" name="Card E Text"/>
          <p:cNvSpPr/>
          <p:nvPr/>
        </p:nvSpPr>
        <p:spPr>
          <a:xfrm>
            <a:off x="6572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PAGE NUMBERS</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Navigation</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Add page numbers and a date in the page footer.</a:t>
            </a:r>
          </a:p>
        </p:txBody>
      </p:sp>
      <p:sp>
        <p:nvSpPr>
          <p:cNvPr id="80" name="Card F"/>
          <p:cNvSpPr/>
          <p:nvPr/>
        </p:nvSpPr>
        <p:spPr>
          <a:xfrm>
            <a:off x="35308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81" name="Card F Accent"/>
          <p:cNvSpPr/>
          <p:nvPr/>
        </p:nvSpPr>
        <p:spPr>
          <a:xfrm>
            <a:off x="3530800" y="5190000"/>
            <a:ext cx="80000" cy="1450000"/>
          </a:xfrm>
          <a:prstGeom prst="rect">
            <a:avLst/>
          </a:prstGeom>
          <a:solidFill>
            <a:srgbClr val="159BD2"/>
          </a:solidFill>
          <a:ln/>
        </p:spPr>
        <p:txBody>
          <a:bodyPr/>
          <a:lstStyle/>
          <a:p>
            <a:endParaRPr lang="en-AE"/>
          </a:p>
        </p:txBody>
      </p:sp>
      <p:sp>
        <p:nvSpPr>
          <p:cNvPr id="82" name="Card F Text"/>
          <p:cNvSpPr/>
          <p:nvPr/>
        </p:nvSpPr>
        <p:spPr>
          <a:xfrm>
            <a:off x="37308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TOTALS</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Summaries</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Show counts and sums in group and report footers.</a:t>
            </a:r>
          </a:p>
        </p:txBody>
      </p:sp>
      <p:sp>
        <p:nvSpPr>
          <p:cNvPr id="50" name="Task Band"/>
          <p:cNvSpPr/>
          <p:nvPr/>
        </p:nvSpPr>
        <p:spPr>
          <a:xfrm>
            <a:off x="457200" y="6800000"/>
            <a:ext cx="5943600" cy="1500000"/>
          </a:xfrm>
          <a:prstGeom prst="roundRect">
            <a:avLst>
              <a:gd name="adj" fmla="val 5000"/>
            </a:avLst>
          </a:prstGeom>
          <a:solidFill>
            <a:srgbClr val="10324B"/>
          </a:solidFill>
          <a:ln/>
        </p:spPr>
        <p:txBody>
          <a:bodyPr/>
          <a:lstStyle/>
          <a:p>
            <a:endParaRPr lang="en-AE"/>
          </a:p>
        </p:txBody>
      </p:sp>
      <p:sp>
        <p:nvSpPr>
          <p:cNvPr id="51" name="Task Text"/>
          <p:cNvSpPr/>
          <p:nvPr/>
        </p:nvSpPr>
        <p:spPr>
          <a:xfrm>
            <a:off x="700000" y="6980000"/>
            <a:ext cx="5450000" cy="1160000"/>
          </a:xfrm>
          <a:prstGeom prst="rect">
            <a:avLst/>
          </a:prstGeom>
          <a:noFill/>
          <a:ln/>
        </p:spPr>
        <p:txBody>
          <a:bodyPr wrap="square" lIns="0" tIns="0" rIns="0" bIns="0" rtlCol="0" anchor="t"/>
          <a:lstStyle/>
          <a:p>
            <a:pPr marL="0" indent="0">
              <a:buNone/>
            </a:pPr>
            <a:r>
              <a:rPr lang="en-US" sz="1000" b="1" kern="0" spc="150">
                <a:solidFill>
                  <a:srgbClr val="7FC7E6"/>
                </a:solidFill>
                <a:latin typeface="Calibri" pitchFamily="34" charset="0"/>
                <a:ea typeface="Calibri" pitchFamily="34" charset="-122"/>
                <a:cs typeface="Calibri" pitchFamily="34" charset="-120"/>
              </a:rPr>
              <a:t>TIP</a:t>
            </a:r>
          </a:p>
          <a:p>
            <a:pPr marL="0" indent="0">
              <a:spcBef>
                <a:spcPts val="500"/>
              </a:spcBef>
              <a:buNone/>
            </a:pPr>
            <a:r>
              <a:rPr lang="en-US" sz="1150">
                <a:solidFill>
                  <a:srgbClr val="FFFFFF"/>
                </a:solidFill>
                <a:latin typeface="Calibri" pitchFamily="34" charset="0"/>
                <a:ea typeface="Calibri" pitchFamily="34" charset="-122"/>
                <a:cs typeface="Calibri" pitchFamily="34" charset="-120"/>
              </a:rPr>
              <a:t>Check Print Preview before you print so every column fits neatly on the page.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Which Source Is Most Useful?">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90000"/>
            <a:ext cx="1645920" cy="26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500000" cy="274320"/>
          </a:xfrm>
          <a:prstGeom prst="rect">
            <a:avLst/>
          </a:prstGeom>
          <a:noFill/>
          <a:ln/>
        </p:spPr>
        <p:txBody>
          <a:bodyPr wrap="square" lIns="0" tIns="0" rIns="0" bIns="0" rtlCol="0" anchor="ctr"/>
          <a:lstStyle/>
          <a:p>
            <a:pPr marL="0" indent="0" algn="l">
              <a:buNone/>
            </a:pPr>
            <a:r>
              <a:rPr lang="en-US" sz="1100" b="1" kern="0" spc="200">
                <a:solidFill>
                  <a:srgbClr val="0F7BA8"/>
                </a:solidFill>
                <a:latin typeface="Calibri" pitchFamily="34" charset="0"/>
                <a:ea typeface="Calibri" pitchFamily="34" charset="-122"/>
                <a:cs typeface="Calibri" pitchFamily="34" charset="-120"/>
              </a:rPr>
              <a:t>MODULE 6 · REPORT TOTALS</a:t>
            </a:r>
            <a:endParaRPr lang="en-US" sz="1100"/>
          </a:p>
        </p:txBody>
      </p:sp>
      <p:sp>
        <p:nvSpPr>
          <p:cNvPr id="5" name="Pill"/>
          <p:cNvSpPr/>
          <p:nvPr/>
        </p:nvSpPr>
        <p:spPr>
          <a:xfrm>
            <a:off x="4617720" y="552000"/>
            <a:ext cx="1783080" cy="384048"/>
          </a:xfrm>
          <a:prstGeom prst="roundRect">
            <a:avLst>
              <a:gd name="adj" fmla="val 19048"/>
            </a:avLst>
          </a:prstGeom>
          <a:solidFill>
            <a:srgbClr val="10324B"/>
          </a:solid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Compare It</a:t>
            </a:r>
            <a:endParaRPr lang="en-US" sz="1100"/>
          </a:p>
        </p:txBody>
      </p:sp>
      <p:sp>
        <p:nvSpPr>
          <p:cNvPr id="6" name="Title"/>
          <p:cNvSpPr/>
          <p:nvPr/>
        </p:nvSpPr>
        <p:spPr>
          <a:xfrm>
            <a:off x="457200" y="920000"/>
            <a:ext cx="5943600" cy="548640"/>
          </a:xfrm>
          <a:prstGeom prst="rect">
            <a:avLst/>
          </a:prstGeom>
          <a:noFill/>
          <a:ln/>
        </p:spPr>
        <p:txBody>
          <a:bodyPr wrap="square" lIns="0" tIns="0" rIns="0" bIns="0" rtlCol="0" anchor="t"/>
          <a:lstStyle/>
          <a:p>
            <a:pPr marL="0" indent="0" algn="l">
              <a:buNone/>
            </a:pPr>
            <a:r>
              <a:rPr lang="en-US" sz="2500" b="1">
                <a:solidFill>
                  <a:srgbClr val="10324B"/>
                </a:solidFill>
                <a:latin typeface="Georgia" pitchFamily="34" charset="0"/>
                <a:ea typeface="Georgia" pitchFamily="34" charset="-122"/>
                <a:cs typeface="Georgia" pitchFamily="34" charset="-120"/>
              </a:rPr>
              <a:t>Calculations &amp; Totals in Reports</a:t>
            </a:r>
            <a:endParaRPr lang="en-US" sz="2500"/>
          </a:p>
        </p:txBody>
      </p:sp>
      <p:sp>
        <p:nvSpPr>
          <p:cNvPr id="7" name="Intro"/>
          <p:cNvSpPr/>
          <p:nvPr/>
        </p:nvSpPr>
        <p:spPr>
          <a:xfrm>
            <a:off x="457200" y="1500000"/>
            <a:ext cx="5943600" cy="450000"/>
          </a:xfrm>
          <a:prstGeom prst="rect">
            <a:avLst/>
          </a:prstGeom>
          <a:noFill/>
          <a:ln/>
        </p:spPr>
        <p:txBody>
          <a:bodyPr wrap="square" lIns="0" tIns="0" rIns="0" bIns="0" rtlCol="0" anchor="t"/>
          <a:lstStyle/>
          <a:p>
            <a:pPr marL="0" indent="0">
              <a:buNone/>
            </a:pPr>
            <a:r>
              <a:rPr lang="en-US" sz="1150">
                <a:solidFill>
                  <a:srgbClr val="21323D"/>
                </a:solidFill>
                <a:latin typeface="Calibri" pitchFamily="34" charset="0"/>
                <a:ea typeface="Calibri" pitchFamily="34" charset="-122"/>
                <a:cs typeface="Calibri" pitchFamily="34" charset="-120"/>
              </a:rPr>
              <a:t>Reports can calculate totals and summaries automatically, so you never add up figures by hand.</a:t>
            </a:r>
            <a:endParaRPr lang="en-US" sz="1150"/>
          </a:p>
        </p:txBody>
      </p:sp>
      <p:sp>
        <p:nvSpPr>
          <p:cNvPr id="10" name="Card A"/>
          <p:cNvSpPr/>
          <p:nvPr/>
        </p:nvSpPr>
        <p:spPr>
          <a:xfrm>
            <a:off x="4572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11" name="Card A Accent"/>
          <p:cNvSpPr/>
          <p:nvPr/>
        </p:nvSpPr>
        <p:spPr>
          <a:xfrm>
            <a:off x="457200" y="2010000"/>
            <a:ext cx="80000" cy="1450000"/>
          </a:xfrm>
          <a:prstGeom prst="rect">
            <a:avLst/>
          </a:prstGeom>
          <a:solidFill>
            <a:srgbClr val="159BD2"/>
          </a:solidFill>
          <a:ln/>
        </p:spPr>
        <p:txBody>
          <a:bodyPr/>
          <a:lstStyle/>
          <a:p>
            <a:endParaRPr lang="en-AE"/>
          </a:p>
        </p:txBody>
      </p:sp>
      <p:sp>
        <p:nvSpPr>
          <p:cNvPr id="12" name="Card A Text"/>
          <p:cNvSpPr/>
          <p:nvPr/>
        </p:nvSpPr>
        <p:spPr>
          <a:xfrm>
            <a:off x="6572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SUM</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=Sum([Price])</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Adds up a number field, such as the total value of all cars.</a:t>
            </a:r>
          </a:p>
        </p:txBody>
      </p:sp>
      <p:sp>
        <p:nvSpPr>
          <p:cNvPr id="20" name="Card B"/>
          <p:cNvSpPr/>
          <p:nvPr/>
        </p:nvSpPr>
        <p:spPr>
          <a:xfrm>
            <a:off x="3530800" y="201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21" name="Card B Accent"/>
          <p:cNvSpPr/>
          <p:nvPr/>
        </p:nvSpPr>
        <p:spPr>
          <a:xfrm>
            <a:off x="3530800" y="2010000"/>
            <a:ext cx="80000" cy="1450000"/>
          </a:xfrm>
          <a:prstGeom prst="rect">
            <a:avLst/>
          </a:prstGeom>
          <a:solidFill>
            <a:srgbClr val="159BD2"/>
          </a:solidFill>
          <a:ln/>
        </p:spPr>
        <p:txBody>
          <a:bodyPr/>
          <a:lstStyle/>
          <a:p>
            <a:endParaRPr lang="en-AE"/>
          </a:p>
        </p:txBody>
      </p:sp>
      <p:sp>
        <p:nvSpPr>
          <p:cNvPr id="22" name="Card B Text"/>
          <p:cNvSpPr/>
          <p:nvPr/>
        </p:nvSpPr>
        <p:spPr>
          <a:xfrm>
            <a:off x="3730800" y="218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COUNT</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=Count(*)</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Counts how many records fall in a group or the whole report.</a:t>
            </a:r>
          </a:p>
        </p:txBody>
      </p:sp>
      <p:sp>
        <p:nvSpPr>
          <p:cNvPr id="30" name="Card C"/>
          <p:cNvSpPr/>
          <p:nvPr/>
        </p:nvSpPr>
        <p:spPr>
          <a:xfrm>
            <a:off x="4572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31" name="Card C Accent"/>
          <p:cNvSpPr/>
          <p:nvPr/>
        </p:nvSpPr>
        <p:spPr>
          <a:xfrm>
            <a:off x="457200" y="3600000"/>
            <a:ext cx="80000" cy="1450000"/>
          </a:xfrm>
          <a:prstGeom prst="rect">
            <a:avLst/>
          </a:prstGeom>
          <a:solidFill>
            <a:srgbClr val="159BD2"/>
          </a:solidFill>
          <a:ln/>
        </p:spPr>
        <p:txBody>
          <a:bodyPr/>
          <a:lstStyle/>
          <a:p>
            <a:endParaRPr lang="en-AE"/>
          </a:p>
        </p:txBody>
      </p:sp>
      <p:sp>
        <p:nvSpPr>
          <p:cNvPr id="32" name="Card C Text"/>
          <p:cNvSpPr/>
          <p:nvPr/>
        </p:nvSpPr>
        <p:spPr>
          <a:xfrm>
            <a:off x="6572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AVERAGE</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=Avg([Price])</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Works out the mean value, such as the average car price.</a:t>
            </a:r>
          </a:p>
        </p:txBody>
      </p:sp>
      <p:sp>
        <p:nvSpPr>
          <p:cNvPr id="40" name="Card D"/>
          <p:cNvSpPr/>
          <p:nvPr/>
        </p:nvSpPr>
        <p:spPr>
          <a:xfrm>
            <a:off x="3530800" y="360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41" name="Card D Accent"/>
          <p:cNvSpPr/>
          <p:nvPr/>
        </p:nvSpPr>
        <p:spPr>
          <a:xfrm>
            <a:off x="3530800" y="3600000"/>
            <a:ext cx="80000" cy="1450000"/>
          </a:xfrm>
          <a:prstGeom prst="rect">
            <a:avLst/>
          </a:prstGeom>
          <a:solidFill>
            <a:srgbClr val="159BD2"/>
          </a:solidFill>
          <a:ln/>
        </p:spPr>
        <p:txBody>
          <a:bodyPr/>
          <a:lstStyle/>
          <a:p>
            <a:endParaRPr lang="en-AE"/>
          </a:p>
        </p:txBody>
      </p:sp>
      <p:sp>
        <p:nvSpPr>
          <p:cNvPr id="42" name="Card D Text"/>
          <p:cNvSpPr/>
          <p:nvPr/>
        </p:nvSpPr>
        <p:spPr>
          <a:xfrm>
            <a:off x="3730800" y="377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MAX &amp; MIN</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=Max([Price])</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Finds the highest or lowest value in the group.</a:t>
            </a:r>
          </a:p>
        </p:txBody>
      </p:sp>
      <p:sp>
        <p:nvSpPr>
          <p:cNvPr id="70" name="Card E"/>
          <p:cNvSpPr/>
          <p:nvPr/>
        </p:nvSpPr>
        <p:spPr>
          <a:xfrm>
            <a:off x="457200" y="5190000"/>
            <a:ext cx="2870000" cy="1450000"/>
          </a:xfrm>
          <a:prstGeom prst="roundRect">
            <a:avLst>
              <a:gd name="adj" fmla="val 5000"/>
            </a:avLst>
          </a:prstGeom>
          <a:solidFill>
            <a:srgbClr val="F4FBFE"/>
          </a:solidFill>
          <a:ln w="12700">
            <a:solidFill>
              <a:srgbClr val="D7EBF5"/>
            </a:solidFill>
            <a:prstDash val="solid"/>
          </a:ln>
        </p:spPr>
        <p:txBody>
          <a:bodyPr/>
          <a:lstStyle/>
          <a:p>
            <a:endParaRPr lang="en-AE"/>
          </a:p>
        </p:txBody>
      </p:sp>
      <p:sp>
        <p:nvSpPr>
          <p:cNvPr id="71" name="Card E Accent"/>
          <p:cNvSpPr/>
          <p:nvPr/>
        </p:nvSpPr>
        <p:spPr>
          <a:xfrm>
            <a:off x="457200" y="5190000"/>
            <a:ext cx="80000" cy="1450000"/>
          </a:xfrm>
          <a:prstGeom prst="rect">
            <a:avLst/>
          </a:prstGeom>
          <a:solidFill>
            <a:srgbClr val="159BD2"/>
          </a:solidFill>
          <a:ln/>
        </p:spPr>
        <p:txBody>
          <a:bodyPr/>
          <a:lstStyle/>
          <a:p>
            <a:endParaRPr lang="en-AE"/>
          </a:p>
        </p:txBody>
      </p:sp>
      <p:sp>
        <p:nvSpPr>
          <p:cNvPr id="72" name="Card E Text"/>
          <p:cNvSpPr/>
          <p:nvPr/>
        </p:nvSpPr>
        <p:spPr>
          <a:xfrm>
            <a:off x="6572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GROUP TOTALS</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In each footer</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Place a total in a group footer to summarise just that group.</a:t>
            </a:r>
          </a:p>
        </p:txBody>
      </p:sp>
      <p:sp>
        <p:nvSpPr>
          <p:cNvPr id="80" name="Card F"/>
          <p:cNvSpPr/>
          <p:nvPr/>
        </p:nvSpPr>
        <p:spPr>
          <a:xfrm>
            <a:off x="3530800" y="5190000"/>
            <a:ext cx="2870000" cy="1450000"/>
          </a:xfrm>
          <a:prstGeom prst="roundRect">
            <a:avLst>
              <a:gd name="adj" fmla="val 5000"/>
            </a:avLst>
          </a:prstGeom>
          <a:solidFill>
            <a:srgbClr val="FBF6EC"/>
          </a:solidFill>
          <a:ln w="12700">
            <a:solidFill>
              <a:srgbClr val="E7D3A8"/>
            </a:solidFill>
            <a:prstDash val="solid"/>
          </a:ln>
        </p:spPr>
        <p:txBody>
          <a:bodyPr/>
          <a:lstStyle/>
          <a:p>
            <a:endParaRPr lang="en-AE"/>
          </a:p>
        </p:txBody>
      </p:sp>
      <p:sp>
        <p:nvSpPr>
          <p:cNvPr id="81" name="Card F Accent"/>
          <p:cNvSpPr/>
          <p:nvPr/>
        </p:nvSpPr>
        <p:spPr>
          <a:xfrm>
            <a:off x="3530800" y="5190000"/>
            <a:ext cx="80000" cy="1450000"/>
          </a:xfrm>
          <a:prstGeom prst="rect">
            <a:avLst/>
          </a:prstGeom>
          <a:solidFill>
            <a:srgbClr val="B8862B"/>
          </a:solidFill>
          <a:ln/>
        </p:spPr>
        <p:txBody>
          <a:bodyPr/>
          <a:lstStyle/>
          <a:p>
            <a:endParaRPr lang="en-AE"/>
          </a:p>
        </p:txBody>
      </p:sp>
      <p:sp>
        <p:nvSpPr>
          <p:cNvPr id="82" name="Card F Text"/>
          <p:cNvSpPr/>
          <p:nvPr/>
        </p:nvSpPr>
        <p:spPr>
          <a:xfrm>
            <a:off x="3730800" y="5360000"/>
            <a:ext cx="2520000" cy="1150000"/>
          </a:xfrm>
          <a:prstGeom prst="rect">
            <a:avLst/>
          </a:prstGeom>
          <a:noFill/>
          <a:ln/>
        </p:spPr>
        <p:txBody>
          <a:bodyPr wrap="square" lIns="0" tIns="0" rIns="0" bIns="0" rtlCol="0" anchor="t"/>
          <a:lstStyle/>
          <a:p>
            <a:pPr marL="0" indent="0">
              <a:buNone/>
            </a:pPr>
            <a:r>
              <a:rPr lang="en-US" sz="1400" b="1">
                <a:solidFill>
                  <a:srgbClr val="10324B"/>
                </a:solidFill>
                <a:latin typeface="Georgia" pitchFamily="34" charset="0"/>
                <a:ea typeface="Georgia" pitchFamily="34" charset="-122"/>
                <a:cs typeface="Georgia" pitchFamily="34" charset="-120"/>
              </a:rPr>
              <a:t>GRAND TOTAL</a:t>
            </a:r>
          </a:p>
          <a:p>
            <a:pPr marL="0" indent="0">
              <a:spcBef>
                <a:spcPts val="300"/>
              </a:spcBef>
              <a:buNone/>
            </a:pPr>
            <a:r>
              <a:rPr lang="en-US" sz="1000" b="1" spc="50">
                <a:solidFill>
                  <a:srgbClr val="0F7BA8"/>
                </a:solidFill>
                <a:latin typeface="Calibri" pitchFamily="34" charset="0"/>
                <a:ea typeface="Calibri" pitchFamily="34" charset="-122"/>
                <a:cs typeface="Calibri" pitchFamily="34" charset="-120"/>
              </a:rPr>
              <a:t>Report footer</a:t>
            </a:r>
          </a:p>
          <a:p>
            <a:pPr marL="0" indent="0">
              <a:spcBef>
                <a:spcPts val="500"/>
              </a:spcBef>
              <a:buNone/>
            </a:pPr>
            <a:r>
              <a:rPr lang="en-US" sz="1000">
                <a:solidFill>
                  <a:srgbClr val="21323D"/>
                </a:solidFill>
                <a:latin typeface="Calibri" pitchFamily="34" charset="0"/>
                <a:ea typeface="Calibri" pitchFamily="34" charset="-122"/>
                <a:cs typeface="Calibri" pitchFamily="34" charset="-120"/>
              </a:rPr>
              <a:t>Put a total in the report footer to summarise every record.</a:t>
            </a:r>
          </a:p>
        </p:txBody>
      </p:sp>
      <p:sp>
        <p:nvSpPr>
          <p:cNvPr id="50" name="Task Band"/>
          <p:cNvSpPr/>
          <p:nvPr/>
        </p:nvSpPr>
        <p:spPr>
          <a:xfrm>
            <a:off x="457200" y="6800000"/>
            <a:ext cx="5943600" cy="1500000"/>
          </a:xfrm>
          <a:prstGeom prst="roundRect">
            <a:avLst>
              <a:gd name="adj" fmla="val 5000"/>
            </a:avLst>
          </a:prstGeom>
          <a:solidFill>
            <a:srgbClr val="10324B"/>
          </a:solidFill>
          <a:ln/>
        </p:spPr>
        <p:txBody>
          <a:bodyPr/>
          <a:lstStyle/>
          <a:p>
            <a:endParaRPr lang="en-AE"/>
          </a:p>
        </p:txBody>
      </p:sp>
      <p:sp>
        <p:nvSpPr>
          <p:cNvPr id="51" name="Task Text"/>
          <p:cNvSpPr/>
          <p:nvPr/>
        </p:nvSpPr>
        <p:spPr>
          <a:xfrm>
            <a:off x="700000" y="6980000"/>
            <a:ext cx="5450000" cy="1160000"/>
          </a:xfrm>
          <a:prstGeom prst="rect">
            <a:avLst/>
          </a:prstGeom>
          <a:noFill/>
          <a:ln/>
        </p:spPr>
        <p:txBody>
          <a:bodyPr wrap="square" lIns="0" tIns="0" rIns="0" bIns="0" rtlCol="0" anchor="t"/>
          <a:lstStyle/>
          <a:p>
            <a:pPr marL="0" indent="0">
              <a:buNone/>
            </a:pPr>
            <a:r>
              <a:rPr lang="en-US" sz="1000" b="1" kern="0" spc="150">
                <a:solidFill>
                  <a:srgbClr val="7FC7E6"/>
                </a:solidFill>
                <a:latin typeface="Calibri" pitchFamily="34" charset="0"/>
                <a:ea typeface="Calibri" pitchFamily="34" charset="-122"/>
                <a:cs typeface="Calibri" pitchFamily="34" charset="-120"/>
              </a:rPr>
              <a:t>PRACTISE</a:t>
            </a:r>
          </a:p>
          <a:p>
            <a:pPr marL="0" indent="0">
              <a:spcBef>
                <a:spcPts val="500"/>
              </a:spcBef>
              <a:buNone/>
            </a:pPr>
            <a:r>
              <a:rPr lang="en-US" sz="1150">
                <a:solidFill>
                  <a:srgbClr val="FFFFFF"/>
                </a:solidFill>
                <a:latin typeface="Calibri" pitchFamily="34" charset="0"/>
                <a:ea typeface="Calibri" pitchFamily="34" charset="-122"/>
                <a:cs typeface="Calibri" pitchFamily="34" charset="-120"/>
              </a:rPr>
              <a:t>Add =Count(*) to the report footer to show how many cars are in the Dodgy Dave's Motors database.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tarter Code">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TOOLKIT  ·  STARTER STEPS</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Follow Along</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000" b="1">
                <a:solidFill>
                  <a:srgbClr val="10324B"/>
                </a:solidFill>
                <a:latin typeface="Georgia" pitchFamily="34" charset="0"/>
                <a:ea typeface="Georgia" pitchFamily="34" charset="-122"/>
                <a:cs typeface="Georgia" pitchFamily="34" charset="-120"/>
              </a:rPr>
              <a:t>Starter Steps for Your Cars Database</a:t>
            </a:r>
            <a:endParaRPr lang="en-US" sz="2000"/>
          </a:p>
        </p:txBody>
      </p:sp>
      <p:sp>
        <p:nvSpPr>
          <p:cNvPr id="8" name="Intro"/>
          <p:cNvSpPr/>
          <p:nvPr/>
        </p:nvSpPr>
        <p:spPr>
          <a:xfrm>
            <a:off x="457200" y="1500000"/>
            <a:ext cx="5943600" cy="50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Work through each block in Access, then change the makes, models and prices to build your own Dodgy Dave's Motors database.</a:t>
            </a:r>
            <a:endParaRPr lang="en-US" sz="1200"/>
          </a:p>
        </p:txBody>
      </p:sp>
      <p:sp>
        <p:nvSpPr>
          <p:cNvPr id="10" name="Card1 BG"/>
          <p:cNvSpPr/>
          <p:nvPr/>
        </p:nvSpPr>
        <p:spPr>
          <a:xfrm>
            <a:off x="457200" y="2120000"/>
            <a:ext cx="5943600" cy="216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Card1 Accent"/>
          <p:cNvSpPr/>
          <p:nvPr/>
        </p:nvSpPr>
        <p:spPr>
          <a:xfrm>
            <a:off x="457200" y="2120000"/>
            <a:ext cx="80000" cy="2160000"/>
          </a:xfrm>
          <a:prstGeom prst="rect">
            <a:avLst/>
          </a:prstGeom>
          <a:solidFill>
            <a:srgbClr val="B8862B"/>
          </a:solidFill>
          <a:ln/>
        </p:spPr>
        <p:txBody>
          <a:bodyPr/>
          <a:lstStyle/>
          <a:p>
            <a:endParaRPr lang="en-AE"/>
          </a:p>
        </p:txBody>
      </p:sp>
      <p:sp>
        <p:nvSpPr>
          <p:cNvPr id="12" name="Card1 Text"/>
          <p:cNvSpPr/>
          <p:nvPr/>
        </p:nvSpPr>
        <p:spPr>
          <a:xfrm>
            <a:off x="677200" y="2270000"/>
            <a:ext cx="5503600" cy="186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1  ·  CREATE THE TABLE  —  save as tblCars</a:t>
            </a:r>
          </a:p>
          <a:p>
            <a:pPr marL="0" indent="0">
              <a:spcBef>
                <a:spcPts val="0"/>
              </a:spcBef>
              <a:buNone/>
            </a:pPr>
            <a:r>
              <a:rPr lang="en-US" sz="1000">
                <a:solidFill>
                  <a:srgbClr val="10324B"/>
                </a:solidFill>
                <a:latin typeface="Consolas" pitchFamily="49" charset="0"/>
                <a:cs typeface="Consolas" pitchFamily="49" charset="0"/>
              </a:rPr>
              <a:t>Create Table  &gt;  Design View</a:t>
            </a:r>
          </a:p>
          <a:p>
            <a:pPr marL="0" indent="0">
              <a:spcBef>
                <a:spcPts val="300"/>
              </a:spcBef>
              <a:buNone/>
            </a:pPr>
            <a:r>
              <a:rPr lang="en-US" sz="1000">
                <a:solidFill>
                  <a:srgbClr val="10324B"/>
                </a:solidFill>
                <a:latin typeface="Consolas" pitchFamily="49" charset="0"/>
                <a:cs typeface="Consolas" pitchFamily="49" charset="0"/>
              </a:rPr>
              <a:t>Add field: CarID  (AutoNumber)</a:t>
            </a:r>
          </a:p>
          <a:p>
            <a:pPr marL="0" indent="0">
              <a:spcBef>
                <a:spcPts val="300"/>
              </a:spcBef>
              <a:buNone/>
            </a:pPr>
            <a:r>
              <a:rPr lang="en-US" sz="1000">
                <a:solidFill>
                  <a:srgbClr val="10324B"/>
                </a:solidFill>
                <a:latin typeface="Consolas" pitchFamily="49" charset="0"/>
                <a:cs typeface="Consolas" pitchFamily="49" charset="0"/>
              </a:rPr>
              <a:t>  Set CarID as the Primary Key</a:t>
            </a:r>
          </a:p>
          <a:p>
            <a:pPr marL="0" indent="0">
              <a:spcBef>
                <a:spcPts val="300"/>
              </a:spcBef>
              <a:buNone/>
            </a:pPr>
            <a:r>
              <a:rPr lang="en-US" sz="1000">
                <a:solidFill>
                  <a:srgbClr val="10324B"/>
                </a:solidFill>
                <a:latin typeface="Consolas" pitchFamily="49" charset="0"/>
                <a:cs typeface="Consolas" pitchFamily="49" charset="0"/>
              </a:rPr>
              <a:t>Add field: Make  (Short Text)</a:t>
            </a:r>
          </a:p>
          <a:p>
            <a:pPr marL="0" indent="0">
              <a:spcBef>
                <a:spcPts val="300"/>
              </a:spcBef>
              <a:buNone/>
            </a:pPr>
            <a:r>
              <a:rPr lang="en-US" sz="1000">
                <a:solidFill>
                  <a:srgbClr val="10324B"/>
                </a:solidFill>
                <a:latin typeface="Consolas" pitchFamily="49" charset="0"/>
                <a:cs typeface="Consolas" pitchFamily="49" charset="0"/>
              </a:rPr>
              <a:t>Add field: Model  (Short Text)</a:t>
            </a:r>
          </a:p>
          <a:p>
            <a:pPr marL="0" indent="0">
              <a:spcBef>
                <a:spcPts val="300"/>
              </a:spcBef>
              <a:buNone/>
            </a:pPr>
            <a:r>
              <a:rPr lang="en-US" sz="1000">
                <a:solidFill>
                  <a:srgbClr val="10324B"/>
                </a:solidFill>
                <a:latin typeface="Consolas" pitchFamily="49" charset="0"/>
                <a:cs typeface="Consolas" pitchFamily="49" charset="0"/>
              </a:rPr>
              <a:t>Add field: Year  (Number)</a:t>
            </a:r>
          </a:p>
          <a:p>
            <a:pPr marL="0" indent="0">
              <a:spcBef>
                <a:spcPts val="300"/>
              </a:spcBef>
              <a:buNone/>
            </a:pPr>
            <a:r>
              <a:rPr lang="en-US" sz="1000">
                <a:solidFill>
                  <a:srgbClr val="10324B"/>
                </a:solidFill>
                <a:latin typeface="Consolas" pitchFamily="49" charset="0"/>
                <a:cs typeface="Consolas" pitchFamily="49" charset="0"/>
              </a:rPr>
              <a:t>Add field: Price  (Currency)</a:t>
            </a:r>
          </a:p>
          <a:p>
            <a:pPr marL="0" indent="0">
              <a:spcBef>
                <a:spcPts val="300"/>
              </a:spcBef>
              <a:buNone/>
            </a:pPr>
            <a:r>
              <a:rPr lang="en-US" sz="1000">
                <a:solidFill>
                  <a:srgbClr val="10324B"/>
                </a:solidFill>
                <a:latin typeface="Consolas" pitchFamily="49" charset="0"/>
                <a:cs typeface="Consolas" pitchFamily="49" charset="0"/>
              </a:rPr>
              <a:t>Save the table as tblCars</a:t>
            </a:r>
          </a:p>
        </p:txBody>
      </p:sp>
      <p:sp>
        <p:nvSpPr>
          <p:cNvPr id="20" name="Card2 BG"/>
          <p:cNvSpPr/>
          <p:nvPr/>
        </p:nvSpPr>
        <p:spPr>
          <a:xfrm>
            <a:off x="457200" y="4420000"/>
            <a:ext cx="5943600" cy="15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Card2 Accent"/>
          <p:cNvSpPr/>
          <p:nvPr/>
        </p:nvSpPr>
        <p:spPr>
          <a:xfrm>
            <a:off x="457200" y="4420000"/>
            <a:ext cx="80000" cy="1520000"/>
          </a:xfrm>
          <a:prstGeom prst="rect">
            <a:avLst/>
          </a:prstGeom>
          <a:solidFill>
            <a:srgbClr val="159BD2"/>
          </a:solidFill>
          <a:ln/>
        </p:spPr>
        <p:txBody>
          <a:bodyPr/>
          <a:lstStyle/>
          <a:p>
            <a:endParaRPr lang="en-AE"/>
          </a:p>
        </p:txBody>
      </p:sp>
      <p:sp>
        <p:nvSpPr>
          <p:cNvPr id="22" name="Card2 Text"/>
          <p:cNvSpPr/>
          <p:nvPr/>
        </p:nvSpPr>
        <p:spPr>
          <a:xfrm>
            <a:off x="677200" y="4570000"/>
            <a:ext cx="5503600" cy="122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2  ·  QUERY  —  cars over £10,000</a:t>
            </a:r>
          </a:p>
          <a:p>
            <a:pPr marL="0" indent="0">
              <a:spcBef>
                <a:spcPts val="0"/>
              </a:spcBef>
              <a:buNone/>
            </a:pPr>
            <a:r>
              <a:rPr lang="en-US" sz="1000">
                <a:solidFill>
                  <a:srgbClr val="10324B"/>
                </a:solidFill>
                <a:latin typeface="Consolas" pitchFamily="49" charset="0"/>
                <a:cs typeface="Consolas" pitchFamily="49" charset="0"/>
              </a:rPr>
              <a:t>Create  &gt;  Query Design</a:t>
            </a:r>
          </a:p>
          <a:p>
            <a:pPr marL="0" indent="0">
              <a:spcBef>
                <a:spcPts val="300"/>
              </a:spcBef>
              <a:buNone/>
            </a:pPr>
            <a:r>
              <a:rPr lang="en-US" sz="1000">
                <a:solidFill>
                  <a:srgbClr val="10324B"/>
                </a:solidFill>
                <a:latin typeface="Consolas" pitchFamily="49" charset="0"/>
                <a:cs typeface="Consolas" pitchFamily="49" charset="0"/>
              </a:rPr>
              <a:t>  Add tblCars, then add the fields</a:t>
            </a:r>
          </a:p>
          <a:p>
            <a:pPr marL="0" indent="0">
              <a:spcBef>
                <a:spcPts val="300"/>
              </a:spcBef>
              <a:buNone/>
            </a:pPr>
            <a:r>
              <a:rPr lang="en-US" sz="1000">
                <a:solidFill>
                  <a:srgbClr val="10324B"/>
                </a:solidFill>
                <a:latin typeface="Consolas" pitchFamily="49" charset="0"/>
                <a:cs typeface="Consolas" pitchFamily="49" charset="0"/>
              </a:rPr>
              <a:t>  Show: Make, Model, Price</a:t>
            </a:r>
          </a:p>
          <a:p>
            <a:pPr marL="0" indent="0">
              <a:spcBef>
                <a:spcPts val="300"/>
              </a:spcBef>
              <a:buNone/>
            </a:pPr>
            <a:r>
              <a:rPr lang="en-US" sz="1000">
                <a:solidFill>
                  <a:srgbClr val="10324B"/>
                </a:solidFill>
                <a:latin typeface="Consolas" pitchFamily="49" charset="0"/>
                <a:cs typeface="Consolas" pitchFamily="49" charset="0"/>
              </a:rPr>
              <a:t>  Criteria under Price:  &gt; 10000</a:t>
            </a:r>
          </a:p>
          <a:p>
            <a:pPr marL="0" indent="0">
              <a:spcBef>
                <a:spcPts val="300"/>
              </a:spcBef>
              <a:buNone/>
            </a:pPr>
            <a:r>
              <a:rPr lang="en-US" sz="1000">
                <a:solidFill>
                  <a:srgbClr val="10324B"/>
                </a:solidFill>
                <a:latin typeface="Consolas" pitchFamily="49" charset="0"/>
                <a:cs typeface="Consolas" pitchFamily="49" charset="0"/>
              </a:rPr>
              <a:t>Run, then save as qryCarsOver10000</a:t>
            </a:r>
          </a:p>
        </p:txBody>
      </p:sp>
      <p:sp>
        <p:nvSpPr>
          <p:cNvPr id="50" name="Card3 BG"/>
          <p:cNvSpPr/>
          <p:nvPr/>
        </p:nvSpPr>
        <p:spPr>
          <a:xfrm>
            <a:off x="457200" y="6080000"/>
            <a:ext cx="5943600" cy="88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52" name="Card3 Accent"/>
          <p:cNvSpPr/>
          <p:nvPr/>
        </p:nvSpPr>
        <p:spPr>
          <a:xfrm>
            <a:off x="457200" y="6080000"/>
            <a:ext cx="80000" cy="880000"/>
          </a:xfrm>
          <a:prstGeom prst="rect">
            <a:avLst/>
          </a:prstGeom>
          <a:solidFill>
            <a:srgbClr val="B8862B"/>
          </a:solidFill>
          <a:ln/>
        </p:spPr>
        <p:txBody>
          <a:bodyPr/>
          <a:lstStyle/>
          <a:p>
            <a:endParaRPr lang="en-AE"/>
          </a:p>
        </p:txBody>
      </p:sp>
      <p:sp>
        <p:nvSpPr>
          <p:cNvPr id="51" name="Card3 Text"/>
          <p:cNvSpPr/>
          <p:nvPr/>
        </p:nvSpPr>
        <p:spPr>
          <a:xfrm>
            <a:off x="677200" y="6230000"/>
            <a:ext cx="5503600" cy="58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3  ·  FORM  —  add records with ease</a:t>
            </a:r>
          </a:p>
          <a:p>
            <a:pPr marL="0" indent="0">
              <a:spcBef>
                <a:spcPts val="0"/>
              </a:spcBef>
              <a:buNone/>
            </a:pPr>
            <a:r>
              <a:rPr lang="en-US" sz="1000">
                <a:solidFill>
                  <a:srgbClr val="10324B"/>
                </a:solidFill>
                <a:latin typeface="Consolas" pitchFamily="49" charset="0"/>
                <a:cs typeface="Consolas" pitchFamily="49" charset="0"/>
              </a:rPr>
              <a:t>Select tblCars, then Create  &gt;  Form Wizard</a:t>
            </a:r>
          </a:p>
          <a:p>
            <a:pPr marL="0" indent="0">
              <a:spcBef>
                <a:spcPts val="300"/>
              </a:spcBef>
              <a:buNone/>
            </a:pPr>
            <a:r>
              <a:rPr lang="en-US" sz="1000">
                <a:solidFill>
                  <a:srgbClr val="10324B"/>
                </a:solidFill>
                <a:latin typeface="Consolas" pitchFamily="49" charset="0"/>
                <a:cs typeface="Consolas" pitchFamily="49" charset="0"/>
              </a:rPr>
              <a:t>Add all fields, then save the form as frmCars</a:t>
            </a:r>
          </a:p>
        </p:txBody>
      </p:sp>
      <p:sp>
        <p:nvSpPr>
          <p:cNvPr id="60" name="Card4 BG"/>
          <p:cNvSpPr/>
          <p:nvPr/>
        </p:nvSpPr>
        <p:spPr>
          <a:xfrm>
            <a:off x="457200" y="7100000"/>
            <a:ext cx="5943600" cy="175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61" name="Card4 Accent"/>
          <p:cNvSpPr/>
          <p:nvPr/>
        </p:nvSpPr>
        <p:spPr>
          <a:xfrm>
            <a:off x="457200" y="7100000"/>
            <a:ext cx="80000" cy="1750000"/>
          </a:xfrm>
          <a:prstGeom prst="rect">
            <a:avLst/>
          </a:prstGeom>
          <a:solidFill>
            <a:srgbClr val="159BD2"/>
          </a:solidFill>
          <a:ln/>
        </p:spPr>
        <p:txBody>
          <a:bodyPr/>
          <a:lstStyle/>
          <a:p>
            <a:endParaRPr lang="en-AE"/>
          </a:p>
        </p:txBody>
      </p:sp>
      <p:sp>
        <p:nvSpPr>
          <p:cNvPr id="62" name="Card4 Text"/>
          <p:cNvSpPr/>
          <p:nvPr/>
        </p:nvSpPr>
        <p:spPr>
          <a:xfrm>
            <a:off x="677200" y="7250000"/>
            <a:ext cx="5503600" cy="145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4  ·  REPORT  —  grouped and totalled</a:t>
            </a:r>
          </a:p>
          <a:p>
            <a:pPr marL="0" indent="0">
              <a:spcBef>
                <a:spcPts val="0"/>
              </a:spcBef>
              <a:buNone/>
            </a:pPr>
            <a:r>
              <a:rPr lang="en-US" sz="1000">
                <a:solidFill>
                  <a:srgbClr val="10324B"/>
                </a:solidFill>
                <a:latin typeface="Consolas" pitchFamily="49" charset="0"/>
                <a:cs typeface="Consolas" pitchFamily="49" charset="0"/>
              </a:rPr>
              <a:t>Create  &gt;  Report Wizard</a:t>
            </a:r>
          </a:p>
          <a:p>
            <a:pPr marL="0" indent="0">
              <a:spcBef>
                <a:spcPts val="300"/>
              </a:spcBef>
              <a:buNone/>
            </a:pPr>
            <a:r>
              <a:rPr lang="en-US" sz="1000">
                <a:solidFill>
                  <a:srgbClr val="10324B"/>
                </a:solidFill>
                <a:latin typeface="Consolas" pitchFamily="49" charset="0"/>
                <a:cs typeface="Consolas" pitchFamily="49" charset="0"/>
              </a:rPr>
              <a:t>  Base it on tblCars, group by Make</a:t>
            </a:r>
          </a:p>
          <a:p>
            <a:pPr marL="0" indent="0">
              <a:spcBef>
                <a:spcPts val="300"/>
              </a:spcBef>
              <a:buNone/>
            </a:pPr>
            <a:r>
              <a:rPr lang="en-US" sz="1000">
                <a:solidFill>
                  <a:srgbClr val="10324B"/>
                </a:solidFill>
                <a:latin typeface="Consolas" pitchFamily="49" charset="0"/>
                <a:cs typeface="Consolas" pitchFamily="49" charset="0"/>
              </a:rPr>
              <a:t>  Sort the detail rows by Price</a:t>
            </a:r>
          </a:p>
          <a:p>
            <a:pPr marL="0" indent="0">
              <a:spcBef>
                <a:spcPts val="300"/>
              </a:spcBef>
              <a:buNone/>
            </a:pPr>
            <a:r>
              <a:rPr lang="en-US" sz="1000">
                <a:solidFill>
                  <a:srgbClr val="10324B"/>
                </a:solidFill>
                <a:latin typeface="Consolas" pitchFamily="49" charset="0"/>
                <a:cs typeface="Consolas" pitchFamily="49" charset="0"/>
              </a:rPr>
              <a:t>Add =Count(*) to the group footer</a:t>
            </a:r>
          </a:p>
          <a:p>
            <a:pPr marL="0" indent="0">
              <a:spcBef>
                <a:spcPts val="300"/>
              </a:spcBef>
              <a:buNone/>
            </a:pPr>
            <a:r>
              <a:rPr lang="en-US" sz="1000">
                <a:solidFill>
                  <a:srgbClr val="10324B"/>
                </a:solidFill>
                <a:latin typeface="Consolas" pitchFamily="49" charset="0"/>
                <a:cs typeface="Consolas" pitchFamily="49" charset="0"/>
              </a:rPr>
              <a:t>  Add =Sum([Price]) to the report footer</a:t>
            </a:r>
          </a:p>
          <a:p>
            <a:pPr marL="0" indent="0">
              <a:spcBef>
                <a:spcPts val="300"/>
              </a:spcBef>
              <a:buNone/>
            </a:pPr>
            <a:r>
              <a:rPr lang="en-US" sz="1000">
                <a:solidFill>
                  <a:srgbClr val="10324B"/>
                </a:solidFill>
                <a:latin typeface="Consolas" pitchFamily="49" charset="0"/>
                <a:cs typeface="Consolas" pitchFamily="49" charset="0"/>
              </a:rPr>
              <a:t>Preview, then save the report as rptCars</a:t>
            </a:r>
          </a:p>
          <a:p>
            <a:pPr marL="0" indent="0">
              <a:spcBef>
                <a:spcPts val="300"/>
              </a:spcBef>
              <a:buNone/>
            </a:pPr>
            <a:r>
              <a:rPr lang="en-US" sz="1000">
                <a:solidFill>
                  <a:srgbClr val="10324B"/>
                </a:solidFill>
                <a:latin typeface="Consolas" pitchFamily="49" charset="0"/>
                <a:cs typeface="Consolas" pitchFamily="49" charset="0"/>
              </a:rPr>
              <a:t>Done — a complete Cars database!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Coursework Brief">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7  ·  COURSEWORK BRIEF</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Coursework</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Dodgy Dave's Motors Database</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This is your coursework: build a working database for Dodgy Dave's Motors. Plan your table first, then build each object one at a time.</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YOUR BRIEF  ·  DODGY DAVE'S MOTORS</a:t>
            </a:r>
          </a:p>
          <a:p>
            <a:pPr marL="0" indent="0">
              <a:spcBef>
                <a:spcPts val="500"/>
              </a:spcBef>
              <a:buNone/>
            </a:pPr>
            <a:r>
              <a:rPr lang="en-US" sz="1100">
                <a:solidFill>
                  <a:srgbClr val="10324B"/>
                </a:solidFill>
                <a:latin typeface="Calibri" pitchFamily="34" charset="0"/>
                <a:ea typeface="Calibri" pitchFamily="34" charset="-122"/>
                <a:cs typeface="Calibri" pitchFamily="34" charset="-120"/>
              </a:rPr>
              <a:t>Build a working database for Dodgy Dave's Motors: a table of cars with the right data types, a form to add records, a query to find cars over a set price, and a grouped, totalled report. Use sensible object names throughout.</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HOW TO BUILD IT</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Create tblCars in Design View: CarID (AutoNumber, primary key), Make, Model, Year and Price with correct data types.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Build frmCars with the Form Wizard so staff can add and edit car records one at a time.</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Design qryCarsOver10000 to show Make, Model and Price for every car priced over £10,000.</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Build rptCars grouped by Make, sorted by Price, with a count in each group and a grand total at the end.</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STRETCH  ·  GO FURTHER</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Add a validation rule so Year cannot be in the future, and a second query that sorts cars from newest to oldest.</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4"/>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5"/>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6"/>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7"/>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8"/>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9"/>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tudent Checklist">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2"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2"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7  ·  COURSEWORK CHECKLIST</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Checklist</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Your Cars Database Build Checklist</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Tick each box as you finish it. Print this page and keep it beside your work as you build.</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OBJECTS TO BUILD</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tblCars — correct fields, data types and a primary key</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frmCars — a form to add and edit car records</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qryCarsOver10000 and rptCars — a query and a grouped report</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STYLE &amp; FINISH</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Field validation and sensible input masks applied</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Query criteria and sort order return the right records</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Report grouped, sorted and totalled correctly</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Saved in one database file with clear object names</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BEFORE YOU HAND IN</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Open each query and report to check the records are right, then compact and save the database before you hand in.</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3"/>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4"/>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5"/>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6"/>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7"/>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8"/>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Marking Rubric">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2"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2"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7  ·  MARKING RUBRIC</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Rubric</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How Your Cars Database Is Marked</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Check your work against this before you hand in. The build is marked out of 20.</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WHAT WE MARK</a:t>
            </a:r>
          </a:p>
          <a:p>
            <a:pPr marL="274320" indent="-274320">
              <a:spcBef>
                <a:spcPts val="500"/>
              </a:spcBef>
              <a:buNone/>
            </a:pPr>
            <a:r>
              <a:rPr lang="en-US" sz="1050" b="1">
                <a:solidFill>
                  <a:srgbClr val="B8862B"/>
                </a:solidFill>
                <a:latin typeface="Calibri" pitchFamily="34" charset="0"/>
                <a:ea typeface="Calibri" pitchFamily="34" charset="-122"/>
                <a:cs typeface="Calibri" pitchFamily="34" charset="-120"/>
              </a:rPr>
              <a:t>6 </a:t>
            </a:r>
            <a:r>
              <a:rPr lang="en-US" sz="1050" b="1">
                <a:solidFill>
                  <a:srgbClr val="10324B"/>
                </a:solidFill>
                <a:latin typeface="Calibri" pitchFamily="34" charset="0"/>
                <a:ea typeface="Calibri" pitchFamily="34" charset="-122"/>
                <a:cs typeface="Calibri" pitchFamily="34" charset="-120"/>
              </a:rPr>
              <a:t>Table </a:t>
            </a:r>
            <a:r>
              <a:rPr lang="en-US" sz="1050">
                <a:solidFill>
                  <a:srgbClr val="21323D"/>
                </a:solidFill>
                <a:latin typeface="Calibri" pitchFamily="34" charset="0"/>
                <a:ea typeface="Calibri" pitchFamily="34" charset="-122"/>
                <a:cs typeface="Calibri" pitchFamily="34" charset="-120"/>
              </a:rPr>
              <a:t>— correct fields, data types and a primary key</a:t>
            </a:r>
          </a:p>
          <a:p>
            <a:pPr marL="274320" indent="-274320">
              <a:spcBef>
                <a:spcPts val="400"/>
              </a:spcBef>
              <a:buNone/>
            </a:pPr>
            <a:r>
              <a:rPr lang="en-US" sz="1050" b="1">
                <a:solidFill>
                  <a:srgbClr val="B8862B"/>
                </a:solidFill>
                <a:latin typeface="Calibri" pitchFamily="34" charset="0"/>
                <a:ea typeface="Calibri" pitchFamily="34" charset="-122"/>
                <a:cs typeface="Calibri" pitchFamily="34" charset="-120"/>
              </a:rPr>
              <a:t>6 </a:t>
            </a:r>
            <a:r>
              <a:rPr lang="en-US" sz="1050" b="1">
                <a:solidFill>
                  <a:srgbClr val="10324B"/>
                </a:solidFill>
                <a:latin typeface="Calibri" pitchFamily="34" charset="0"/>
                <a:ea typeface="Calibri" pitchFamily="34" charset="-122"/>
                <a:cs typeface="Calibri" pitchFamily="34" charset="-120"/>
              </a:rPr>
              <a:t>Query &amp; form </a:t>
            </a:r>
            <a:r>
              <a:rPr lang="en-US" sz="1050">
                <a:solidFill>
                  <a:srgbClr val="21323D"/>
                </a:solidFill>
                <a:latin typeface="Calibri" pitchFamily="34" charset="0"/>
                <a:ea typeface="Calibri" pitchFamily="34" charset="-122"/>
                <a:cs typeface="Calibri" pitchFamily="34" charset="-120"/>
              </a:rPr>
              <a:t>— a working form and a query that filters correctly</a:t>
            </a:r>
          </a:p>
          <a:p>
            <a:pPr marL="274320" indent="-274320">
              <a:spcBef>
                <a:spcPts val="400"/>
              </a:spcBef>
              <a:buNone/>
            </a:pPr>
            <a:r>
              <a:rPr lang="en-US" sz="1050" b="1">
                <a:solidFill>
                  <a:srgbClr val="B8862B"/>
                </a:solidFill>
                <a:latin typeface="Calibri" pitchFamily="34" charset="0"/>
                <a:ea typeface="Calibri" pitchFamily="34" charset="-122"/>
                <a:cs typeface="Calibri" pitchFamily="34" charset="-120"/>
              </a:rPr>
              <a:t>6 </a:t>
            </a:r>
            <a:r>
              <a:rPr lang="en-US" sz="1050" b="1">
                <a:solidFill>
                  <a:srgbClr val="10324B"/>
                </a:solidFill>
                <a:latin typeface="Calibri" pitchFamily="34" charset="0"/>
                <a:ea typeface="Calibri" pitchFamily="34" charset="-122"/>
                <a:cs typeface="Calibri" pitchFamily="34" charset="-120"/>
              </a:rPr>
              <a:t>Report </a:t>
            </a:r>
            <a:r>
              <a:rPr lang="en-US" sz="1050">
                <a:solidFill>
                  <a:srgbClr val="21323D"/>
                </a:solidFill>
                <a:latin typeface="Calibri" pitchFamily="34" charset="0"/>
                <a:ea typeface="Calibri" pitchFamily="34" charset="-122"/>
                <a:cs typeface="Calibri" pitchFamily="34" charset="-120"/>
              </a:rPr>
              <a:t>— grouped, sorted and totalled the right way</a:t>
            </a:r>
          </a:p>
          <a:p>
            <a:pPr marL="274320" indent="-274320">
              <a:spcBef>
                <a:spcPts val="400"/>
              </a:spcBef>
              <a:buNone/>
            </a:pPr>
            <a:r>
              <a:rPr lang="en-US" sz="1050" b="1">
                <a:solidFill>
                  <a:srgbClr val="B8862B"/>
                </a:solidFill>
                <a:latin typeface="Calibri" pitchFamily="34" charset="0"/>
                <a:ea typeface="Calibri" pitchFamily="34" charset="-122"/>
                <a:cs typeface="Calibri" pitchFamily="34" charset="-120"/>
              </a:rPr>
              <a:t>2 </a:t>
            </a:r>
            <a:r>
              <a:rPr lang="en-US" sz="1050" b="1">
                <a:solidFill>
                  <a:srgbClr val="10324B"/>
                </a:solidFill>
                <a:latin typeface="Calibri" pitchFamily="34" charset="0"/>
                <a:ea typeface="Calibri" pitchFamily="34" charset="-122"/>
                <a:cs typeface="Calibri" pitchFamily="34" charset="-120"/>
              </a:rPr>
              <a:t>Care &amp; accuracy </a:t>
            </a:r>
            <a:r>
              <a:rPr lang="en-US" sz="1050">
                <a:solidFill>
                  <a:srgbClr val="21323D"/>
                </a:solidFill>
                <a:latin typeface="Calibri" pitchFamily="34" charset="0"/>
                <a:ea typeface="Calibri" pitchFamily="34" charset="-122"/>
                <a:cs typeface="Calibri" pitchFamily="34" charset="-120"/>
              </a:rPr>
              <a:t>— validation, tidy layout, sensible object names</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MARK BANDS</a:t>
            </a:r>
          </a:p>
          <a:p>
            <a:pPr marL="1600200" indent="-1600200">
              <a:spcBef>
                <a:spcPts val="700"/>
              </a:spcBef>
              <a:buNone/>
            </a:pPr>
            <a:r>
              <a:rPr lang="en-US" sz="1100" b="1">
                <a:solidFill>
                  <a:srgbClr val="0F7BA8"/>
                </a:solidFill>
                <a:latin typeface="Calibri" pitchFamily="34" charset="0"/>
                <a:ea typeface="Calibri" pitchFamily="34" charset="-122"/>
                <a:cs typeface="Calibri" pitchFamily="34" charset="-120"/>
              </a:rPr>
              <a:t>Secure (17–20) </a:t>
            </a:r>
            <a:r>
              <a:rPr lang="en-US" sz="1100">
                <a:solidFill>
                  <a:srgbClr val="21323D"/>
                </a:solidFill>
                <a:latin typeface="Calibri" pitchFamily="34" charset="0"/>
                <a:ea typeface="Calibri" pitchFamily="34" charset="-122"/>
                <a:cs typeface="Calibri" pitchFamily="34" charset="-120"/>
              </a:rPr>
              <a:t>table, form, query and report all correct and well named.</a:t>
            </a:r>
          </a:p>
          <a:p>
            <a:pPr marL="1600200" indent="-1600200">
              <a:spcBef>
                <a:spcPts val="700"/>
              </a:spcBef>
              <a:buNone/>
            </a:pPr>
            <a:r>
              <a:rPr lang="en-US" sz="1100" b="1">
                <a:solidFill>
                  <a:srgbClr val="0F7BA8"/>
                </a:solidFill>
                <a:latin typeface="Calibri" pitchFamily="34" charset="0"/>
                <a:ea typeface="Calibri" pitchFamily="34" charset="-122"/>
                <a:cs typeface="Calibri" pitchFamily="34" charset="-120"/>
              </a:rPr>
              <a:t>Developing (11–16) </a:t>
            </a:r>
            <a:r>
              <a:rPr lang="en-US" sz="1100">
                <a:solidFill>
                  <a:srgbClr val="21323D"/>
                </a:solidFill>
                <a:latin typeface="Calibri" pitchFamily="34" charset="0"/>
                <a:ea typeface="Calibri" pitchFamily="34" charset="-122"/>
                <a:cs typeface="Calibri" pitchFamily="34" charset="-120"/>
              </a:rPr>
              <a:t>most objects work, with minor query or report gaps.</a:t>
            </a:r>
          </a:p>
          <a:p>
            <a:pPr marL="1600200" indent="-1600200">
              <a:spcBef>
                <a:spcPts val="700"/>
              </a:spcBef>
              <a:buNone/>
            </a:pPr>
            <a:r>
              <a:rPr lang="en-US" sz="1100" b="1">
                <a:solidFill>
                  <a:srgbClr val="0F7BA8"/>
                </a:solidFill>
                <a:latin typeface="Calibri" pitchFamily="34" charset="0"/>
                <a:ea typeface="Calibri" pitchFamily="34" charset="-122"/>
                <a:cs typeface="Calibri" pitchFamily="34" charset="-120"/>
              </a:rPr>
              <a:t>Emerging (1–10) </a:t>
            </a:r>
            <a:r>
              <a:rPr lang="en-US" sz="1100">
                <a:solidFill>
                  <a:srgbClr val="21323D"/>
                </a:solidFill>
                <a:latin typeface="Calibri" pitchFamily="34" charset="0"/>
                <a:ea typeface="Calibri" pitchFamily="34" charset="-122"/>
                <a:cs typeface="Calibri" pitchFamily="34" charset="-120"/>
              </a:rPr>
              <a:t>only a table built or the report still incomplete.</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TOTAL  ·  20 MARKS</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Aim for Secure: a well-built table, a working form, a filtered query and a grouped, totalled report.</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3"/>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4"/>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5"/>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6"/>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7"/>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8"/>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ck Quiz">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3"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3"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7  ·  QUICK QUIZ</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Quick Quiz</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000" b="1">
                <a:solidFill>
                  <a:srgbClr val="10324B"/>
                </a:solidFill>
                <a:latin typeface="Georgia" pitchFamily="34" charset="0"/>
                <a:ea typeface="Georgia" pitchFamily="34" charset="-122"/>
                <a:cs typeface="Georgia" pitchFamily="34" charset="-120"/>
              </a:rPr>
              <a:t>Quick Quiz: Check Your Understanding</a:t>
            </a:r>
            <a:endParaRPr lang="en-US" sz="20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Try these exam-style questions from memory. The marks are shown for each one, and the answers are in the teaching notes.</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SECTION A  ·  RECALL  ·  1 MARK EACH</a:t>
            </a:r>
          </a:p>
          <a:p>
            <a:pPr marL="285750" indent="-285750">
              <a:spcBef>
                <a:spcPts val="500"/>
              </a:spcBef>
              <a:buFont typeface="+mj-lt"/>
              <a:buAutoNum type="arabicPeriod"/>
            </a:pPr>
            <a:r>
              <a:rPr lang="en-US" sz="1100">
                <a:solidFill>
                  <a:srgbClr val="10324B"/>
                </a:solidFill>
                <a:latin typeface="Calibri" pitchFamily="34" charset="0"/>
                <a:ea typeface="Calibri" pitchFamily="34" charset="-122"/>
                <a:cs typeface="Calibri" pitchFamily="34" charset="-120"/>
              </a:rPr>
              <a:t>Which data type would you use to store a car's price?</a:t>
            </a:r>
          </a:p>
          <a:p>
            <a:pPr marL="285750" indent="-285750">
              <a:spcBef>
                <a:spcPts val="300"/>
              </a:spcBef>
              <a:buFont typeface="+mj-lt"/>
              <a:buAutoNum type="arabicPeriod"/>
            </a:pPr>
            <a:r>
              <a:rPr lang="en-US" sz="1100">
                <a:solidFill>
                  <a:srgbClr val="10324B"/>
                </a:solidFill>
                <a:latin typeface="Calibri" pitchFamily="34" charset="0"/>
                <a:ea typeface="Calibri" pitchFamily="34" charset="-122"/>
                <a:cs typeface="Calibri" pitchFamily="34" charset="-120"/>
              </a:rPr>
              <a:t>What is the job of a primary key in a table?</a:t>
            </a:r>
          </a:p>
          <a:p>
            <a:pPr marL="285750" indent="-285750">
              <a:spcBef>
                <a:spcPts val="300"/>
              </a:spcBef>
              <a:buFont typeface="+mj-lt"/>
              <a:buAutoNum type="arabicPeriod"/>
            </a:pPr>
            <a:r>
              <a:rPr lang="en-US" sz="1100">
                <a:solidFill>
                  <a:srgbClr val="10324B"/>
                </a:solidFill>
                <a:latin typeface="Calibri" pitchFamily="34" charset="0"/>
                <a:ea typeface="Calibri" pitchFamily="34" charset="-122"/>
                <a:cs typeface="Calibri" pitchFamily="34" charset="-120"/>
              </a:rPr>
              <a:t>Which database object is used to enter and edit records?</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SECTION B  ·  SHORT ANSWER</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Name two suitable data types for the fields in tblCars. (2 marks)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Give one reason a validation rule is useful when entering data. (2 marks)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Name three sections you find in an Access report. (3 marks)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Explain what a query does to the records in a table. (2 marks)</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CHALLENGE  ·  YOUR CARS DATABASE</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For your Cars database, write the query criteria that shows only cars priced over £10,000, then describe which report section would hold the =Sum([Price]) grand total.</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4"/>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5"/>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6"/>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7"/>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8"/>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9"/>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
          <p:cNvSpPr/>
          <p:nvPr/>
        </p:nvSpPr>
        <p:spPr>
          <a:xfrm>
            <a:off x="0" y="0"/>
            <a:ext cx="6858000" cy="146304"/>
          </a:xfrm>
          <a:prstGeom prst="rect">
            <a:avLst/>
          </a:prstGeom>
          <a:solidFill>
            <a:srgbClr val="159BD2"/>
          </a:solidFill>
          <a:ln/>
        </p:spPr>
        <p:txBody>
          <a:bodyPr/>
          <a:lstStyle/>
          <a:p>
            <a:endParaRPr lang="en-AE"/>
          </a:p>
        </p:txBody>
      </p:sp>
      <p:sp>
        <p:nvSpPr>
          <p:cNvPr id="3" name="tb"/>
          <p:cNvSpPr/>
          <p:nvPr/>
        </p:nvSpPr>
        <p:spPr>
          <a:xfrm>
            <a:off x="457200" y="420624"/>
            <a:ext cx="4300000" cy="274320"/>
          </a:xfrm>
          <a:prstGeom prst="rect">
            <a:avLst/>
          </a:prstGeom>
          <a:noFill/>
          <a:ln/>
        </p:spPr>
        <p:txBody>
          <a:bodyPr wrap="square" lIns="0" tIns="0" rIns="0" bIns="0" rtlCol="0" anchor="ctr"/>
          <a:lstStyle/>
          <a:p>
            <a:pPr marL="0" indent="0">
              <a:buNone/>
            </a:pPr>
            <a:r>
              <a:rPr lang="en-US" sz="1100" b="1" kern="0" spc="200">
                <a:solidFill>
                  <a:srgbClr val="0F7BA8"/>
                </a:solidFill>
                <a:latin typeface="Calibri" pitchFamily="34" charset="0"/>
                <a:ea typeface="Calibri" pitchFamily="34" charset="-122"/>
                <a:cs typeface="Calibri" pitchFamily="34" charset="-120"/>
              </a:rPr>
              <a:t>MODULE 7 · REVIEW</a:t>
            </a:r>
          </a:p>
        </p:txBody>
      </p:sp>
      <p:sp>
        <p:nvSpPr>
          <p:cNvPr id="4" name="rr"/>
          <p:cNvSpPr/>
          <p:nvPr/>
        </p:nvSpPr>
        <p:spPr>
          <a:xfrm>
            <a:off x="4617720" y="384048"/>
            <a:ext cx="1783080" cy="384048"/>
          </a:xfrm>
          <a:prstGeom prst="roundRect">
            <a:avLst>
              <a:gd name="adj" fmla="val 19048"/>
            </a:avLst>
          </a:prstGeom>
          <a:solidFill>
            <a:srgbClr val="10324B"/>
          </a:solidFill>
          <a:ln/>
        </p:spPr>
        <p:txBody>
          <a:bodyPr/>
          <a:lstStyle/>
          <a:p>
            <a:endParaRPr lang="en-AE"/>
          </a:p>
        </p:txBody>
      </p:sp>
      <p:sp>
        <p:nvSpPr>
          <p:cNvPr id="5" name="tb"/>
          <p:cNvSpPr/>
          <p:nvPr/>
        </p:nvSpPr>
        <p:spPr>
          <a:xfrm>
            <a:off x="4617720" y="384048"/>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Teams Assignment</a:t>
            </a:r>
          </a:p>
        </p:txBody>
      </p:sp>
      <p:sp>
        <p:nvSpPr>
          <p:cNvPr id="6" name="tb"/>
          <p:cNvSpPr/>
          <p:nvPr/>
        </p:nvSpPr>
        <p:spPr>
          <a:xfrm>
            <a:off x="457200" y="676656"/>
            <a:ext cx="4000000" cy="760000"/>
          </a:xfrm>
          <a:prstGeom prst="rect">
            <a:avLst/>
          </a:prstGeom>
          <a:noFill/>
          <a:ln/>
        </p:spPr>
        <p:txBody>
          <a:bodyPr wrap="square" lIns="0" tIns="0" rIns="0" bIns="0" rtlCol="0" anchor="t"/>
          <a:lstStyle/>
          <a:p>
            <a:pPr marL="0" indent="0">
              <a:buNone/>
            </a:pPr>
            <a:r>
              <a:rPr lang="en-US" sz="2200" b="1">
                <a:solidFill>
                  <a:srgbClr val="10324B"/>
                </a:solidFill>
                <a:latin typeface="Georgia" pitchFamily="34" charset="0"/>
                <a:ea typeface="Georgia" pitchFamily="34" charset="-122"/>
                <a:cs typeface="Georgia" pitchFamily="34" charset="-120"/>
              </a:rPr>
              <a:t>3-2-1: What You’ve Learned</a:t>
            </a:r>
          </a:p>
        </p:txBody>
      </p:sp>
      <p:sp>
        <p:nvSpPr>
          <p:cNvPr id="7" name="tb"/>
          <p:cNvSpPr/>
          <p:nvPr/>
        </p:nvSpPr>
        <p:spPr>
          <a:xfrm>
            <a:off x="457200" y="1480000"/>
            <a:ext cx="5943600" cy="470000"/>
          </a:xfrm>
          <a:prstGeom prst="rect">
            <a:avLst/>
          </a:prstGeom>
          <a:noFill/>
          <a:ln/>
        </p:spPr>
        <p:txBody>
          <a:bodyPr wrap="square" lIns="0" tIns="0" rIns="0" bIns="0" rtlCol="0" anchor="t"/>
          <a:lstStyle/>
          <a:p>
            <a:pPr marL="0" indent="0">
              <a:lnSpc>
                <a:spcPct val="104000"/>
              </a:lnSpc>
              <a:buNone/>
            </a:pPr>
            <a:r>
              <a:rPr lang="en-US" sz="1100">
                <a:solidFill>
                  <a:srgbClr val="21323D"/>
                </a:solidFill>
                <a:latin typeface="Calibri" pitchFamily="34" charset="0"/>
                <a:ea typeface="Calibri" pitchFamily="34" charset="-122"/>
                <a:cs typeface="Calibri" pitchFamily="34" charset="-120"/>
              </a:rPr>
              <a:t>Look back across the module — the tables, data types, queries, forms and reports you have practised in Access.</a:t>
            </a:r>
          </a:p>
        </p:txBody>
      </p:sp>
      <p:sp>
        <p:nvSpPr>
          <p:cNvPr id="8" name="rr"/>
          <p:cNvSpPr/>
          <p:nvPr/>
        </p:nvSpPr>
        <p:spPr>
          <a:xfrm>
            <a:off x="457200" y="2080000"/>
            <a:ext cx="5943600" cy="1620000"/>
          </a:xfrm>
          <a:prstGeom prst="roundRect">
            <a:avLst>
              <a:gd name="adj" fmla="val 4500"/>
            </a:avLst>
          </a:prstGeom>
          <a:solidFill>
            <a:srgbClr val="EAF4FA"/>
          </a:solidFill>
          <a:ln w="12700">
            <a:solidFill>
              <a:srgbClr val="D7EBF5"/>
            </a:solidFill>
            <a:prstDash val="solid"/>
          </a:ln>
        </p:spPr>
        <p:txBody>
          <a:bodyPr/>
          <a:lstStyle/>
          <a:p>
            <a:endParaRPr lang="en-AE"/>
          </a:p>
        </p:txBody>
      </p:sp>
      <p:sp>
        <p:nvSpPr>
          <p:cNvPr id="9" name="r"/>
          <p:cNvSpPr/>
          <p:nvPr/>
        </p:nvSpPr>
        <p:spPr>
          <a:xfrm>
            <a:off x="457200" y="2080000"/>
            <a:ext cx="100584" cy="1620000"/>
          </a:xfrm>
          <a:prstGeom prst="rect">
            <a:avLst/>
          </a:prstGeom>
          <a:solidFill>
            <a:srgbClr val="159BD2"/>
          </a:solidFill>
          <a:ln/>
        </p:spPr>
        <p:txBody>
          <a:bodyPr/>
          <a:lstStyle/>
          <a:p>
            <a:endParaRPr lang="en-AE"/>
          </a:p>
        </p:txBody>
      </p:sp>
      <p:sp>
        <p:nvSpPr>
          <p:cNvPr id="10" name="rr"/>
          <p:cNvSpPr/>
          <p:nvPr/>
        </p:nvSpPr>
        <p:spPr>
          <a:xfrm>
            <a:off x="680000" y="2440000"/>
            <a:ext cx="900000" cy="900000"/>
          </a:xfrm>
          <a:prstGeom prst="roundRect">
            <a:avLst>
              <a:gd name="adj" fmla="val 18000"/>
            </a:avLst>
          </a:prstGeom>
          <a:solidFill>
            <a:srgbClr val="159BD2"/>
          </a:solidFill>
          <a:ln/>
        </p:spPr>
        <p:txBody>
          <a:bodyPr/>
          <a:lstStyle/>
          <a:p>
            <a:endParaRPr lang="en-AE"/>
          </a:p>
        </p:txBody>
      </p:sp>
      <p:sp>
        <p:nvSpPr>
          <p:cNvPr id="11" name="tb"/>
          <p:cNvSpPr/>
          <p:nvPr/>
        </p:nvSpPr>
        <p:spPr>
          <a:xfrm>
            <a:off x="680000" y="2440000"/>
            <a:ext cx="900000" cy="900000"/>
          </a:xfrm>
          <a:prstGeom prst="rect">
            <a:avLst/>
          </a:prstGeom>
          <a:noFill/>
          <a:ln/>
        </p:spPr>
        <p:txBody>
          <a:bodyPr wrap="square" lIns="0" tIns="0" rIns="0" bIns="0" rtlCol="0" anchor="ctr"/>
          <a:lstStyle/>
          <a:p>
            <a:pPr marL="0" indent="0" algn="ctr">
              <a:buNone/>
            </a:pPr>
            <a:r>
              <a:rPr lang="en-US" sz="4000" b="1">
                <a:solidFill>
                  <a:srgbClr val="FFFFFF"/>
                </a:solidFill>
                <a:latin typeface="Georgia" pitchFamily="34" charset="0"/>
                <a:ea typeface="Georgia" pitchFamily="34" charset="-122"/>
                <a:cs typeface="Georgia" pitchFamily="34" charset="-120"/>
              </a:rPr>
              <a:t>3</a:t>
            </a:r>
          </a:p>
        </p:txBody>
      </p:sp>
      <p:sp>
        <p:nvSpPr>
          <p:cNvPr id="12" name="tb"/>
          <p:cNvSpPr/>
          <p:nvPr/>
        </p:nvSpPr>
        <p:spPr>
          <a:xfrm>
            <a:off x="1800000" y="2080000"/>
            <a:ext cx="4400000" cy="1620000"/>
          </a:xfrm>
          <a:prstGeom prst="rect">
            <a:avLst/>
          </a:prstGeom>
          <a:noFill/>
          <a:ln/>
        </p:spPr>
        <p:txBody>
          <a:bodyPr wrap="square" lIns="0" tIns="0" rIns="0" bIns="0" rtlCol="0" anchor="ctr"/>
          <a:lstStyle/>
          <a:p>
            <a:pPr marL="0" indent="0">
              <a:lnSpc>
                <a:spcPct val="108000"/>
              </a:lnSpc>
              <a:buNone/>
            </a:pPr>
            <a:r>
              <a:rPr lang="en-US" sz="1350" b="1">
                <a:solidFill>
                  <a:srgbClr val="21323D"/>
                </a:solidFill>
                <a:latin typeface="Calibri" pitchFamily="34" charset="0"/>
                <a:ea typeface="Calibri" pitchFamily="34" charset="-122"/>
                <a:cs typeface="Calibri" pitchFamily="34" charset="-120"/>
              </a:rPr>
              <a:t>Three database objects you can now build with confidence, for example a table, a query and a report.</a:t>
            </a:r>
          </a:p>
        </p:txBody>
      </p:sp>
      <p:sp>
        <p:nvSpPr>
          <p:cNvPr id="13" name="rr"/>
          <p:cNvSpPr/>
          <p:nvPr/>
        </p:nvSpPr>
        <p:spPr>
          <a:xfrm>
            <a:off x="457200" y="3860000"/>
            <a:ext cx="5943600" cy="1620000"/>
          </a:xfrm>
          <a:prstGeom prst="roundRect">
            <a:avLst>
              <a:gd name="adj" fmla="val 4500"/>
            </a:avLst>
          </a:prstGeom>
          <a:solidFill>
            <a:srgbClr val="F4FBFE"/>
          </a:solidFill>
          <a:ln w="12700">
            <a:solidFill>
              <a:srgbClr val="D7EBF5"/>
            </a:solidFill>
            <a:prstDash val="solid"/>
          </a:ln>
        </p:spPr>
        <p:txBody>
          <a:bodyPr/>
          <a:lstStyle/>
          <a:p>
            <a:endParaRPr lang="en-AE"/>
          </a:p>
        </p:txBody>
      </p:sp>
      <p:sp>
        <p:nvSpPr>
          <p:cNvPr id="14" name="r"/>
          <p:cNvSpPr/>
          <p:nvPr/>
        </p:nvSpPr>
        <p:spPr>
          <a:xfrm>
            <a:off x="457200" y="3860000"/>
            <a:ext cx="100584" cy="1620000"/>
          </a:xfrm>
          <a:prstGeom prst="rect">
            <a:avLst/>
          </a:prstGeom>
          <a:solidFill>
            <a:srgbClr val="0F7BA8"/>
          </a:solidFill>
          <a:ln/>
        </p:spPr>
        <p:txBody>
          <a:bodyPr/>
          <a:lstStyle/>
          <a:p>
            <a:endParaRPr lang="en-AE"/>
          </a:p>
        </p:txBody>
      </p:sp>
      <p:sp>
        <p:nvSpPr>
          <p:cNvPr id="15" name="rr"/>
          <p:cNvSpPr/>
          <p:nvPr/>
        </p:nvSpPr>
        <p:spPr>
          <a:xfrm>
            <a:off x="680000" y="4220000"/>
            <a:ext cx="900000" cy="900000"/>
          </a:xfrm>
          <a:prstGeom prst="roundRect">
            <a:avLst>
              <a:gd name="adj" fmla="val 18000"/>
            </a:avLst>
          </a:prstGeom>
          <a:solidFill>
            <a:srgbClr val="0F7BA8"/>
          </a:solidFill>
          <a:ln/>
        </p:spPr>
        <p:txBody>
          <a:bodyPr/>
          <a:lstStyle/>
          <a:p>
            <a:endParaRPr lang="en-AE"/>
          </a:p>
        </p:txBody>
      </p:sp>
      <p:sp>
        <p:nvSpPr>
          <p:cNvPr id="16" name="tb"/>
          <p:cNvSpPr/>
          <p:nvPr/>
        </p:nvSpPr>
        <p:spPr>
          <a:xfrm>
            <a:off x="680000" y="4220000"/>
            <a:ext cx="900000" cy="900000"/>
          </a:xfrm>
          <a:prstGeom prst="rect">
            <a:avLst/>
          </a:prstGeom>
          <a:noFill/>
          <a:ln/>
        </p:spPr>
        <p:txBody>
          <a:bodyPr wrap="square" lIns="0" tIns="0" rIns="0" bIns="0" rtlCol="0" anchor="ctr"/>
          <a:lstStyle/>
          <a:p>
            <a:pPr marL="0" indent="0" algn="ctr">
              <a:buNone/>
            </a:pPr>
            <a:r>
              <a:rPr lang="en-US" sz="4000" b="1">
                <a:solidFill>
                  <a:srgbClr val="FFFFFF"/>
                </a:solidFill>
                <a:latin typeface="Georgia" pitchFamily="34" charset="0"/>
                <a:ea typeface="Georgia" pitchFamily="34" charset="-122"/>
                <a:cs typeface="Georgia" pitchFamily="34" charset="-120"/>
              </a:rPr>
              <a:t>2</a:t>
            </a:r>
          </a:p>
        </p:txBody>
      </p:sp>
      <p:sp>
        <p:nvSpPr>
          <p:cNvPr id="17" name="tb"/>
          <p:cNvSpPr/>
          <p:nvPr/>
        </p:nvSpPr>
        <p:spPr>
          <a:xfrm>
            <a:off x="1800000" y="3860000"/>
            <a:ext cx="4400000" cy="1620000"/>
          </a:xfrm>
          <a:prstGeom prst="rect">
            <a:avLst/>
          </a:prstGeom>
          <a:noFill/>
          <a:ln/>
        </p:spPr>
        <p:txBody>
          <a:bodyPr wrap="square" lIns="0" tIns="0" rIns="0" bIns="0" rtlCol="0" anchor="ctr"/>
          <a:lstStyle/>
          <a:p>
            <a:pPr marL="0" indent="0">
              <a:lnSpc>
                <a:spcPct val="108000"/>
              </a:lnSpc>
              <a:buNone/>
            </a:pPr>
            <a:r>
              <a:rPr lang="en-US" sz="1350" b="1">
                <a:solidFill>
                  <a:srgbClr val="21323D"/>
                </a:solidFill>
                <a:latin typeface="Calibri" pitchFamily="34" charset="0"/>
                <a:ea typeface="Calibri" pitchFamily="34" charset="-122"/>
                <a:cs typeface="Calibri" pitchFamily="34" charset="-120"/>
              </a:rPr>
              <a:t>Two data types you would choose for fields in tblCars, and why each one fits.</a:t>
            </a:r>
          </a:p>
        </p:txBody>
      </p:sp>
      <p:sp>
        <p:nvSpPr>
          <p:cNvPr id="18" name="rr"/>
          <p:cNvSpPr/>
          <p:nvPr/>
        </p:nvSpPr>
        <p:spPr>
          <a:xfrm>
            <a:off x="457200" y="5640000"/>
            <a:ext cx="5943600" cy="1620000"/>
          </a:xfrm>
          <a:prstGeom prst="roundRect">
            <a:avLst>
              <a:gd name="adj" fmla="val 4500"/>
            </a:avLst>
          </a:prstGeom>
          <a:solidFill>
            <a:srgbClr val="EAF4FA"/>
          </a:solidFill>
          <a:ln w="12700">
            <a:solidFill>
              <a:srgbClr val="D7EBF5"/>
            </a:solidFill>
            <a:prstDash val="solid"/>
          </a:ln>
        </p:spPr>
        <p:txBody>
          <a:bodyPr/>
          <a:lstStyle/>
          <a:p>
            <a:endParaRPr lang="en-AE"/>
          </a:p>
        </p:txBody>
      </p:sp>
      <p:sp>
        <p:nvSpPr>
          <p:cNvPr id="19" name="r"/>
          <p:cNvSpPr/>
          <p:nvPr/>
        </p:nvSpPr>
        <p:spPr>
          <a:xfrm>
            <a:off x="457200" y="5640000"/>
            <a:ext cx="100584" cy="1620000"/>
          </a:xfrm>
          <a:prstGeom prst="rect">
            <a:avLst/>
          </a:prstGeom>
          <a:solidFill>
            <a:srgbClr val="10324B"/>
          </a:solidFill>
          <a:ln/>
        </p:spPr>
        <p:txBody>
          <a:bodyPr/>
          <a:lstStyle/>
          <a:p>
            <a:endParaRPr lang="en-AE"/>
          </a:p>
        </p:txBody>
      </p:sp>
      <p:sp>
        <p:nvSpPr>
          <p:cNvPr id="20" name="rr"/>
          <p:cNvSpPr/>
          <p:nvPr/>
        </p:nvSpPr>
        <p:spPr>
          <a:xfrm>
            <a:off x="680000" y="6000000"/>
            <a:ext cx="900000" cy="900000"/>
          </a:xfrm>
          <a:prstGeom prst="roundRect">
            <a:avLst>
              <a:gd name="adj" fmla="val 18000"/>
            </a:avLst>
          </a:prstGeom>
          <a:solidFill>
            <a:srgbClr val="10324B"/>
          </a:solidFill>
          <a:ln/>
        </p:spPr>
        <p:txBody>
          <a:bodyPr/>
          <a:lstStyle/>
          <a:p>
            <a:endParaRPr lang="en-AE"/>
          </a:p>
        </p:txBody>
      </p:sp>
      <p:sp>
        <p:nvSpPr>
          <p:cNvPr id="21" name="tb"/>
          <p:cNvSpPr/>
          <p:nvPr/>
        </p:nvSpPr>
        <p:spPr>
          <a:xfrm>
            <a:off x="680000" y="6000000"/>
            <a:ext cx="900000" cy="900000"/>
          </a:xfrm>
          <a:prstGeom prst="rect">
            <a:avLst/>
          </a:prstGeom>
          <a:noFill/>
          <a:ln/>
        </p:spPr>
        <p:txBody>
          <a:bodyPr wrap="square" lIns="0" tIns="0" rIns="0" bIns="0" rtlCol="0" anchor="ctr"/>
          <a:lstStyle/>
          <a:p>
            <a:pPr marL="0" indent="0" algn="ctr">
              <a:buNone/>
            </a:pPr>
            <a:r>
              <a:rPr lang="en-US" sz="4000" b="1">
                <a:solidFill>
                  <a:srgbClr val="FFFFFF"/>
                </a:solidFill>
                <a:latin typeface="Georgia" pitchFamily="34" charset="0"/>
                <a:ea typeface="Georgia" pitchFamily="34" charset="-122"/>
                <a:cs typeface="Georgia" pitchFamily="34" charset="-120"/>
              </a:rPr>
              <a:t>1</a:t>
            </a:r>
          </a:p>
        </p:txBody>
      </p:sp>
      <p:sp>
        <p:nvSpPr>
          <p:cNvPr id="22" name="tb"/>
          <p:cNvSpPr/>
          <p:nvPr/>
        </p:nvSpPr>
        <p:spPr>
          <a:xfrm>
            <a:off x="1800000" y="5640000"/>
            <a:ext cx="4400000" cy="1620000"/>
          </a:xfrm>
          <a:prstGeom prst="rect">
            <a:avLst/>
          </a:prstGeom>
          <a:noFill/>
          <a:ln/>
        </p:spPr>
        <p:txBody>
          <a:bodyPr wrap="square" lIns="0" tIns="0" rIns="0" bIns="0" rtlCol="0" anchor="ctr"/>
          <a:lstStyle/>
          <a:p>
            <a:pPr marL="0" indent="0">
              <a:lnSpc>
                <a:spcPct val="108000"/>
              </a:lnSpc>
              <a:buNone/>
            </a:pPr>
            <a:r>
              <a:rPr lang="en-US" sz="1350" b="1">
                <a:solidFill>
                  <a:srgbClr val="21323D"/>
                </a:solidFill>
                <a:latin typeface="Calibri" pitchFamily="34" charset="0"/>
                <a:ea typeface="Calibri" pitchFamily="34" charset="-122"/>
                <a:cs typeface="Calibri" pitchFamily="34" charset="-120"/>
              </a:rPr>
              <a:t>One thing you would like to build next with a database of your 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
    <p:bg>
      <p:bgPr>
        <a:solidFill>
          <a:srgbClr val="10324B"/>
        </a:solidFill>
        <a:effectLst/>
      </p:bgPr>
    </p:bg>
    <p:spTree>
      <p:nvGrpSpPr>
        <p:cNvPr id="1" name=""/>
        <p:cNvGrpSpPr/>
        <p:nvPr/>
      </p:nvGrpSpPr>
      <p:grpSpPr>
        <a:xfrm>
          <a:off x="0" y="0"/>
          <a:ext cx="0" cy="0"/>
          <a:chOff x="0" y="0"/>
          <a:chExt cx="0" cy="0"/>
        </a:xfrm>
      </p:grpSpPr>
      <p:sp>
        <p:nvSpPr>
          <p:cNvPr id="2" name="Shape 0"/>
          <p:cNvSpPr/>
          <p:nvPr/>
        </p:nvSpPr>
        <p:spPr>
          <a:xfrm>
            <a:off x="0" y="0"/>
            <a:ext cx="6858000" cy="9144000"/>
          </a:xfrm>
          <a:prstGeom prst="rect">
            <a:avLst/>
          </a:prstGeom>
          <a:solidFill>
            <a:srgbClr val="10324B"/>
          </a:solidFill>
          <a:ln/>
        </p:spPr>
        <p:txBody>
          <a:bodyPr/>
          <a:lstStyle/>
          <a:p>
            <a:endParaRPr lang="en-AE"/>
          </a:p>
        </p:txBody>
      </p:sp>
      <p:sp>
        <p:nvSpPr>
          <p:cNvPr id="3" name="Shape 1"/>
          <p:cNvSpPr/>
          <p:nvPr/>
        </p:nvSpPr>
        <p:spPr>
          <a:xfrm>
            <a:off x="0" y="3127248"/>
            <a:ext cx="6858000" cy="32004"/>
          </a:xfrm>
          <a:prstGeom prst="rect">
            <a:avLst/>
          </a:prstGeom>
          <a:solidFill>
            <a:srgbClr val="159BD2"/>
          </a:solidFill>
          <a:ln/>
        </p:spPr>
        <p:txBody>
          <a:bodyPr/>
          <a:lstStyle/>
          <a:p>
            <a:endParaRPr lang="en-AE"/>
          </a:p>
        </p:txBody>
      </p:sp>
      <p:sp>
        <p:nvSpPr>
          <p:cNvPr id="4" name="Text 2"/>
          <p:cNvSpPr/>
          <p:nvPr/>
        </p:nvSpPr>
        <p:spPr>
          <a:xfrm>
            <a:off x="548640" y="1051560"/>
            <a:ext cx="5760720" cy="274320"/>
          </a:xfrm>
          <a:prstGeom prst="rect">
            <a:avLst/>
          </a:prstGeom>
          <a:noFill/>
          <a:ln/>
        </p:spPr>
        <p:txBody>
          <a:bodyPr wrap="square" lIns="0" tIns="0" rIns="0" bIns="0" rtlCol="0" anchor="ctr"/>
          <a:lstStyle/>
          <a:p>
            <a:pPr marL="0" indent="0" algn="ctr">
              <a:buNone/>
            </a:pPr>
            <a:r>
              <a:rPr lang="en-US" sz="1200" b="1" kern="0" spc="200">
                <a:solidFill>
                  <a:srgbClr val="7FC7E6"/>
                </a:solidFill>
                <a:latin typeface="Calibri" pitchFamily="34" charset="0"/>
                <a:ea typeface="Calibri" pitchFamily="34" charset="-122"/>
                <a:cs typeface="Calibri" pitchFamily="34" charset="-120"/>
              </a:rPr>
              <a:t>MODULE 8 · YOUR NEXT CHALLENGE</a:t>
            </a:r>
            <a:endParaRPr lang="en-US" sz="1200"/>
          </a:p>
        </p:txBody>
      </p:sp>
      <p:sp>
        <p:nvSpPr>
          <p:cNvPr id="5" name="Text 3"/>
          <p:cNvSpPr/>
          <p:nvPr/>
        </p:nvSpPr>
        <p:spPr>
          <a:xfrm>
            <a:off x="457200" y="1463040"/>
            <a:ext cx="5943600" cy="914400"/>
          </a:xfrm>
          <a:prstGeom prst="rect">
            <a:avLst/>
          </a:prstGeom>
          <a:noFill/>
          <a:ln/>
        </p:spPr>
        <p:txBody>
          <a:bodyPr wrap="square" lIns="0" tIns="0" rIns="0" bIns="0" rtlCol="0" anchor="ctr"/>
          <a:lstStyle/>
          <a:p>
            <a:pPr marL="0" indent="0" algn="ctr">
              <a:buNone/>
            </a:pPr>
            <a:r>
              <a:rPr lang="en-US" sz="4600" b="1">
                <a:solidFill>
                  <a:srgbClr val="FFFFFF"/>
                </a:solidFill>
                <a:latin typeface="Georgia" pitchFamily="34" charset="0"/>
                <a:ea typeface="Georgia" pitchFamily="34" charset="-122"/>
                <a:cs typeface="Georgia" pitchFamily="34" charset="-120"/>
              </a:rPr>
              <a:t>The Paws &amp; Claws Vet Clinic</a:t>
            </a:r>
            <a:endParaRPr lang="en-US" sz="4600"/>
          </a:p>
        </p:txBody>
      </p:sp>
      <p:sp>
        <p:nvSpPr>
          <p:cNvPr id="6" name="Text 4"/>
          <p:cNvSpPr/>
          <p:nvPr/>
        </p:nvSpPr>
        <p:spPr>
          <a:xfrm>
            <a:off x="457200" y="2395728"/>
            <a:ext cx="5943600" cy="548640"/>
          </a:xfrm>
          <a:prstGeom prst="rect">
            <a:avLst/>
          </a:prstGeom>
          <a:noFill/>
          <a:ln/>
        </p:spPr>
        <p:txBody>
          <a:bodyPr wrap="square" lIns="0" tIns="0" rIns="0" bIns="0" rtlCol="0" anchor="ctr"/>
          <a:lstStyle/>
          <a:p>
            <a:pPr marL="0" indent="0" algn="ctr">
              <a:buNone/>
            </a:pPr>
            <a:r>
              <a:rPr lang="en-US" sz="2000" i="1">
                <a:solidFill>
                  <a:srgbClr val="CFE9F5"/>
                </a:solidFill>
                <a:latin typeface="Georgia" pitchFamily="34" charset="0"/>
                <a:ea typeface="Georgia" pitchFamily="34" charset="-122"/>
                <a:cs typeface="Georgia" pitchFamily="34" charset="-120"/>
              </a:rPr>
              <a:t>Now design a database of your own</a:t>
            </a:r>
            <a:endParaRPr lang="en-US" sz="2000"/>
          </a:p>
        </p:txBody>
      </p:sp>
      <p:sp>
        <p:nvSpPr>
          <p:cNvPr id="7" name="Shape 5"/>
          <p:cNvSpPr/>
          <p:nvPr/>
        </p:nvSpPr>
        <p:spPr>
          <a:xfrm>
            <a:off x="74523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8" name="Image 0" descr="/agent/turn10/workspace/assets/badges/1.png"/>
          <p:cNvPicPr>
            <a:picLocks noChangeAspect="1"/>
          </p:cNvPicPr>
          <p:nvPr/>
        </p:nvPicPr>
        <p:blipFill>
          <a:blip r:embed="rId2"/>
          <a:stretch>
            <a:fillRect/>
          </a:stretch>
        </p:blipFill>
        <p:spPr>
          <a:xfrm>
            <a:off x="800100" y="3657600"/>
            <a:ext cx="1417320" cy="1417320"/>
          </a:xfrm>
          <a:prstGeom prst="rect">
            <a:avLst/>
          </a:prstGeom>
        </p:spPr>
      </p:pic>
      <p:sp>
        <p:nvSpPr>
          <p:cNvPr id="9" name="Text 6"/>
          <p:cNvSpPr/>
          <p:nvPr/>
        </p:nvSpPr>
        <p:spPr>
          <a:xfrm>
            <a:off x="57150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Pets</a:t>
            </a:r>
            <a:endParaRPr lang="en-US" sz="950"/>
          </a:p>
        </p:txBody>
      </p:sp>
      <p:sp>
        <p:nvSpPr>
          <p:cNvPr id="10" name="Shape 7"/>
          <p:cNvSpPr/>
          <p:nvPr/>
        </p:nvSpPr>
        <p:spPr>
          <a:xfrm>
            <a:off x="266547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11" name="Image 1" descr="/agent/turn10/workspace/assets/badges/29.png"/>
          <p:cNvPicPr>
            <a:picLocks noChangeAspect="1"/>
          </p:cNvPicPr>
          <p:nvPr/>
        </p:nvPicPr>
        <p:blipFill>
          <a:blip r:embed="rId3"/>
          <a:stretch>
            <a:fillRect/>
          </a:stretch>
        </p:blipFill>
        <p:spPr>
          <a:xfrm>
            <a:off x="2720340" y="3830828"/>
            <a:ext cx="1417320" cy="1070864"/>
          </a:xfrm>
          <a:prstGeom prst="rect">
            <a:avLst/>
          </a:prstGeom>
        </p:spPr>
      </p:pic>
      <p:sp>
        <p:nvSpPr>
          <p:cNvPr id="12" name="Text 8"/>
          <p:cNvSpPr/>
          <p:nvPr/>
        </p:nvSpPr>
        <p:spPr>
          <a:xfrm>
            <a:off x="249174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Owners</a:t>
            </a:r>
            <a:endParaRPr lang="en-US" sz="950"/>
          </a:p>
        </p:txBody>
      </p:sp>
      <p:sp>
        <p:nvSpPr>
          <p:cNvPr id="13" name="Shape 9"/>
          <p:cNvSpPr/>
          <p:nvPr/>
        </p:nvSpPr>
        <p:spPr>
          <a:xfrm>
            <a:off x="4585716" y="3602736"/>
            <a:ext cx="1527048" cy="1527048"/>
          </a:xfrm>
          <a:prstGeom prst="ellipse">
            <a:avLst/>
          </a:prstGeom>
          <a:solidFill>
            <a:srgbClr val="FFFFFF"/>
          </a:solidFill>
          <a:ln/>
          <a:effectLst>
            <a:outerShdw blurRad="101600" dist="38100" dir="5400000" algn="bl" rotWithShape="0">
              <a:srgbClr val="000000">
                <a:alpha val="25000"/>
              </a:srgbClr>
            </a:outerShdw>
          </a:effectLst>
        </p:spPr>
        <p:txBody>
          <a:bodyPr/>
          <a:lstStyle/>
          <a:p>
            <a:endParaRPr lang="en-AE"/>
          </a:p>
        </p:txBody>
      </p:sp>
      <p:pic>
        <p:nvPicPr>
          <p:cNvPr id="14" name="Image 2" descr="/agent/turn10/workspace/assets/badges/33.png"/>
          <p:cNvPicPr>
            <a:picLocks noChangeAspect="1"/>
          </p:cNvPicPr>
          <p:nvPr/>
        </p:nvPicPr>
        <p:blipFill>
          <a:blip r:embed="rId4"/>
          <a:stretch>
            <a:fillRect/>
          </a:stretch>
        </p:blipFill>
        <p:spPr>
          <a:xfrm>
            <a:off x="4640580" y="3658984"/>
            <a:ext cx="1417320" cy="1414552"/>
          </a:xfrm>
          <a:prstGeom prst="rect">
            <a:avLst/>
          </a:prstGeom>
        </p:spPr>
      </p:pic>
      <p:sp>
        <p:nvSpPr>
          <p:cNvPr id="15" name="Text 10"/>
          <p:cNvSpPr/>
          <p:nvPr/>
        </p:nvSpPr>
        <p:spPr>
          <a:xfrm>
            <a:off x="4411980" y="5129784"/>
            <a:ext cx="1874520" cy="457200"/>
          </a:xfrm>
          <a:prstGeom prst="rect">
            <a:avLst/>
          </a:prstGeom>
          <a:noFill/>
          <a:ln/>
        </p:spPr>
        <p:txBody>
          <a:bodyPr wrap="square" lIns="0" tIns="0" rIns="0" bIns="0" rtlCol="0" anchor="ctr"/>
          <a:lstStyle/>
          <a:p>
            <a:pPr marL="0" indent="0" algn="ctr">
              <a:lnSpc>
                <a:spcPct val="95000"/>
              </a:lnSpc>
              <a:buNone/>
            </a:pPr>
            <a:r>
              <a:rPr lang="en-US" sz="950" b="1">
                <a:solidFill>
                  <a:srgbClr val="BFE6F6"/>
                </a:solidFill>
                <a:latin typeface="Calibri" pitchFamily="34" charset="0"/>
                <a:ea typeface="Calibri" pitchFamily="34" charset="-122"/>
                <a:cs typeface="Calibri" pitchFamily="34" charset="-120"/>
              </a:rPr>
              <a:t>Visits</a:t>
            </a:r>
            <a:endParaRPr lang="en-US" sz="950"/>
          </a:p>
        </p:txBody>
      </p:sp>
      <p:sp>
        <p:nvSpPr>
          <p:cNvPr id="16" name="Text 11"/>
          <p:cNvSpPr/>
          <p:nvPr/>
        </p:nvSpPr>
        <p:spPr>
          <a:xfrm>
            <a:off x="822960" y="6035040"/>
            <a:ext cx="5212080" cy="640080"/>
          </a:xfrm>
          <a:prstGeom prst="rect">
            <a:avLst/>
          </a:prstGeom>
          <a:noFill/>
          <a:ln/>
        </p:spPr>
        <p:txBody>
          <a:bodyPr wrap="square" lIns="0" tIns="0" rIns="0" bIns="0" rtlCol="0" anchor="ctr"/>
          <a:lstStyle/>
          <a:p>
            <a:pPr marL="0" indent="0" algn="ctr">
              <a:buNone/>
            </a:pPr>
            <a:r>
              <a:rPr lang="en-US" sz="1250" i="1">
                <a:solidFill>
                  <a:srgbClr val="D8ECF5"/>
                </a:solidFill>
                <a:latin typeface="Calibri" pitchFamily="34" charset="0"/>
                <a:ea typeface="Calibri" pitchFamily="34" charset="-122"/>
                <a:cs typeface="Calibri" pitchFamily="34" charset="-120"/>
              </a:rPr>
              <a:t>A busy vet clinic needs to track its pets, their owners and every visit — now it is your turn to build the database that stores it all.</a:t>
            </a:r>
            <a:endParaRPr lang="en-US" sz="1250"/>
          </a:p>
        </p:txBody>
      </p:sp>
      <p:sp>
        <p:nvSpPr>
          <p:cNvPr id="17" name="Shape 12"/>
          <p:cNvSpPr/>
          <p:nvPr/>
        </p:nvSpPr>
        <p:spPr>
          <a:xfrm>
            <a:off x="1874520" y="6903720"/>
            <a:ext cx="3108960" cy="548640"/>
          </a:xfrm>
          <a:prstGeom prst="roundRect">
            <a:avLst>
              <a:gd name="adj" fmla="val 16667"/>
            </a:avLst>
          </a:prstGeom>
          <a:solidFill>
            <a:srgbClr val="159BD2"/>
          </a:solidFill>
          <a:ln/>
        </p:spPr>
        <p:txBody>
          <a:bodyPr/>
          <a:lstStyle/>
          <a:p>
            <a:endParaRPr lang="en-AE"/>
          </a:p>
        </p:txBody>
      </p:sp>
      <p:sp>
        <p:nvSpPr>
          <p:cNvPr id="18" name="Text 13"/>
          <p:cNvSpPr/>
          <p:nvPr/>
        </p:nvSpPr>
        <p:spPr>
          <a:xfrm>
            <a:off x="1874520" y="6903720"/>
            <a:ext cx="3108960" cy="54864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Your mission: design and build it from scratch</a:t>
            </a:r>
            <a:endParaRPr lang="en-US" sz="1300"/>
          </a:p>
        </p:txBody>
      </p:sp>
      <p:sp>
        <p:nvSpPr>
          <p:cNvPr id="22" name="Video Link"/>
          <p:cNvSpPr/>
          <p:nvPr/>
        </p:nvSpPr>
        <p:spPr>
          <a:xfrm>
            <a:off x="822960" y="7650000"/>
            <a:ext cx="5212080" cy="731520"/>
          </a:xfrm>
          <a:prstGeom prst="rect">
            <a:avLst/>
          </a:prstGeom>
          <a:noFill/>
          <a:ln/>
        </p:spPr>
        <p:txBody>
          <a:bodyPr wrap="square" lIns="0" tIns="0" rIns="0" bIns="0" rtlCol="0" anchor="ctr"/>
          <a:lstStyle/>
          <a:p>
            <a:pPr marL="0" indent="0" algn="ctr">
              <a:buNone/>
            </a:pPr>
            <a:r>
              <a:rPr lang="en-US" sz="1100" b="1" u="sng">
                <a:solidFill>
                  <a:srgbClr val="7FC7E6"/>
                </a:solidFill>
                <a:latin typeface="Calibri" pitchFamily="34" charset="0"/>
                <a:ea typeface="Calibri" pitchFamily="34" charset="-122"/>
                <a:cs typeface="Calibri" pitchFamily="34" charset="-120"/>
              </a:rPr>
              <a:t>Tip: plan your table and data types on paper before you build.</a:t>
            </a:r>
            <a:endParaRPr lang="en-US" sz="1200"/>
          </a:p>
        </p:txBody>
      </p:sp>
      <p:sp>
        <p:nvSpPr>
          <p:cNvPr id="20" name="Text 15">
            <a:hlinkClick r:id="rId5" action="ppaction://hlinksldjump" tooltip="Back to roadmap"/>
          </p:cNvPr>
          <p:cNvSpPr/>
          <p:nvPr/>
        </p:nvSpPr>
        <p:spPr>
          <a:xfrm>
            <a:off x="365760" y="292608"/>
            <a:ext cx="1645920" cy="292608"/>
          </a:xfrm>
          <a:prstGeom prst="rect">
            <a:avLst/>
          </a:prstGeom>
          <a:noFill/>
          <a:ln/>
        </p:spPr>
        <p:txBody>
          <a:bodyPr wrap="square" lIns="0" tIns="0" rIns="0" bIns="0" rtlCol="0" anchor="ctr"/>
          <a:lstStyle/>
          <a:p>
            <a:pPr marL="0" indent="0">
              <a:buNone/>
            </a:pPr>
            <a:r>
              <a:rPr lang="en-US" sz="1050" b="1" u="sng">
                <a:solidFill>
                  <a:srgbClr val="7FC7E6"/>
                </a:solidFill>
                <a:latin typeface="Calibri" pitchFamily="34" charset="0"/>
                <a:ea typeface="Calibri" pitchFamily="34" charset="-122"/>
                <a:cs typeface="Calibri" pitchFamily="34" charset="-120"/>
                <a:hlinkClick r:id="rId5" action="ppaction://hlinksldjump" tooltip="Back to roadmap">
                  <a:extLst>
                    <a:ext uri="{A12FA001-AC4F-418D-AE19-62706E023703}">
                      <ahyp:hlinkClr xmlns:ahyp="http://schemas.microsoft.com/office/drawing/2018/hyperlinkcolor" val="tx"/>
                    </a:ext>
                  </a:extLst>
                </a:hlinkClick>
              </a:rPr>
              <a:t>◂ Roadmap</a:t>
            </a:r>
            <a:endParaRPr lang="en-US" sz="10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Coursework Brief">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2"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2"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8  ·  CHALLENGE BRIEF</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Challenge</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Paws &amp; Claws Vet Clinic Database</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This is your challenge: design and build a working database for the Paws &amp; Claws vet clinic. Plan your table first, then build each object one at a time.</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YOUR BRIEF  ·  PAWS &amp; CLAWS VETS</a:t>
            </a:r>
          </a:p>
          <a:p>
            <a:pPr marL="0" indent="0">
              <a:spcBef>
                <a:spcPts val="500"/>
              </a:spcBef>
              <a:buNone/>
            </a:pPr>
            <a:r>
              <a:rPr lang="en-US" sz="1100">
                <a:solidFill>
                  <a:srgbClr val="10324B"/>
                </a:solidFill>
                <a:latin typeface="Calibri" pitchFamily="34" charset="0"/>
                <a:ea typeface="Calibri" pitchFamily="34" charset="-122"/>
                <a:cs typeface="Calibri" pitchFamily="34" charset="-120"/>
              </a:rPr>
              <a:t>Build a working database for Paws &amp; Claws vets: a table of pets with the right data types, a form to add records, a query to find pets due a check-up, and a grouped, counted report. Use sensible object names throughout.</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HOW TO BUILD IT</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Create tblPets in Design View: PetID (AutoNumber, primary key), PetName, Species, Owner, DateOfBirth and LastVisit with correct data types.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Build frmPets with the Form Wizard so staff can add and edit pet records one at a time.</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Design qryDueCheckup to show PetName, Species and Owner for every pet not seen in the last 12 months.</a:t>
            </a:r>
          </a:p>
          <a:p>
            <a:pPr marL="285750" indent="-285750">
              <a:spcBef>
                <a:spcPts val="600"/>
              </a:spcBef>
              <a:buFont typeface="+mj-lt"/>
              <a:buAutoNum type="arabicPeriod"/>
            </a:pPr>
            <a:r>
              <a:rPr lang="en-US" sz="1150">
                <a:solidFill>
                  <a:srgbClr val="21323D"/>
                </a:solidFill>
                <a:latin typeface="Calibri" pitchFamily="34" charset="0"/>
                <a:ea typeface="Calibri" pitchFamily="34" charset="-122"/>
                <a:cs typeface="Calibri" pitchFamily="34" charset="-120"/>
              </a:rPr>
              <a:t>Build rptPets grouped by Species, sorted by PetName, with a count in each group and a grand total at the end.</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STRETCH  ·  GO FURTHER</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Add a validation rule so DateOfBirth cannot be in the future, and a second query that lists only dogs, sorted by Owner.</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3"/>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4"/>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5"/>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6"/>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7"/>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8"/>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tudent Checklist">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6858000" cy="146304"/>
          </a:xfrm>
          <a:prstGeom prst="rect">
            <a:avLst/>
          </a:prstGeom>
          <a:solidFill>
            <a:srgbClr val="159BD2"/>
          </a:solidFill>
          <a:ln/>
        </p:spPr>
        <p:txBody>
          <a:bodyPr/>
          <a:lstStyle/>
          <a:p>
            <a:endParaRPr lang="en-AE"/>
          </a:p>
        </p:txBody>
      </p:sp>
      <p:sp>
        <p:nvSpPr>
          <p:cNvPr id="3" name="Roadmap Link">
            <a:hlinkClick r:id="rId2" action="ppaction://hlinksldjump" tooltip="Back to roadmap"/>
          </p:cNvPr>
          <p:cNvSpPr/>
          <p:nvPr/>
        </p:nvSpPr>
        <p:spPr>
          <a:xfrm>
            <a:off x="457200" y="250000"/>
            <a:ext cx="1645920" cy="280000"/>
          </a:xfrm>
          <a:prstGeom prst="rect">
            <a:avLst/>
          </a:prstGeom>
          <a:noFill/>
          <a:ln/>
        </p:spPr>
        <p:txBody>
          <a:bodyPr wrap="square" lIns="0" tIns="0" rIns="0" bIns="0" rtlCol="0" anchor="ctr"/>
          <a:lstStyle/>
          <a:p>
            <a:pPr marL="0" indent="0">
              <a:buNone/>
            </a:pPr>
            <a:r>
              <a:rPr lang="en-US" sz="1050" b="1" u="sng">
                <a:solidFill>
                  <a:srgbClr val="0F7BA8"/>
                </a:solidFill>
                <a:latin typeface="Calibri" pitchFamily="34" charset="0"/>
                <a:ea typeface="Calibri" pitchFamily="34" charset="-122"/>
                <a:cs typeface="Calibri" pitchFamily="34" charset="-120"/>
                <a:hlinkClick r:id="rId2" action="ppaction://hlinksldjump" tooltip="Back to roadmap">
                  <a:extLst>
                    <a:ext uri="{A12FA001-AC4F-418D-AE19-62706E023703}">
                      <ahyp:hlinkClr xmlns:ahyp="http://schemas.microsoft.com/office/drawing/2018/hyperlinkcolor" val="tx"/>
                    </a:ext>
                  </a:extLst>
                </a:hlinkClick>
              </a:rPr>
              <a:t>◂ Roadmap</a:t>
            </a:r>
            <a:endParaRPr lang="en-US" sz="1050"/>
          </a:p>
        </p:txBody>
      </p:sp>
      <p:sp>
        <p:nvSpPr>
          <p:cNvPr id="4" name="Eyebrow"/>
          <p:cNvSpPr/>
          <p:nvPr/>
        </p:nvSpPr>
        <p:spPr>
          <a:xfrm>
            <a:off x="457200" y="600000"/>
            <a:ext cx="4000000" cy="274320"/>
          </a:xfrm>
          <a:prstGeom prst="rect">
            <a:avLst/>
          </a:prstGeom>
          <a:noFill/>
          <a:ln/>
        </p:spPr>
        <p:txBody>
          <a:bodyPr wrap="square" lIns="0" tIns="0" rIns="0" bIns="0" rtlCol="0" anchor="ctr"/>
          <a:lstStyle/>
          <a:p>
            <a:pPr marL="0" indent="0" algn="l">
              <a:buNone/>
            </a:pPr>
            <a:r>
              <a:rPr lang="en-US" sz="1050" b="1" kern="0" spc="200">
                <a:solidFill>
                  <a:srgbClr val="0F7BA8"/>
                </a:solidFill>
                <a:latin typeface="Calibri" pitchFamily="34" charset="0"/>
                <a:ea typeface="Calibri" pitchFamily="34" charset="-122"/>
                <a:cs typeface="Calibri" pitchFamily="34" charset="-120"/>
              </a:rPr>
              <a:t>MODULE 8  ·  CHALLENGE CHECKLIST</a:t>
            </a:r>
            <a:endParaRPr lang="en-US" sz="1050"/>
          </a:p>
        </p:txBody>
      </p:sp>
      <p:sp>
        <p:nvSpPr>
          <p:cNvPr id="5" name="Pill BG"/>
          <p:cNvSpPr/>
          <p:nvPr/>
        </p:nvSpPr>
        <p:spPr>
          <a:xfrm>
            <a:off x="4617720" y="540000"/>
            <a:ext cx="1783080" cy="384048"/>
          </a:xfrm>
          <a:prstGeom prst="roundRect">
            <a:avLst>
              <a:gd name="adj" fmla="val 19048"/>
            </a:avLst>
          </a:prstGeom>
          <a:solidFill>
            <a:srgbClr val="10324B"/>
          </a:solidFill>
          <a:ln/>
        </p:spPr>
        <p:txBody>
          <a:bodyPr/>
          <a:lstStyle/>
          <a:p>
            <a:endParaRPr lang="en-AE"/>
          </a:p>
        </p:txBody>
      </p:sp>
      <p:sp>
        <p:nvSpPr>
          <p:cNvPr id="6" name="Pill Text"/>
          <p:cNvSpPr/>
          <p:nvPr/>
        </p:nvSpPr>
        <p:spPr>
          <a:xfrm>
            <a:off x="4617720" y="540000"/>
            <a:ext cx="1783080" cy="384048"/>
          </a:xfrm>
          <a:prstGeom prst="rect">
            <a:avLst/>
          </a:prstGeom>
          <a:noFill/>
          <a:ln/>
        </p:spPr>
        <p:txBody>
          <a:bodyPr wrap="square" lIns="0" tIns="0" rIns="0" bIns="0" rtlCol="0" anchor="ctr"/>
          <a:lstStyle/>
          <a:p>
            <a:pPr marL="0" indent="0" algn="ctr">
              <a:buNone/>
            </a:pPr>
            <a:r>
              <a:rPr lang="en-US" sz="1100" b="1">
                <a:solidFill>
                  <a:srgbClr val="BFE6F6"/>
                </a:solidFill>
                <a:latin typeface="Calibri" pitchFamily="34" charset="0"/>
                <a:ea typeface="Calibri" pitchFamily="34" charset="-122"/>
                <a:cs typeface="Calibri" pitchFamily="34" charset="-120"/>
              </a:rPr>
              <a:t>Checklist</a:t>
            </a:r>
            <a:endParaRPr lang="en-US" sz="1100"/>
          </a:p>
        </p:txBody>
      </p:sp>
      <p:sp>
        <p:nvSpPr>
          <p:cNvPr id="7" name="Title"/>
          <p:cNvSpPr/>
          <p:nvPr/>
        </p:nvSpPr>
        <p:spPr>
          <a:xfrm>
            <a:off x="457200" y="930000"/>
            <a:ext cx="5943600" cy="560000"/>
          </a:xfrm>
          <a:prstGeom prst="rect">
            <a:avLst/>
          </a:prstGeom>
          <a:noFill/>
          <a:ln/>
        </p:spPr>
        <p:txBody>
          <a:bodyPr wrap="square" lIns="0" tIns="0" rIns="0" bIns="0" rtlCol="0" anchor="t"/>
          <a:lstStyle/>
          <a:p>
            <a:pPr marL="0" indent="0" algn="l">
              <a:buNone/>
            </a:pPr>
            <a:r>
              <a:rPr lang="en-US" sz="2400" b="1">
                <a:solidFill>
                  <a:srgbClr val="10324B"/>
                </a:solidFill>
                <a:latin typeface="Georgia" pitchFamily="34" charset="0"/>
                <a:ea typeface="Georgia" pitchFamily="34" charset="-122"/>
                <a:cs typeface="Georgia" pitchFamily="34" charset="-120"/>
              </a:rPr>
              <a:t>Your Vet Clinic Database Checklist</a:t>
            </a:r>
            <a:endParaRPr lang="en-US" sz="2400"/>
          </a:p>
        </p:txBody>
      </p:sp>
      <p:sp>
        <p:nvSpPr>
          <p:cNvPr id="8" name="Intro"/>
          <p:cNvSpPr/>
          <p:nvPr/>
        </p:nvSpPr>
        <p:spPr>
          <a:xfrm>
            <a:off x="457200" y="1500000"/>
            <a:ext cx="5943600" cy="560000"/>
          </a:xfrm>
          <a:prstGeom prst="rect">
            <a:avLst/>
          </a:prstGeom>
          <a:noFill/>
          <a:ln/>
        </p:spPr>
        <p:txBody>
          <a:bodyPr wrap="square" lIns="0" tIns="0" rIns="0" bIns="0" rtlCol="0" anchor="t"/>
          <a:lstStyle/>
          <a:p>
            <a:pPr marL="0" indent="0">
              <a:lnSpc>
                <a:spcPct val="104000"/>
              </a:lnSpc>
              <a:buNone/>
            </a:pPr>
            <a:r>
              <a:rPr lang="en-US" sz="1200">
                <a:solidFill>
                  <a:srgbClr val="21323D"/>
                </a:solidFill>
                <a:latin typeface="Calibri" pitchFamily="34" charset="0"/>
                <a:ea typeface="Calibri" pitchFamily="34" charset="-122"/>
                <a:cs typeface="Calibri" pitchFamily="34" charset="-120"/>
              </a:rPr>
              <a:t>Tick each box as you finish it. Print this page and keep it beside your work as you build.</a:t>
            </a:r>
            <a:endParaRPr lang="en-US" sz="1200"/>
          </a:p>
        </p:txBody>
      </p:sp>
      <p:sp>
        <p:nvSpPr>
          <p:cNvPr id="10" name="Source Card BG"/>
          <p:cNvSpPr/>
          <p:nvPr/>
        </p:nvSpPr>
        <p:spPr>
          <a:xfrm>
            <a:off x="457200" y="2180000"/>
            <a:ext cx="5943600" cy="1500000"/>
          </a:xfrm>
          <a:prstGeom prst="roundRect">
            <a:avLst>
              <a:gd name="adj" fmla="val 4000"/>
            </a:avLst>
          </a:prstGeom>
          <a:solidFill>
            <a:srgbClr val="F4FBFE"/>
          </a:solidFill>
          <a:ln w="12700">
            <a:solidFill>
              <a:srgbClr val="D7EBF5"/>
            </a:solidFill>
            <a:prstDash val="solid"/>
          </a:ln>
        </p:spPr>
        <p:txBody>
          <a:bodyPr/>
          <a:lstStyle/>
          <a:p>
            <a:endParaRPr lang="en-AE"/>
          </a:p>
        </p:txBody>
      </p:sp>
      <p:sp>
        <p:nvSpPr>
          <p:cNvPr id="11" name="Source Card Accent"/>
          <p:cNvSpPr/>
          <p:nvPr/>
        </p:nvSpPr>
        <p:spPr>
          <a:xfrm>
            <a:off x="457200" y="2180000"/>
            <a:ext cx="80000" cy="1500000"/>
          </a:xfrm>
          <a:prstGeom prst="rect">
            <a:avLst/>
          </a:prstGeom>
          <a:solidFill>
            <a:srgbClr val="B8862B"/>
          </a:solidFill>
          <a:ln/>
        </p:spPr>
        <p:txBody>
          <a:bodyPr/>
          <a:lstStyle/>
          <a:p>
            <a:endParaRPr lang="en-AE"/>
          </a:p>
        </p:txBody>
      </p:sp>
      <p:sp>
        <p:nvSpPr>
          <p:cNvPr id="12" name="Source Card Text"/>
          <p:cNvSpPr/>
          <p:nvPr/>
        </p:nvSpPr>
        <p:spPr>
          <a:xfrm>
            <a:off x="677200" y="2340000"/>
            <a:ext cx="5503600" cy="1200000"/>
          </a:xfrm>
          <a:prstGeom prst="rect">
            <a:avLst/>
          </a:prstGeom>
          <a:noFill/>
          <a:ln/>
        </p:spPr>
        <p:txBody>
          <a:bodyPr wrap="square" lIns="0" tIns="0" rIns="0" bIns="0" rtlCol="0" anchor="t"/>
          <a:lstStyle/>
          <a:p>
            <a:pPr marL="0" indent="0">
              <a:buNone/>
            </a:pPr>
            <a:r>
              <a:rPr lang="en-US" sz="1000" b="1" spc="40">
                <a:solidFill>
                  <a:srgbClr val="B8862B"/>
                </a:solidFill>
                <a:latin typeface="Calibri" pitchFamily="34" charset="0"/>
                <a:ea typeface="Calibri" pitchFamily="34" charset="-122"/>
                <a:cs typeface="Calibri" pitchFamily="34" charset="-120"/>
              </a:rPr>
              <a:t>OBJECTS TO BUILD</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tblPets — correct fields, data types and a primary key</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frmPets — a form to add and edit pet records</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qryDueCheckup and rptPets — a query and a grouped report</a:t>
            </a:r>
          </a:p>
        </p:txBody>
      </p:sp>
      <p:sp>
        <p:nvSpPr>
          <p:cNvPr id="20" name="Task Card BG"/>
          <p:cNvSpPr/>
          <p:nvPr/>
        </p:nvSpPr>
        <p:spPr>
          <a:xfrm>
            <a:off x="457200" y="3800000"/>
            <a:ext cx="5943600" cy="2620000"/>
          </a:xfrm>
          <a:prstGeom prst="roundRect">
            <a:avLst>
              <a:gd name="adj" fmla="val 4000"/>
            </a:avLst>
          </a:prstGeom>
          <a:solidFill>
            <a:srgbClr val="FFFFFF"/>
          </a:solidFill>
          <a:ln w="12700">
            <a:solidFill>
              <a:srgbClr val="D7EBF5"/>
            </a:solidFill>
            <a:prstDash val="solid"/>
          </a:ln>
        </p:spPr>
        <p:txBody>
          <a:bodyPr/>
          <a:lstStyle/>
          <a:p>
            <a:endParaRPr lang="en-AE"/>
          </a:p>
        </p:txBody>
      </p:sp>
      <p:sp>
        <p:nvSpPr>
          <p:cNvPr id="21" name="Task Card Accent"/>
          <p:cNvSpPr/>
          <p:nvPr/>
        </p:nvSpPr>
        <p:spPr>
          <a:xfrm>
            <a:off x="457200" y="3800000"/>
            <a:ext cx="80000" cy="2620000"/>
          </a:xfrm>
          <a:prstGeom prst="rect">
            <a:avLst/>
          </a:prstGeom>
          <a:solidFill>
            <a:srgbClr val="159BD2"/>
          </a:solidFill>
          <a:ln/>
        </p:spPr>
        <p:txBody>
          <a:bodyPr/>
          <a:lstStyle/>
          <a:p>
            <a:endParaRPr lang="en-AE"/>
          </a:p>
        </p:txBody>
      </p:sp>
      <p:sp>
        <p:nvSpPr>
          <p:cNvPr id="22" name="Task Card Text"/>
          <p:cNvSpPr/>
          <p:nvPr/>
        </p:nvSpPr>
        <p:spPr>
          <a:xfrm>
            <a:off x="677200" y="3970000"/>
            <a:ext cx="5503600" cy="2300000"/>
          </a:xfrm>
          <a:prstGeom prst="rect">
            <a:avLst/>
          </a:prstGeom>
          <a:noFill/>
          <a:ln/>
        </p:spPr>
        <p:txBody>
          <a:bodyPr wrap="square" lIns="0" tIns="0" rIns="0" bIns="0" rtlCol="0" anchor="t"/>
          <a:lstStyle/>
          <a:p>
            <a:pPr marL="0" indent="0">
              <a:buNone/>
            </a:pPr>
            <a:r>
              <a:rPr lang="en-US" sz="1000" b="1" spc="40">
                <a:solidFill>
                  <a:srgbClr val="0F7BA8"/>
                </a:solidFill>
                <a:latin typeface="Calibri" pitchFamily="34" charset="0"/>
                <a:ea typeface="Calibri" pitchFamily="34" charset="-122"/>
                <a:cs typeface="Calibri" pitchFamily="34" charset="-120"/>
              </a:rPr>
              <a:t>STYLE &amp; FINISH</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Field validation and sensible input masks applied</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Query criteria and sort order return the right records</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Report grouped, sorted and totalled correctly</a:t>
            </a:r>
          </a:p>
          <a:p>
            <a:pPr marL="342900" indent="-342900">
              <a:spcBef>
                <a:spcPts val="700"/>
              </a:spcBef>
              <a:buNone/>
            </a:pPr>
            <a:r>
              <a:rPr lang="en-US" sz="1100" b="1">
                <a:solidFill>
                  <a:srgbClr val="159BD2"/>
                </a:solidFill>
                <a:latin typeface="Calibri" pitchFamily="34" charset="0"/>
                <a:ea typeface="Calibri" pitchFamily="34" charset="-122"/>
                <a:cs typeface="Calibri" pitchFamily="34" charset="-120"/>
              </a:rPr>
              <a:t>☐   </a:t>
            </a:r>
            <a:r>
              <a:rPr lang="en-US" sz="1100">
                <a:solidFill>
                  <a:srgbClr val="21323D"/>
                </a:solidFill>
                <a:latin typeface="Calibri" pitchFamily="34" charset="0"/>
                <a:ea typeface="Calibri" pitchFamily="34" charset="-122"/>
                <a:cs typeface="Calibri" pitchFamily="34" charset="-120"/>
              </a:rPr>
              <a:t>Saved in one database file with clear object names</a:t>
            </a:r>
          </a:p>
        </p:txBody>
      </p:sp>
      <p:sp>
        <p:nvSpPr>
          <p:cNvPr id="50" name="Discuss Band"/>
          <p:cNvSpPr/>
          <p:nvPr/>
        </p:nvSpPr>
        <p:spPr>
          <a:xfrm>
            <a:off x="0" y="6650000"/>
            <a:ext cx="6858000" cy="970000"/>
          </a:xfrm>
          <a:prstGeom prst="rect">
            <a:avLst/>
          </a:prstGeom>
          <a:solidFill>
            <a:srgbClr val="EAF5FB"/>
          </a:solidFill>
          <a:ln/>
        </p:spPr>
        <p:txBody>
          <a:bodyPr/>
          <a:lstStyle/>
          <a:p>
            <a:endParaRPr lang="en-AE"/>
          </a:p>
        </p:txBody>
      </p:sp>
      <p:sp>
        <p:nvSpPr>
          <p:cNvPr id="51" name="Discuss Text"/>
          <p:cNvSpPr/>
          <p:nvPr/>
        </p:nvSpPr>
        <p:spPr>
          <a:xfrm>
            <a:off x="457200" y="6790000"/>
            <a:ext cx="5943600" cy="900000"/>
          </a:xfrm>
          <a:prstGeom prst="rect">
            <a:avLst/>
          </a:prstGeom>
          <a:noFill/>
          <a:ln/>
        </p:spPr>
        <p:txBody>
          <a:bodyPr wrap="square" lIns="0" tIns="0" rIns="0" bIns="0" rtlCol="0" anchor="t"/>
          <a:lstStyle/>
          <a:p>
            <a:pPr marL="0" indent="0">
              <a:buNone/>
            </a:pPr>
            <a:r>
              <a:rPr lang="en-US" sz="900" b="1" kern="0" spc="200">
                <a:solidFill>
                  <a:srgbClr val="0F7BA8"/>
                </a:solidFill>
                <a:latin typeface="Calibri" pitchFamily="34" charset="0"/>
                <a:ea typeface="Calibri" pitchFamily="34" charset="-122"/>
                <a:cs typeface="Calibri" pitchFamily="34" charset="-120"/>
              </a:rPr>
              <a:t>BEFORE YOU HAND IN</a:t>
            </a:r>
          </a:p>
          <a:p>
            <a:pPr marL="0" indent="0">
              <a:spcBef>
                <a:spcPts val="500"/>
              </a:spcBef>
              <a:buNone/>
            </a:pPr>
            <a:r>
              <a:rPr lang="en-US" sz="1150">
                <a:solidFill>
                  <a:srgbClr val="10324B"/>
                </a:solidFill>
                <a:latin typeface="Calibri" pitchFamily="34" charset="0"/>
                <a:ea typeface="Calibri" pitchFamily="34" charset="-122"/>
                <a:cs typeface="Calibri" pitchFamily="34" charset="-120"/>
              </a:rPr>
              <a:t>Open each query and report to check the records are right, then compact and save the database before you hand in.</a:t>
            </a:r>
            <a:endParaRPr lang="en-US" sz="1150"/>
          </a:p>
        </p:txBody>
      </p:sp>
      <p:sp>
        <p:nvSpPr>
          <p:cNvPr id="27" name="Shape 25"/>
          <p:cNvSpPr/>
          <p:nvPr/>
        </p:nvSpPr>
        <p:spPr>
          <a:xfrm>
            <a:off x="0" y="7699248"/>
            <a:ext cx="6858000" cy="1444752"/>
          </a:xfrm>
          <a:prstGeom prst="rect">
            <a:avLst/>
          </a:prstGeom>
          <a:solidFill>
            <a:srgbClr val="EAF5FB"/>
          </a:solidFill>
          <a:ln/>
        </p:spPr>
        <p:txBody>
          <a:bodyPr/>
          <a:lstStyle/>
          <a:p>
            <a:endParaRPr lang="en-AE"/>
          </a:p>
        </p:txBody>
      </p:sp>
      <p:sp>
        <p:nvSpPr>
          <p:cNvPr id="28" name="Text 26"/>
          <p:cNvSpPr/>
          <p:nvPr/>
        </p:nvSpPr>
        <p:spPr>
          <a:xfrm>
            <a:off x="457200" y="7790688"/>
            <a:ext cx="5943600" cy="219456"/>
          </a:xfrm>
          <a:prstGeom prst="rect">
            <a:avLst/>
          </a:prstGeom>
          <a:noFill/>
          <a:ln/>
        </p:spPr>
        <p:txBody>
          <a:bodyPr wrap="square" lIns="0" tIns="0" rIns="0" bIns="0" rtlCol="0" anchor="ctr"/>
          <a:lstStyle/>
          <a:p>
            <a:pPr marL="0" indent="0" algn="l">
              <a:buNone/>
            </a:pPr>
            <a:r>
              <a:rPr lang="en-US" sz="900" b="1" kern="0" spc="200">
                <a:solidFill>
                  <a:srgbClr val="0F7BA8"/>
                </a:solidFill>
                <a:latin typeface="Calibri" pitchFamily="34" charset="0"/>
                <a:ea typeface="Calibri" pitchFamily="34" charset="-122"/>
                <a:cs typeface="Calibri" pitchFamily="34" charset="-120"/>
              </a:rPr>
              <a:t>FRAMEWORK LINKS FOR THIS TASK</a:t>
            </a:r>
            <a:endParaRPr lang="en-US" sz="900"/>
          </a:p>
        </p:txBody>
      </p:sp>
      <p:pic>
        <p:nvPicPr>
          <p:cNvPr id="29" name="Image 0" descr="Objectives"/>
          <p:cNvPicPr>
            <a:picLocks noChangeAspect="1"/>
          </p:cNvPicPr>
          <p:nvPr/>
        </p:nvPicPr>
        <p:blipFill>
          <a:blip r:embed="rId3"/>
          <a:stretch>
            <a:fillRect/>
          </a:stretch>
        </p:blipFill>
        <p:spPr>
          <a:xfrm>
            <a:off x="432816" y="8065008"/>
            <a:ext cx="658368" cy="658368"/>
          </a:xfrm>
          <a:prstGeom prst="rect">
            <a:avLst/>
          </a:prstGeom>
        </p:spPr>
      </p:pic>
      <p:sp>
        <p:nvSpPr>
          <p:cNvPr id="30" name="Text 27"/>
          <p:cNvSpPr/>
          <p:nvPr/>
        </p:nvSpPr>
        <p:spPr>
          <a:xfrm>
            <a:off x="146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Objectives</a:t>
            </a:r>
            <a:endParaRPr lang="en-US" sz="700"/>
          </a:p>
        </p:txBody>
      </p:sp>
      <p:pic>
        <p:nvPicPr>
          <p:cNvPr id="31" name="Image 1" descr="Vocabulary"/>
          <p:cNvPicPr>
            <a:picLocks noChangeAspect="1"/>
          </p:cNvPicPr>
          <p:nvPr/>
        </p:nvPicPr>
        <p:blipFill>
          <a:blip r:embed="rId4"/>
          <a:stretch>
            <a:fillRect/>
          </a:stretch>
        </p:blipFill>
        <p:spPr>
          <a:xfrm>
            <a:off x="1499616" y="8065008"/>
            <a:ext cx="658368" cy="658368"/>
          </a:xfrm>
          <a:prstGeom prst="rect">
            <a:avLst/>
          </a:prstGeom>
        </p:spPr>
      </p:pic>
      <p:sp>
        <p:nvSpPr>
          <p:cNvPr id="32" name="Text 28"/>
          <p:cNvSpPr/>
          <p:nvPr/>
        </p:nvSpPr>
        <p:spPr>
          <a:xfrm>
            <a:off x="12131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Vocabulary</a:t>
            </a:r>
            <a:endParaRPr lang="en-US" sz="700"/>
          </a:p>
        </p:txBody>
      </p:sp>
      <p:pic>
        <p:nvPicPr>
          <p:cNvPr id="33" name="Image 2" descr="Success Criteria"/>
          <p:cNvPicPr>
            <a:picLocks noChangeAspect="1"/>
          </p:cNvPicPr>
          <p:nvPr/>
        </p:nvPicPr>
        <p:blipFill>
          <a:blip r:embed="rId5"/>
          <a:stretch>
            <a:fillRect/>
          </a:stretch>
        </p:blipFill>
        <p:spPr>
          <a:xfrm>
            <a:off x="2566416" y="8065008"/>
            <a:ext cx="658368" cy="658368"/>
          </a:xfrm>
          <a:prstGeom prst="rect">
            <a:avLst/>
          </a:prstGeom>
        </p:spPr>
      </p:pic>
      <p:sp>
        <p:nvSpPr>
          <p:cNvPr id="34" name="Text 29"/>
          <p:cNvSpPr/>
          <p:nvPr/>
        </p:nvSpPr>
        <p:spPr>
          <a:xfrm>
            <a:off x="22799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0F7BA8"/>
                </a:solidFill>
                <a:latin typeface="Calibri" pitchFamily="34" charset="0"/>
                <a:ea typeface="Calibri" pitchFamily="34" charset="-122"/>
                <a:cs typeface="Calibri" pitchFamily="34" charset="-120"/>
              </a:rPr>
              <a:t>Success Criteria</a:t>
            </a:r>
            <a:endParaRPr lang="en-US" sz="700"/>
          </a:p>
        </p:txBody>
      </p:sp>
      <p:pic>
        <p:nvPicPr>
          <p:cNvPr id="35" name="Image 3" descr="Analysing"/>
          <p:cNvPicPr>
            <a:picLocks noChangeAspect="1"/>
          </p:cNvPicPr>
          <p:nvPr/>
        </p:nvPicPr>
        <p:blipFill>
          <a:blip r:embed="rId6"/>
          <a:stretch>
            <a:fillRect/>
          </a:stretch>
        </p:blipFill>
        <p:spPr>
          <a:xfrm>
            <a:off x="3523488" y="8065008"/>
            <a:ext cx="877824" cy="658368"/>
          </a:xfrm>
          <a:prstGeom prst="rect">
            <a:avLst/>
          </a:prstGeom>
        </p:spPr>
      </p:pic>
      <p:sp>
        <p:nvSpPr>
          <p:cNvPr id="36" name="Text 30"/>
          <p:cNvSpPr/>
          <p:nvPr/>
        </p:nvSpPr>
        <p:spPr>
          <a:xfrm>
            <a:off x="33467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Analysing</a:t>
            </a:r>
            <a:endParaRPr lang="en-US" sz="700"/>
          </a:p>
        </p:txBody>
      </p:sp>
      <p:pic>
        <p:nvPicPr>
          <p:cNvPr id="37" name="Image 4" descr="Linking"/>
          <p:cNvPicPr>
            <a:picLocks noChangeAspect="1"/>
          </p:cNvPicPr>
          <p:nvPr/>
        </p:nvPicPr>
        <p:blipFill>
          <a:blip r:embed="rId7"/>
          <a:stretch>
            <a:fillRect/>
          </a:stretch>
        </p:blipFill>
        <p:spPr>
          <a:xfrm>
            <a:off x="4593515" y="8065008"/>
            <a:ext cx="871369" cy="658368"/>
          </a:xfrm>
          <a:prstGeom prst="rect">
            <a:avLst/>
          </a:prstGeom>
        </p:spPr>
      </p:pic>
      <p:sp>
        <p:nvSpPr>
          <p:cNvPr id="38" name="Text 31"/>
          <p:cNvSpPr/>
          <p:nvPr/>
        </p:nvSpPr>
        <p:spPr>
          <a:xfrm>
            <a:off x="44135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6E7A86"/>
                </a:solidFill>
                <a:latin typeface="Calibri" pitchFamily="34" charset="0"/>
                <a:ea typeface="Calibri" pitchFamily="34" charset="-122"/>
                <a:cs typeface="Calibri" pitchFamily="34" charset="-120"/>
              </a:rPr>
              <a:t>Linking</a:t>
            </a:r>
            <a:endParaRPr lang="en-US" sz="700"/>
          </a:p>
        </p:txBody>
      </p:sp>
      <p:pic>
        <p:nvPicPr>
          <p:cNvPr id="39" name="Image 5" descr="AI Concepts"/>
          <p:cNvPicPr>
            <a:picLocks noChangeAspect="1"/>
          </p:cNvPicPr>
          <p:nvPr/>
        </p:nvPicPr>
        <p:blipFill>
          <a:blip r:embed="rId8"/>
          <a:stretch>
            <a:fillRect/>
          </a:stretch>
        </p:blipFill>
        <p:spPr>
          <a:xfrm>
            <a:off x="5766172" y="8065008"/>
            <a:ext cx="659656" cy="658368"/>
          </a:xfrm>
          <a:prstGeom prst="rect">
            <a:avLst/>
          </a:prstGeom>
        </p:spPr>
      </p:pic>
      <p:sp>
        <p:nvSpPr>
          <p:cNvPr id="40" name="Text 32"/>
          <p:cNvSpPr/>
          <p:nvPr/>
        </p:nvSpPr>
        <p:spPr>
          <a:xfrm>
            <a:off x="5480304" y="8750808"/>
            <a:ext cx="1231392" cy="384048"/>
          </a:xfrm>
          <a:prstGeom prst="rect">
            <a:avLst/>
          </a:prstGeom>
          <a:noFill/>
          <a:ln/>
        </p:spPr>
        <p:txBody>
          <a:bodyPr wrap="square" lIns="0" tIns="0" rIns="0" bIns="0" rtlCol="0" anchor="t"/>
          <a:lstStyle/>
          <a:p>
            <a:pPr marL="0" indent="0" algn="ctr">
              <a:lnSpc>
                <a:spcPct val="88000"/>
              </a:lnSpc>
              <a:buNone/>
            </a:pPr>
            <a:r>
              <a:rPr lang="en-US" sz="700" b="1">
                <a:solidFill>
                  <a:srgbClr val="1C4E70"/>
                </a:solidFill>
                <a:latin typeface="Calibri" pitchFamily="34" charset="0"/>
                <a:ea typeface="Calibri" pitchFamily="34" charset="-122"/>
                <a:cs typeface="Calibri" pitchFamily="34" charset="-120"/>
              </a:rPr>
              <a:t>AI Concepts</a:t>
            </a:r>
            <a:endParaRPr lang="en-US" sz="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8963</TotalTime>
  <Words>7444</Words>
  <Application>Microsoft Macintosh PowerPoint</Application>
  <PresentationFormat>On-screen Show (4:3)</PresentationFormat>
  <Paragraphs>911</Paragraphs>
  <Slides>33</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Michael Stevens</dc:creator>
  <cp:lastModifiedBy>John Michael Stevens</cp:lastModifiedBy>
  <cp:revision>14</cp:revision>
  <dcterms:created xsi:type="dcterms:W3CDTF">2026-06-25T02:23:13Z</dcterms:created>
  <dcterms:modified xsi:type="dcterms:W3CDTF">2026-07-05T08:50:59Z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bf93e8-aad2-466b-adfa-0d01d2da556d_Enabled">
    <vt:lpwstr>true</vt:lpwstr>
  </property>
  <property fmtid="{D5CDD505-2E9C-101B-9397-08002B2CF9AE}" pid="3" name="MSIP_Label_a7bf93e8-aad2-466b-adfa-0d01d2da556d_SetDate">
    <vt:lpwstr>2026-06-25T02:27:57Z</vt:lpwstr>
  </property>
  <property fmtid="{D5CDD505-2E9C-101B-9397-08002B2CF9AE}" pid="4" name="MSIP_Label_a7bf93e8-aad2-466b-adfa-0d01d2da556d_Method">
    <vt:lpwstr>Standard</vt:lpwstr>
  </property>
  <property fmtid="{D5CDD505-2E9C-101B-9397-08002B2CF9AE}" pid="5" name="MSIP_Label_a7bf93e8-aad2-466b-adfa-0d01d2da556d_Name">
    <vt:lpwstr>Internal - General Purpose</vt:lpwstr>
  </property>
  <property fmtid="{D5CDD505-2E9C-101B-9397-08002B2CF9AE}" pid="6" name="MSIP_Label_a7bf93e8-aad2-466b-adfa-0d01d2da556d_SiteId">
    <vt:lpwstr>101ba89f-958c-4260-a5e1-d10119a0eb1e</vt:lpwstr>
  </property>
  <property fmtid="{D5CDD505-2E9C-101B-9397-08002B2CF9AE}" pid="7" name="MSIP_Label_a7bf93e8-aad2-466b-adfa-0d01d2da556d_ActionId">
    <vt:lpwstr>1474aa38-c5a2-4986-ba99-31162bfdc172</vt:lpwstr>
  </property>
  <property fmtid="{D5CDD505-2E9C-101B-9397-08002B2CF9AE}" pid="8" name="MSIP_Label_a7bf93e8-aad2-466b-adfa-0d01d2da556d_ContentBits">
    <vt:lpwstr>2</vt:lpwstr>
  </property>
  <property fmtid="{D5CDD505-2E9C-101B-9397-08002B2CF9AE}" pid="9" name="MSIP_Label_a7bf93e8-aad2-466b-adfa-0d01d2da556d_Tag">
    <vt:lpwstr>50, 1, 2, 1</vt:lpwstr>
  </property>
  <property fmtid="{D5CDD505-2E9C-101B-9397-08002B2CF9AE}" pid="10" name="ClassificationContentMarkingFooterLocations">
    <vt:lpwstr>Office Theme:8</vt:lpwstr>
  </property>
  <property fmtid="{D5CDD505-2E9C-101B-9397-08002B2CF9AE}" pid="11" name="ClassificationContentMarkingFooterText">
    <vt:lpwstr>Classification: General Internal Purpose</vt:lpwstr>
  </property>
</Properties>
</file>